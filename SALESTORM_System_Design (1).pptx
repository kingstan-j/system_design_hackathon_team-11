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Untitled Section" id="{3EEEF2E8-F1CC-4C1F-B362-4B98E0692488}">
          <p14:sldIdLst/>
        </p14:section>
        <p14:section name="Hackerrr" id="{2343493D-707A-4F17-888D-2ECEFA4D985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SALESTORM</a:t>
            </a:r>
            <a:r>
              <a:rPr spc="204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spc="-10" dirty="0"/>
              <a:t>SYSCRAFTERS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SALESTORM</a:t>
            </a:r>
            <a:r>
              <a:rPr spc="204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spc="-10" dirty="0"/>
              <a:t>SYSCRAFTERS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SALESTORM</a:t>
            </a:r>
            <a:r>
              <a:rPr spc="204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spc="-10" dirty="0"/>
              <a:t>SYSCRAFTERS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SALESTORM</a:t>
            </a:r>
            <a:r>
              <a:rPr spc="204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spc="-10" dirty="0"/>
              <a:t>SYSCRAFTERS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SALESTORM</a:t>
            </a:r>
            <a:r>
              <a:rPr spc="204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spc="-10" dirty="0"/>
              <a:t>SYSCRAFTERS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11236"/>
            <a:ext cx="97466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6645" y="1276985"/>
            <a:ext cx="5477509" cy="196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5939" y="6518402"/>
            <a:ext cx="181038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SALESTORM</a:t>
            </a:r>
            <a:r>
              <a:rPr spc="204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spc="-10" dirty="0"/>
              <a:t>SYSCRAFTERS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2180" y="6503161"/>
            <a:ext cx="2552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A65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solidFill>
                <a:schemeClr val="bg2"/>
              </a:solidFill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857490" y="816610"/>
            <a:ext cx="3761740" cy="1567180"/>
            <a:chOff x="7857490" y="816610"/>
            <a:chExt cx="3761740" cy="1567180"/>
          </a:xfrm>
        </p:grpSpPr>
        <p:sp>
          <p:nvSpPr>
            <p:cNvPr id="7" name="object 7"/>
            <p:cNvSpPr/>
            <p:nvPr/>
          </p:nvSpPr>
          <p:spPr>
            <a:xfrm>
              <a:off x="7863840" y="822960"/>
              <a:ext cx="3749040" cy="1554480"/>
            </a:xfrm>
            <a:custGeom>
              <a:avLst/>
              <a:gdLst/>
              <a:ahLst/>
              <a:cxnLst/>
              <a:rect l="l" t="t" r="r" b="b"/>
              <a:pathLst>
                <a:path w="3749040" h="1554480">
                  <a:moveTo>
                    <a:pt x="367588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1481325"/>
                  </a:lnTo>
                  <a:lnTo>
                    <a:pt x="5786" y="1509686"/>
                  </a:lnTo>
                  <a:lnTo>
                    <a:pt x="21527" y="1532951"/>
                  </a:lnTo>
                  <a:lnTo>
                    <a:pt x="44793" y="1548693"/>
                  </a:lnTo>
                  <a:lnTo>
                    <a:pt x="73153" y="1554479"/>
                  </a:lnTo>
                  <a:lnTo>
                    <a:pt x="3675885" y="1554479"/>
                  </a:lnTo>
                  <a:lnTo>
                    <a:pt x="3704246" y="1548693"/>
                  </a:lnTo>
                  <a:lnTo>
                    <a:pt x="3727512" y="1532951"/>
                  </a:lnTo>
                  <a:lnTo>
                    <a:pt x="3743253" y="1509686"/>
                  </a:lnTo>
                  <a:lnTo>
                    <a:pt x="3749040" y="1481325"/>
                  </a:lnTo>
                  <a:lnTo>
                    <a:pt x="3749040" y="73153"/>
                  </a:lnTo>
                  <a:lnTo>
                    <a:pt x="3743253" y="44792"/>
                  </a:lnTo>
                  <a:lnTo>
                    <a:pt x="3727512" y="21527"/>
                  </a:lnTo>
                  <a:lnTo>
                    <a:pt x="3704246" y="5786"/>
                  </a:lnTo>
                  <a:lnTo>
                    <a:pt x="367588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63840" y="822960"/>
              <a:ext cx="3749040" cy="1554480"/>
            </a:xfrm>
            <a:custGeom>
              <a:avLst/>
              <a:gdLst/>
              <a:ahLst/>
              <a:cxnLst/>
              <a:rect l="l" t="t" r="r" b="b"/>
              <a:pathLst>
                <a:path w="3749040" h="1554480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3675885" y="0"/>
                  </a:lnTo>
                  <a:lnTo>
                    <a:pt x="3704246" y="5786"/>
                  </a:lnTo>
                  <a:lnTo>
                    <a:pt x="3727512" y="21527"/>
                  </a:lnTo>
                  <a:lnTo>
                    <a:pt x="3743253" y="44792"/>
                  </a:lnTo>
                  <a:lnTo>
                    <a:pt x="3749040" y="73153"/>
                  </a:lnTo>
                  <a:lnTo>
                    <a:pt x="3749040" y="1481325"/>
                  </a:lnTo>
                  <a:lnTo>
                    <a:pt x="3743253" y="1509686"/>
                  </a:lnTo>
                  <a:lnTo>
                    <a:pt x="3727512" y="1532951"/>
                  </a:lnTo>
                  <a:lnTo>
                    <a:pt x="3704246" y="1548693"/>
                  </a:lnTo>
                  <a:lnTo>
                    <a:pt x="3675885" y="1554479"/>
                  </a:lnTo>
                  <a:lnTo>
                    <a:pt x="73153" y="1554479"/>
                  </a:lnTo>
                  <a:lnTo>
                    <a:pt x="44793" y="1548693"/>
                  </a:lnTo>
                  <a:lnTo>
                    <a:pt x="21527" y="1532951"/>
                  </a:lnTo>
                  <a:lnTo>
                    <a:pt x="5786" y="1509686"/>
                  </a:lnTo>
                  <a:lnTo>
                    <a:pt x="0" y="148132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8125459" y="653747"/>
            <a:ext cx="2324100" cy="1404620"/>
          </a:xfrm>
          <a:prstGeom prst="rect">
            <a:avLst/>
          </a:prstGeom>
        </p:spPr>
        <p:txBody>
          <a:bodyPr vert="horz" wrap="square" lIns="0" tIns="351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65"/>
              </a:spcBef>
            </a:pPr>
            <a:r>
              <a:rPr lang="en-IN" sz="4600" spc="-10" dirty="0">
                <a:solidFill>
                  <a:srgbClr val="E75019"/>
                </a:solidFill>
              </a:rPr>
              <a:t>10,000</a:t>
            </a:r>
            <a:endParaRPr sz="4600" dirty="0"/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500" b="0" dirty="0">
                <a:latin typeface="Calibri"/>
                <a:cs typeface="Calibri"/>
              </a:rPr>
              <a:t>concurrent</a:t>
            </a:r>
            <a:r>
              <a:rPr sz="1500" b="0" spc="-35" dirty="0">
                <a:latin typeface="Calibri"/>
                <a:cs typeface="Calibri"/>
              </a:rPr>
              <a:t> </a:t>
            </a:r>
            <a:r>
              <a:rPr sz="1500" b="0" dirty="0">
                <a:latin typeface="Calibri"/>
                <a:cs typeface="Calibri"/>
              </a:rPr>
              <a:t>Buy</a:t>
            </a:r>
            <a:r>
              <a:rPr sz="1500" b="0" spc="-30" dirty="0">
                <a:latin typeface="Calibri"/>
                <a:cs typeface="Calibri"/>
              </a:rPr>
              <a:t> </a:t>
            </a:r>
            <a:r>
              <a:rPr sz="1500" b="0" dirty="0">
                <a:latin typeface="Calibri"/>
                <a:cs typeface="Calibri"/>
              </a:rPr>
              <a:t>Now</a:t>
            </a:r>
            <a:r>
              <a:rPr sz="1500" b="0" spc="-35" dirty="0">
                <a:latin typeface="Calibri"/>
                <a:cs typeface="Calibri"/>
              </a:rPr>
              <a:t> </a:t>
            </a:r>
            <a:r>
              <a:rPr sz="1500" b="0" spc="-10" dirty="0">
                <a:latin typeface="Calibri"/>
                <a:cs typeface="Calibri"/>
              </a:rPr>
              <a:t>requests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499" y="822960"/>
            <a:ext cx="6907531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chemeClr val="bg2"/>
                </a:solidFill>
              </a:rPr>
              <a:t>Stock Shield: A Correct-by-Design Flash-Sale Platform</a:t>
            </a:r>
            <a:endParaRPr sz="3200" dirty="0">
              <a:solidFill>
                <a:schemeClr val="bg2"/>
              </a:solidFill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857490" y="2645410"/>
            <a:ext cx="3761740" cy="1567180"/>
            <a:chOff x="7857490" y="2645410"/>
            <a:chExt cx="3761740" cy="1567180"/>
          </a:xfrm>
        </p:grpSpPr>
        <p:sp>
          <p:nvSpPr>
            <p:cNvPr id="11" name="object 11"/>
            <p:cNvSpPr/>
            <p:nvPr/>
          </p:nvSpPr>
          <p:spPr>
            <a:xfrm>
              <a:off x="7863840" y="2651759"/>
              <a:ext cx="3749040" cy="1554480"/>
            </a:xfrm>
            <a:custGeom>
              <a:avLst/>
              <a:gdLst/>
              <a:ahLst/>
              <a:cxnLst/>
              <a:rect l="l" t="t" r="r" b="b"/>
              <a:pathLst>
                <a:path w="3749040" h="1554479">
                  <a:moveTo>
                    <a:pt x="367588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1481325"/>
                  </a:lnTo>
                  <a:lnTo>
                    <a:pt x="5786" y="1509686"/>
                  </a:lnTo>
                  <a:lnTo>
                    <a:pt x="21527" y="1532951"/>
                  </a:lnTo>
                  <a:lnTo>
                    <a:pt x="44793" y="1548693"/>
                  </a:lnTo>
                  <a:lnTo>
                    <a:pt x="73153" y="1554479"/>
                  </a:lnTo>
                  <a:lnTo>
                    <a:pt x="3675885" y="1554479"/>
                  </a:lnTo>
                  <a:lnTo>
                    <a:pt x="3704246" y="1548693"/>
                  </a:lnTo>
                  <a:lnTo>
                    <a:pt x="3727512" y="1532951"/>
                  </a:lnTo>
                  <a:lnTo>
                    <a:pt x="3743253" y="1509686"/>
                  </a:lnTo>
                  <a:lnTo>
                    <a:pt x="3749040" y="1481325"/>
                  </a:lnTo>
                  <a:lnTo>
                    <a:pt x="3749040" y="73153"/>
                  </a:lnTo>
                  <a:lnTo>
                    <a:pt x="3743253" y="44792"/>
                  </a:lnTo>
                  <a:lnTo>
                    <a:pt x="3727512" y="21527"/>
                  </a:lnTo>
                  <a:lnTo>
                    <a:pt x="3704246" y="5786"/>
                  </a:lnTo>
                  <a:lnTo>
                    <a:pt x="367588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63840" y="2651759"/>
              <a:ext cx="3749040" cy="1554480"/>
            </a:xfrm>
            <a:custGeom>
              <a:avLst/>
              <a:gdLst/>
              <a:ahLst/>
              <a:cxnLst/>
              <a:rect l="l" t="t" r="r" b="b"/>
              <a:pathLst>
                <a:path w="3749040" h="1554479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3675885" y="0"/>
                  </a:lnTo>
                  <a:lnTo>
                    <a:pt x="3704246" y="5786"/>
                  </a:lnTo>
                  <a:lnTo>
                    <a:pt x="3727512" y="21527"/>
                  </a:lnTo>
                  <a:lnTo>
                    <a:pt x="3743253" y="44792"/>
                  </a:lnTo>
                  <a:lnTo>
                    <a:pt x="3749040" y="73153"/>
                  </a:lnTo>
                  <a:lnTo>
                    <a:pt x="3749040" y="1481325"/>
                  </a:lnTo>
                  <a:lnTo>
                    <a:pt x="3743253" y="1509686"/>
                  </a:lnTo>
                  <a:lnTo>
                    <a:pt x="3727512" y="1532951"/>
                  </a:lnTo>
                  <a:lnTo>
                    <a:pt x="3704246" y="1548693"/>
                  </a:lnTo>
                  <a:lnTo>
                    <a:pt x="3675885" y="1554479"/>
                  </a:lnTo>
                  <a:lnTo>
                    <a:pt x="73153" y="1554479"/>
                  </a:lnTo>
                  <a:lnTo>
                    <a:pt x="44793" y="1548693"/>
                  </a:lnTo>
                  <a:lnTo>
                    <a:pt x="21527" y="1532951"/>
                  </a:lnTo>
                  <a:lnTo>
                    <a:pt x="5786" y="1509686"/>
                  </a:lnTo>
                  <a:lnTo>
                    <a:pt x="0" y="148132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25459" y="2482549"/>
            <a:ext cx="1062990" cy="1404620"/>
          </a:xfrm>
          <a:prstGeom prst="rect">
            <a:avLst/>
          </a:prstGeom>
        </p:spPr>
        <p:txBody>
          <a:bodyPr vert="horz" wrap="square" lIns="0" tIns="351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65"/>
              </a:spcBef>
            </a:pPr>
            <a:r>
              <a:rPr sz="4600" b="1" spc="-25" dirty="0">
                <a:solidFill>
                  <a:srgbClr val="0D8E7F"/>
                </a:solidFill>
                <a:latin typeface="Cambria"/>
                <a:cs typeface="Cambria"/>
              </a:rPr>
              <a:t>100</a:t>
            </a:r>
            <a:endParaRPr sz="4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units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stock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918" y="5915659"/>
            <a:ext cx="61620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5A6578"/>
                </a:solidFill>
                <a:latin typeface="Calibri"/>
                <a:cs typeface="Calibri"/>
              </a:rPr>
              <a:t>High-</a:t>
            </a:r>
            <a:r>
              <a:rPr sz="1400" dirty="0">
                <a:solidFill>
                  <a:srgbClr val="5A6578"/>
                </a:solidFill>
                <a:latin typeface="Calibri"/>
                <a:cs typeface="Calibri"/>
              </a:rPr>
              <a:t>scale</a:t>
            </a:r>
            <a:r>
              <a:rPr sz="14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A6578"/>
                </a:solidFill>
                <a:latin typeface="Calibri"/>
                <a:cs typeface="Calibri"/>
              </a:rPr>
              <a:t>flash-</a:t>
            </a:r>
            <a:r>
              <a:rPr sz="1400" dirty="0">
                <a:solidFill>
                  <a:srgbClr val="5A6578"/>
                </a:solidFill>
                <a:latin typeface="Calibri"/>
                <a:cs typeface="Calibri"/>
              </a:rPr>
              <a:t>sale</a:t>
            </a:r>
            <a:r>
              <a:rPr sz="140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A6578"/>
                </a:solidFill>
                <a:latin typeface="Calibri"/>
                <a:cs typeface="Calibri"/>
              </a:rPr>
              <a:t>e-</a:t>
            </a:r>
            <a:r>
              <a:rPr sz="1400" dirty="0">
                <a:solidFill>
                  <a:srgbClr val="5A6578"/>
                </a:solidFill>
                <a:latin typeface="Calibri"/>
                <a:cs typeface="Calibri"/>
              </a:rPr>
              <a:t>commerce</a:t>
            </a:r>
            <a:r>
              <a:rPr sz="1400" spc="27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A6578"/>
                </a:solidFill>
                <a:latin typeface="Calibri"/>
                <a:cs typeface="Calibri"/>
              </a:rPr>
              <a:t>|</a:t>
            </a:r>
            <a:r>
              <a:rPr sz="1400" spc="27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A6578"/>
                </a:solidFill>
                <a:latin typeface="Calibri"/>
                <a:cs typeface="Calibri"/>
              </a:rPr>
              <a:t>System</a:t>
            </a:r>
            <a:r>
              <a:rPr sz="140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A6578"/>
                </a:solidFill>
                <a:latin typeface="Calibri"/>
                <a:cs typeface="Calibri"/>
              </a:rPr>
              <a:t>Design</a:t>
            </a:r>
            <a:r>
              <a:rPr sz="140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A6578"/>
                </a:solidFill>
                <a:latin typeface="Calibri"/>
                <a:cs typeface="Calibri"/>
              </a:rPr>
              <a:t>Hackathon</a:t>
            </a:r>
            <a:r>
              <a:rPr sz="1400" spc="27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A6578"/>
                </a:solidFill>
                <a:latin typeface="Calibri"/>
                <a:cs typeface="Calibri"/>
              </a:rPr>
              <a:t>|</a:t>
            </a:r>
            <a:r>
              <a:rPr sz="1400" spc="27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A6578"/>
                </a:solidFill>
                <a:latin typeface="Calibri"/>
                <a:cs typeface="Calibri"/>
              </a:rPr>
              <a:t>SYSCRAFTERS</a:t>
            </a:r>
            <a:r>
              <a:rPr sz="14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A6578"/>
                </a:solidFill>
                <a:latin typeface="Calibri"/>
                <a:cs typeface="Calibri"/>
              </a:rPr>
              <a:t>2026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4142629"/>
            <a:ext cx="3441701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1615" algn="l"/>
                <a:tab pos="3317240" algn="l"/>
              </a:tabLst>
            </a:pPr>
            <a:r>
              <a:rPr sz="2000" dirty="0">
                <a:solidFill>
                  <a:srgbClr val="5A6578"/>
                </a:solidFill>
                <a:latin typeface="Calibri"/>
                <a:cs typeface="Calibri"/>
              </a:rPr>
              <a:t>Team</a:t>
            </a:r>
            <a: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A6578"/>
                </a:solidFill>
                <a:latin typeface="Calibri"/>
                <a:cs typeface="Calibri"/>
              </a:rPr>
              <a:t>M</a:t>
            </a:r>
            <a: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5A6578"/>
                </a:solidFill>
                <a:latin typeface="Calibri"/>
                <a:cs typeface="Calibri"/>
              </a:rPr>
              <a:t>mbers</a:t>
            </a:r>
            <a: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  <a:t>:</a:t>
            </a:r>
            <a:b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</a:br>
            <a: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  <a:t>                        Bharath </a:t>
            </a:r>
            <a:r>
              <a:rPr lang="en-US" sz="2000" dirty="0" err="1">
                <a:solidFill>
                  <a:srgbClr val="5A6578"/>
                </a:solidFill>
                <a:latin typeface="Calibri"/>
                <a:cs typeface="Calibri"/>
              </a:rPr>
              <a:t>kumar</a:t>
            </a:r>
            <a: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  <a:t> K</a:t>
            </a:r>
            <a:b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</a:br>
            <a: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  <a:t>                        Harinarayan S</a:t>
            </a:r>
            <a:b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</a:br>
            <a: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  <a:t>                        Kingstan J</a:t>
            </a:r>
            <a:b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</a:br>
            <a: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  <a:t>                        Vasantha </a:t>
            </a:r>
            <a:r>
              <a:rPr lang="en-US" sz="2000" dirty="0" err="1">
                <a:solidFill>
                  <a:srgbClr val="5A6578"/>
                </a:solidFill>
                <a:latin typeface="Calibri"/>
                <a:cs typeface="Calibri"/>
              </a:rPr>
              <a:t>kumar</a:t>
            </a:r>
            <a:r>
              <a:rPr lang="en-US" sz="2000" dirty="0">
                <a:solidFill>
                  <a:srgbClr val="5A6578"/>
                </a:solidFill>
                <a:latin typeface="Calibri"/>
                <a:cs typeface="Calibri"/>
              </a:rPr>
              <a:t> M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857490" y="4474209"/>
            <a:ext cx="3761740" cy="1567180"/>
            <a:chOff x="7857490" y="4474209"/>
            <a:chExt cx="3761740" cy="1567180"/>
          </a:xfrm>
        </p:grpSpPr>
        <p:sp>
          <p:nvSpPr>
            <p:cNvPr id="15" name="object 15"/>
            <p:cNvSpPr/>
            <p:nvPr/>
          </p:nvSpPr>
          <p:spPr>
            <a:xfrm>
              <a:off x="7863840" y="4480559"/>
              <a:ext cx="3749040" cy="1554480"/>
            </a:xfrm>
            <a:custGeom>
              <a:avLst/>
              <a:gdLst/>
              <a:ahLst/>
              <a:cxnLst/>
              <a:rect l="l" t="t" r="r" b="b"/>
              <a:pathLst>
                <a:path w="3749040" h="1554479">
                  <a:moveTo>
                    <a:pt x="367588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1481325"/>
                  </a:lnTo>
                  <a:lnTo>
                    <a:pt x="5786" y="1509686"/>
                  </a:lnTo>
                  <a:lnTo>
                    <a:pt x="21527" y="1532951"/>
                  </a:lnTo>
                  <a:lnTo>
                    <a:pt x="44793" y="1548693"/>
                  </a:lnTo>
                  <a:lnTo>
                    <a:pt x="73153" y="1554479"/>
                  </a:lnTo>
                  <a:lnTo>
                    <a:pt x="3675885" y="1554479"/>
                  </a:lnTo>
                  <a:lnTo>
                    <a:pt x="3704246" y="1548693"/>
                  </a:lnTo>
                  <a:lnTo>
                    <a:pt x="3727512" y="1532951"/>
                  </a:lnTo>
                  <a:lnTo>
                    <a:pt x="3743253" y="1509686"/>
                  </a:lnTo>
                  <a:lnTo>
                    <a:pt x="3749040" y="1481325"/>
                  </a:lnTo>
                  <a:lnTo>
                    <a:pt x="3749040" y="73153"/>
                  </a:lnTo>
                  <a:lnTo>
                    <a:pt x="3743253" y="44792"/>
                  </a:lnTo>
                  <a:lnTo>
                    <a:pt x="3727512" y="21527"/>
                  </a:lnTo>
                  <a:lnTo>
                    <a:pt x="3704246" y="5786"/>
                  </a:lnTo>
                  <a:lnTo>
                    <a:pt x="367588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63840" y="4480559"/>
              <a:ext cx="3749040" cy="1554480"/>
            </a:xfrm>
            <a:custGeom>
              <a:avLst/>
              <a:gdLst/>
              <a:ahLst/>
              <a:cxnLst/>
              <a:rect l="l" t="t" r="r" b="b"/>
              <a:pathLst>
                <a:path w="3749040" h="1554479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3675885" y="0"/>
                  </a:lnTo>
                  <a:lnTo>
                    <a:pt x="3704246" y="5786"/>
                  </a:lnTo>
                  <a:lnTo>
                    <a:pt x="3727512" y="21527"/>
                  </a:lnTo>
                  <a:lnTo>
                    <a:pt x="3743253" y="44792"/>
                  </a:lnTo>
                  <a:lnTo>
                    <a:pt x="3749040" y="73153"/>
                  </a:lnTo>
                  <a:lnTo>
                    <a:pt x="3749040" y="1481325"/>
                  </a:lnTo>
                  <a:lnTo>
                    <a:pt x="3743253" y="1509686"/>
                  </a:lnTo>
                  <a:lnTo>
                    <a:pt x="3727512" y="1532951"/>
                  </a:lnTo>
                  <a:lnTo>
                    <a:pt x="3704246" y="1548693"/>
                  </a:lnTo>
                  <a:lnTo>
                    <a:pt x="3675885" y="1554479"/>
                  </a:lnTo>
                  <a:lnTo>
                    <a:pt x="73153" y="1554479"/>
                  </a:lnTo>
                  <a:lnTo>
                    <a:pt x="44793" y="1548693"/>
                  </a:lnTo>
                  <a:lnTo>
                    <a:pt x="21527" y="1532951"/>
                  </a:lnTo>
                  <a:lnTo>
                    <a:pt x="5786" y="1509686"/>
                  </a:lnTo>
                  <a:lnTo>
                    <a:pt x="0" y="148132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25459" y="4311348"/>
            <a:ext cx="1548130" cy="1404620"/>
          </a:xfrm>
          <a:prstGeom prst="rect">
            <a:avLst/>
          </a:prstGeom>
        </p:spPr>
        <p:txBody>
          <a:bodyPr vert="horz" wrap="square" lIns="0" tIns="351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65"/>
              </a:spcBef>
            </a:pPr>
            <a:r>
              <a:rPr sz="4600" b="1" spc="-50" dirty="0">
                <a:solidFill>
                  <a:srgbClr val="C98A00"/>
                </a:solidFill>
                <a:latin typeface="Cambria"/>
                <a:cs typeface="Cambria"/>
              </a:rPr>
              <a:t>0</a:t>
            </a:r>
            <a:endParaRPr sz="4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units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oversold,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ever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Requirements:</a:t>
            </a:r>
            <a:r>
              <a:rPr spc="-20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strict</a:t>
            </a:r>
            <a:r>
              <a:rPr spc="-20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guarantees</a:t>
            </a:r>
            <a:r>
              <a:rPr spc="-20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vs</a:t>
            </a:r>
            <a:r>
              <a:rPr spc="-20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measurable</a:t>
            </a:r>
            <a:r>
              <a:rPr spc="-20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targets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89" y="1496060"/>
            <a:ext cx="5499100" cy="3304540"/>
            <a:chOff x="542289" y="1273810"/>
            <a:chExt cx="5499100" cy="3304540"/>
          </a:xfrm>
        </p:grpSpPr>
        <p:sp>
          <p:nvSpPr>
            <p:cNvPr id="4" name="object 4"/>
            <p:cNvSpPr/>
            <p:nvPr/>
          </p:nvSpPr>
          <p:spPr>
            <a:xfrm>
              <a:off x="548639" y="1280160"/>
              <a:ext cx="5486400" cy="3291840"/>
            </a:xfrm>
            <a:custGeom>
              <a:avLst/>
              <a:gdLst/>
              <a:ahLst/>
              <a:cxnLst/>
              <a:rect l="l" t="t" r="r" b="b"/>
              <a:pathLst>
                <a:path w="5486400" h="3291840">
                  <a:moveTo>
                    <a:pt x="5413255" y="0"/>
                  </a:moveTo>
                  <a:lnTo>
                    <a:pt x="73144" y="0"/>
                  </a:lnTo>
                  <a:lnTo>
                    <a:pt x="44787" y="5786"/>
                  </a:lnTo>
                  <a:lnTo>
                    <a:pt x="21524" y="21524"/>
                  </a:lnTo>
                  <a:lnTo>
                    <a:pt x="5786" y="44787"/>
                  </a:lnTo>
                  <a:lnTo>
                    <a:pt x="0" y="73144"/>
                  </a:lnTo>
                  <a:lnTo>
                    <a:pt x="0" y="3218695"/>
                  </a:lnTo>
                  <a:lnTo>
                    <a:pt x="5786" y="3247052"/>
                  </a:lnTo>
                  <a:lnTo>
                    <a:pt x="21524" y="3270314"/>
                  </a:lnTo>
                  <a:lnTo>
                    <a:pt x="44787" y="3286053"/>
                  </a:lnTo>
                  <a:lnTo>
                    <a:pt x="73144" y="3291840"/>
                  </a:lnTo>
                  <a:lnTo>
                    <a:pt x="5413255" y="3291840"/>
                  </a:lnTo>
                  <a:lnTo>
                    <a:pt x="5441612" y="3286053"/>
                  </a:lnTo>
                  <a:lnTo>
                    <a:pt x="5464874" y="3270314"/>
                  </a:lnTo>
                  <a:lnTo>
                    <a:pt x="5480613" y="3247052"/>
                  </a:lnTo>
                  <a:lnTo>
                    <a:pt x="5486400" y="3218695"/>
                  </a:lnTo>
                  <a:lnTo>
                    <a:pt x="5486400" y="73144"/>
                  </a:lnTo>
                  <a:lnTo>
                    <a:pt x="5480613" y="44787"/>
                  </a:lnTo>
                  <a:lnTo>
                    <a:pt x="5464874" y="21524"/>
                  </a:lnTo>
                  <a:lnTo>
                    <a:pt x="5441612" y="5786"/>
                  </a:lnTo>
                  <a:lnTo>
                    <a:pt x="5413255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39" y="1280160"/>
              <a:ext cx="5486400" cy="3291840"/>
            </a:xfrm>
            <a:custGeom>
              <a:avLst/>
              <a:gdLst/>
              <a:ahLst/>
              <a:cxnLst/>
              <a:rect l="l" t="t" r="r" b="b"/>
              <a:pathLst>
                <a:path w="5486400" h="3291840">
                  <a:moveTo>
                    <a:pt x="0" y="73144"/>
                  </a:moveTo>
                  <a:lnTo>
                    <a:pt x="5786" y="44787"/>
                  </a:lnTo>
                  <a:lnTo>
                    <a:pt x="21524" y="21524"/>
                  </a:lnTo>
                  <a:lnTo>
                    <a:pt x="44787" y="5786"/>
                  </a:lnTo>
                  <a:lnTo>
                    <a:pt x="73144" y="0"/>
                  </a:lnTo>
                  <a:lnTo>
                    <a:pt x="5413255" y="0"/>
                  </a:lnTo>
                  <a:lnTo>
                    <a:pt x="5441612" y="5786"/>
                  </a:lnTo>
                  <a:lnTo>
                    <a:pt x="5464874" y="21524"/>
                  </a:lnTo>
                  <a:lnTo>
                    <a:pt x="5480613" y="44787"/>
                  </a:lnTo>
                  <a:lnTo>
                    <a:pt x="5486400" y="73144"/>
                  </a:lnTo>
                  <a:lnTo>
                    <a:pt x="5486400" y="3218695"/>
                  </a:lnTo>
                  <a:lnTo>
                    <a:pt x="5480613" y="3247052"/>
                  </a:lnTo>
                  <a:lnTo>
                    <a:pt x="5464874" y="3270314"/>
                  </a:lnTo>
                  <a:lnTo>
                    <a:pt x="5441612" y="3286053"/>
                  </a:lnTo>
                  <a:lnTo>
                    <a:pt x="5413255" y="3291840"/>
                  </a:lnTo>
                  <a:lnTo>
                    <a:pt x="73144" y="3291840"/>
                  </a:lnTo>
                  <a:lnTo>
                    <a:pt x="44787" y="3286053"/>
                  </a:lnTo>
                  <a:lnTo>
                    <a:pt x="21524" y="3270314"/>
                  </a:lnTo>
                  <a:lnTo>
                    <a:pt x="5786" y="3247052"/>
                  </a:lnTo>
                  <a:lnTo>
                    <a:pt x="0" y="3218695"/>
                  </a:lnTo>
                  <a:lnTo>
                    <a:pt x="0" y="73144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4540" y="1398724"/>
            <a:ext cx="33743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Strict</a:t>
            </a:r>
            <a:r>
              <a:rPr sz="1700" b="1" spc="-50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guarantees</a:t>
            </a:r>
            <a:r>
              <a:rPr sz="1700" b="1" spc="-50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(never</a:t>
            </a:r>
            <a:r>
              <a:rPr sz="1700" b="1" spc="-45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E75019"/>
                </a:solidFill>
                <a:latin typeface="Cambria"/>
                <a:cs typeface="Cambria"/>
              </a:rPr>
              <a:t>violated)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1788158"/>
            <a:ext cx="4842510" cy="14859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Never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more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than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100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successful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sales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for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100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units</a:t>
            </a:r>
            <a:endParaRPr sz="1250">
              <a:latin typeface="Calibri"/>
              <a:cs typeface="Calibri"/>
            </a:endParaRPr>
          </a:p>
          <a:p>
            <a:pPr marL="355600" marR="258445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Reserve,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pay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and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order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are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idempotent: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no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duplicate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reservation,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charge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or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order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Unpaid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or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expired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reservations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are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always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released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Every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successful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payment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eventually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reaches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an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order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in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CONFIRMED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Card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data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never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stored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by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us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(tokenised,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hosted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fields)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11570" y="1273810"/>
            <a:ext cx="5407660" cy="3304540"/>
            <a:chOff x="6211570" y="1273810"/>
            <a:chExt cx="5407660" cy="3304540"/>
          </a:xfrm>
        </p:grpSpPr>
        <p:sp>
          <p:nvSpPr>
            <p:cNvPr id="9" name="object 9"/>
            <p:cNvSpPr/>
            <p:nvPr/>
          </p:nvSpPr>
          <p:spPr>
            <a:xfrm>
              <a:off x="6217919" y="1280160"/>
              <a:ext cx="5394960" cy="3291840"/>
            </a:xfrm>
            <a:custGeom>
              <a:avLst/>
              <a:gdLst/>
              <a:ahLst/>
              <a:cxnLst/>
              <a:rect l="l" t="t" r="r" b="b"/>
              <a:pathLst>
                <a:path w="5394959" h="3291840">
                  <a:moveTo>
                    <a:pt x="5321815" y="0"/>
                  </a:moveTo>
                  <a:lnTo>
                    <a:pt x="73144" y="0"/>
                  </a:lnTo>
                  <a:lnTo>
                    <a:pt x="44787" y="5786"/>
                  </a:lnTo>
                  <a:lnTo>
                    <a:pt x="21524" y="21524"/>
                  </a:lnTo>
                  <a:lnTo>
                    <a:pt x="5786" y="44787"/>
                  </a:lnTo>
                  <a:lnTo>
                    <a:pt x="0" y="73144"/>
                  </a:lnTo>
                  <a:lnTo>
                    <a:pt x="0" y="3218695"/>
                  </a:lnTo>
                  <a:lnTo>
                    <a:pt x="5786" y="3247052"/>
                  </a:lnTo>
                  <a:lnTo>
                    <a:pt x="21524" y="3270314"/>
                  </a:lnTo>
                  <a:lnTo>
                    <a:pt x="44787" y="3286053"/>
                  </a:lnTo>
                  <a:lnTo>
                    <a:pt x="73144" y="3291840"/>
                  </a:lnTo>
                  <a:lnTo>
                    <a:pt x="5321815" y="3291840"/>
                  </a:lnTo>
                  <a:lnTo>
                    <a:pt x="5350172" y="3286053"/>
                  </a:lnTo>
                  <a:lnTo>
                    <a:pt x="5373434" y="3270314"/>
                  </a:lnTo>
                  <a:lnTo>
                    <a:pt x="5389173" y="3247052"/>
                  </a:lnTo>
                  <a:lnTo>
                    <a:pt x="5394960" y="3218695"/>
                  </a:lnTo>
                  <a:lnTo>
                    <a:pt x="5394960" y="73144"/>
                  </a:lnTo>
                  <a:lnTo>
                    <a:pt x="5389173" y="44787"/>
                  </a:lnTo>
                  <a:lnTo>
                    <a:pt x="5373434" y="21524"/>
                  </a:lnTo>
                  <a:lnTo>
                    <a:pt x="5350172" y="5786"/>
                  </a:lnTo>
                  <a:lnTo>
                    <a:pt x="5321815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17919" y="1280160"/>
              <a:ext cx="5394960" cy="3291840"/>
            </a:xfrm>
            <a:custGeom>
              <a:avLst/>
              <a:gdLst/>
              <a:ahLst/>
              <a:cxnLst/>
              <a:rect l="l" t="t" r="r" b="b"/>
              <a:pathLst>
                <a:path w="5394959" h="3291840">
                  <a:moveTo>
                    <a:pt x="0" y="73144"/>
                  </a:moveTo>
                  <a:lnTo>
                    <a:pt x="5786" y="44787"/>
                  </a:lnTo>
                  <a:lnTo>
                    <a:pt x="21524" y="21524"/>
                  </a:lnTo>
                  <a:lnTo>
                    <a:pt x="44787" y="5786"/>
                  </a:lnTo>
                  <a:lnTo>
                    <a:pt x="73144" y="0"/>
                  </a:lnTo>
                  <a:lnTo>
                    <a:pt x="5321815" y="0"/>
                  </a:lnTo>
                  <a:lnTo>
                    <a:pt x="5350172" y="5786"/>
                  </a:lnTo>
                  <a:lnTo>
                    <a:pt x="5373434" y="21524"/>
                  </a:lnTo>
                  <a:lnTo>
                    <a:pt x="5389173" y="44787"/>
                  </a:lnTo>
                  <a:lnTo>
                    <a:pt x="5394960" y="73144"/>
                  </a:lnTo>
                  <a:lnTo>
                    <a:pt x="5394960" y="3218695"/>
                  </a:lnTo>
                  <a:lnTo>
                    <a:pt x="5389173" y="3247052"/>
                  </a:lnTo>
                  <a:lnTo>
                    <a:pt x="5373434" y="3270314"/>
                  </a:lnTo>
                  <a:lnTo>
                    <a:pt x="5350172" y="3286053"/>
                  </a:lnTo>
                  <a:lnTo>
                    <a:pt x="5321815" y="3291840"/>
                  </a:lnTo>
                  <a:lnTo>
                    <a:pt x="73144" y="3291840"/>
                  </a:lnTo>
                  <a:lnTo>
                    <a:pt x="44787" y="3286053"/>
                  </a:lnTo>
                  <a:lnTo>
                    <a:pt x="21524" y="3270314"/>
                  </a:lnTo>
                  <a:lnTo>
                    <a:pt x="5786" y="3247052"/>
                  </a:lnTo>
                  <a:lnTo>
                    <a:pt x="0" y="3218695"/>
                  </a:lnTo>
                  <a:lnTo>
                    <a:pt x="0" y="73144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433820" y="1398724"/>
            <a:ext cx="14859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0D8E7F"/>
                </a:solidFill>
                <a:latin typeface="Cambria"/>
                <a:cs typeface="Cambria"/>
              </a:rPr>
              <a:t>Targets</a:t>
            </a:r>
            <a:r>
              <a:rPr sz="1700" b="1" spc="-65" dirty="0">
                <a:solidFill>
                  <a:srgbClr val="0D8E7F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0D8E7F"/>
                </a:solidFill>
                <a:latin typeface="Cambria"/>
                <a:cs typeface="Cambria"/>
              </a:rPr>
              <a:t>(SLOs)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3820" y="1788158"/>
            <a:ext cx="4819650" cy="12954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Normal</a:t>
            </a:r>
            <a:r>
              <a:rPr sz="1250" spc="-4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10,000</a:t>
            </a:r>
            <a:r>
              <a:rPr sz="125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req/s;</a:t>
            </a:r>
            <a:r>
              <a:rPr sz="125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reason</a:t>
            </a:r>
            <a:r>
              <a:rPr sz="125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up</a:t>
            </a:r>
            <a:r>
              <a:rPr sz="125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to</a:t>
            </a:r>
            <a:r>
              <a:rPr sz="1250" spc="-4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500,000</a:t>
            </a:r>
            <a:r>
              <a:rPr sz="125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req/s</a:t>
            </a:r>
            <a:r>
              <a:rPr sz="125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(50x)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Edge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reject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p99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&lt;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50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ms;</a:t>
            </a:r>
            <a:r>
              <a:rPr sz="125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reservation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p99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&lt;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300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ms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Checkout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availability</a:t>
            </a:r>
            <a:r>
              <a:rPr sz="125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99.95%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Database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loss: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RPO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about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0,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RTO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under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5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min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Product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pages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may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show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slightly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stale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stock;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the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reserve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step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is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exact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290" y="4794250"/>
            <a:ext cx="11076940" cy="1430020"/>
            <a:chOff x="542290" y="4794250"/>
            <a:chExt cx="11076940" cy="1430020"/>
          </a:xfrm>
        </p:grpSpPr>
        <p:sp>
          <p:nvSpPr>
            <p:cNvPr id="14" name="object 14"/>
            <p:cNvSpPr/>
            <p:nvPr/>
          </p:nvSpPr>
          <p:spPr>
            <a:xfrm>
              <a:off x="548639" y="4800599"/>
              <a:ext cx="11064240" cy="1417320"/>
            </a:xfrm>
            <a:custGeom>
              <a:avLst/>
              <a:gdLst/>
              <a:ahLst/>
              <a:cxnLst/>
              <a:rect l="l" t="t" r="r" b="b"/>
              <a:pathLst>
                <a:path w="11064240" h="1417320">
                  <a:moveTo>
                    <a:pt x="10991091" y="0"/>
                  </a:moveTo>
                  <a:lnTo>
                    <a:pt x="73147" y="0"/>
                  </a:lnTo>
                  <a:lnTo>
                    <a:pt x="44789" y="5786"/>
                  </a:lnTo>
                  <a:lnTo>
                    <a:pt x="21525" y="21525"/>
                  </a:lnTo>
                  <a:lnTo>
                    <a:pt x="5786" y="44789"/>
                  </a:lnTo>
                  <a:lnTo>
                    <a:pt x="0" y="73147"/>
                  </a:lnTo>
                  <a:lnTo>
                    <a:pt x="0" y="1344171"/>
                  </a:lnTo>
                  <a:lnTo>
                    <a:pt x="5786" y="1372530"/>
                  </a:lnTo>
                  <a:lnTo>
                    <a:pt x="21525" y="1395793"/>
                  </a:lnTo>
                  <a:lnTo>
                    <a:pt x="44789" y="1411533"/>
                  </a:lnTo>
                  <a:lnTo>
                    <a:pt x="73147" y="1417319"/>
                  </a:lnTo>
                  <a:lnTo>
                    <a:pt x="10991091" y="1417319"/>
                  </a:lnTo>
                  <a:lnTo>
                    <a:pt x="11019450" y="1411533"/>
                  </a:lnTo>
                  <a:lnTo>
                    <a:pt x="11042713" y="1395793"/>
                  </a:lnTo>
                  <a:lnTo>
                    <a:pt x="11058453" y="1372530"/>
                  </a:lnTo>
                  <a:lnTo>
                    <a:pt x="11064239" y="1344171"/>
                  </a:lnTo>
                  <a:lnTo>
                    <a:pt x="11064239" y="73147"/>
                  </a:lnTo>
                  <a:lnTo>
                    <a:pt x="11058453" y="44789"/>
                  </a:lnTo>
                  <a:lnTo>
                    <a:pt x="11042713" y="21525"/>
                  </a:lnTo>
                  <a:lnTo>
                    <a:pt x="11019450" y="5786"/>
                  </a:lnTo>
                  <a:lnTo>
                    <a:pt x="10991091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639" y="4800599"/>
              <a:ext cx="11064240" cy="1417320"/>
            </a:xfrm>
            <a:custGeom>
              <a:avLst/>
              <a:gdLst/>
              <a:ahLst/>
              <a:cxnLst/>
              <a:rect l="l" t="t" r="r" b="b"/>
              <a:pathLst>
                <a:path w="11064240" h="1417320">
                  <a:moveTo>
                    <a:pt x="0" y="73147"/>
                  </a:moveTo>
                  <a:lnTo>
                    <a:pt x="5786" y="44789"/>
                  </a:lnTo>
                  <a:lnTo>
                    <a:pt x="21525" y="21525"/>
                  </a:lnTo>
                  <a:lnTo>
                    <a:pt x="44789" y="5786"/>
                  </a:lnTo>
                  <a:lnTo>
                    <a:pt x="73147" y="0"/>
                  </a:lnTo>
                  <a:lnTo>
                    <a:pt x="10991091" y="0"/>
                  </a:lnTo>
                  <a:lnTo>
                    <a:pt x="11019450" y="5786"/>
                  </a:lnTo>
                  <a:lnTo>
                    <a:pt x="11042713" y="21525"/>
                  </a:lnTo>
                  <a:lnTo>
                    <a:pt x="11058453" y="44789"/>
                  </a:lnTo>
                  <a:lnTo>
                    <a:pt x="11064239" y="73147"/>
                  </a:lnTo>
                  <a:lnTo>
                    <a:pt x="11064239" y="1344171"/>
                  </a:lnTo>
                  <a:lnTo>
                    <a:pt x="11058453" y="1372530"/>
                  </a:lnTo>
                  <a:lnTo>
                    <a:pt x="11042713" y="1395793"/>
                  </a:lnTo>
                  <a:lnTo>
                    <a:pt x="11019450" y="1411533"/>
                  </a:lnTo>
                  <a:lnTo>
                    <a:pt x="10991091" y="1417319"/>
                  </a:lnTo>
                  <a:lnTo>
                    <a:pt x="73147" y="1417319"/>
                  </a:lnTo>
                  <a:lnTo>
                    <a:pt x="44789" y="1411533"/>
                  </a:lnTo>
                  <a:lnTo>
                    <a:pt x="21525" y="1395793"/>
                  </a:lnTo>
                  <a:lnTo>
                    <a:pt x="5786" y="1372530"/>
                  </a:lnTo>
                  <a:lnTo>
                    <a:pt x="0" y="1344171"/>
                  </a:lnTo>
                  <a:lnTo>
                    <a:pt x="0" y="73147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4540" y="4838292"/>
            <a:ext cx="10000615" cy="5740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300" b="1" spc="-10" dirty="0">
                <a:solidFill>
                  <a:srgbClr val="E75019"/>
                </a:solidFill>
                <a:latin typeface="Calibri"/>
                <a:cs typeface="Calibri"/>
              </a:rPr>
              <a:t>Functional</a:t>
            </a:r>
            <a:r>
              <a:rPr sz="1300" b="1" spc="-1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5019"/>
                </a:solidFill>
                <a:latin typeface="Calibri"/>
                <a:cs typeface="Calibri"/>
              </a:rPr>
              <a:t>scope:</a:t>
            </a:r>
            <a:r>
              <a:rPr sz="1300" b="1" spc="-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Discovery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Cart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Inventory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Reservation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Checkout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Payment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Fulfilment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Shipment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 Tracking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300" b="1" spc="-10" dirty="0">
                <a:solidFill>
                  <a:srgbClr val="E75019"/>
                </a:solidFill>
                <a:latin typeface="Calibri"/>
                <a:cs typeface="Calibri"/>
              </a:rPr>
              <a:t>Assumptions:</a:t>
            </a:r>
            <a:r>
              <a:rPr sz="130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reservation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TTL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min;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sale;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external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gateway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offers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webhooks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status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API;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sale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pages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CDN-cacheable.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High-level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90" y="1273810"/>
            <a:ext cx="1795780" cy="744220"/>
            <a:chOff x="542290" y="1273810"/>
            <a:chExt cx="1795780" cy="744220"/>
          </a:xfrm>
        </p:grpSpPr>
        <p:sp>
          <p:nvSpPr>
            <p:cNvPr id="4" name="object 4"/>
            <p:cNvSpPr/>
            <p:nvPr/>
          </p:nvSpPr>
          <p:spPr>
            <a:xfrm>
              <a:off x="548640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80" h="731519">
                  <a:moveTo>
                    <a:pt x="1709927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86" y="686727"/>
                  </a:lnTo>
                  <a:lnTo>
                    <a:pt x="21527" y="709992"/>
                  </a:lnTo>
                  <a:lnTo>
                    <a:pt x="44792" y="725733"/>
                  </a:lnTo>
                  <a:lnTo>
                    <a:pt x="73152" y="731520"/>
                  </a:lnTo>
                  <a:lnTo>
                    <a:pt x="1709927" y="731520"/>
                  </a:lnTo>
                  <a:lnTo>
                    <a:pt x="1738287" y="725733"/>
                  </a:lnTo>
                  <a:lnTo>
                    <a:pt x="1761552" y="709992"/>
                  </a:lnTo>
                  <a:lnTo>
                    <a:pt x="1777293" y="686727"/>
                  </a:lnTo>
                  <a:lnTo>
                    <a:pt x="1783080" y="658367"/>
                  </a:lnTo>
                  <a:lnTo>
                    <a:pt x="1783080" y="73151"/>
                  </a:lnTo>
                  <a:lnTo>
                    <a:pt x="1777293" y="44792"/>
                  </a:lnTo>
                  <a:lnTo>
                    <a:pt x="1761552" y="21527"/>
                  </a:lnTo>
                  <a:lnTo>
                    <a:pt x="1738287" y="5786"/>
                  </a:lnTo>
                  <a:lnTo>
                    <a:pt x="1709927" y="0"/>
                  </a:lnTo>
                  <a:close/>
                </a:path>
              </a:pathLst>
            </a:custGeom>
            <a:solidFill>
              <a:srgbClr val="5A6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40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80" h="731519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709927" y="0"/>
                  </a:lnTo>
                  <a:lnTo>
                    <a:pt x="1738287" y="5786"/>
                  </a:lnTo>
                  <a:lnTo>
                    <a:pt x="1761552" y="21526"/>
                  </a:lnTo>
                  <a:lnTo>
                    <a:pt x="1777293" y="44791"/>
                  </a:lnTo>
                  <a:lnTo>
                    <a:pt x="1783080" y="73150"/>
                  </a:lnTo>
                  <a:lnTo>
                    <a:pt x="1783080" y="658367"/>
                  </a:lnTo>
                  <a:lnTo>
                    <a:pt x="1777293" y="686727"/>
                  </a:lnTo>
                  <a:lnTo>
                    <a:pt x="1761552" y="709992"/>
                  </a:lnTo>
                  <a:lnTo>
                    <a:pt x="1738287" y="725733"/>
                  </a:lnTo>
                  <a:lnTo>
                    <a:pt x="1709927" y="731520"/>
                  </a:lnTo>
                  <a:lnTo>
                    <a:pt x="73152" y="731520"/>
                  </a:lnTo>
                  <a:lnTo>
                    <a:pt x="44792" y="725733"/>
                  </a:lnTo>
                  <a:lnTo>
                    <a:pt x="21527" y="709992"/>
                  </a:lnTo>
                  <a:lnTo>
                    <a:pt x="5786" y="686727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51672" y="1532026"/>
            <a:ext cx="377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20607" y="1273810"/>
            <a:ext cx="2303780" cy="744220"/>
            <a:chOff x="2320607" y="1273810"/>
            <a:chExt cx="2303780" cy="744220"/>
          </a:xfrm>
        </p:grpSpPr>
        <p:sp>
          <p:nvSpPr>
            <p:cNvPr id="8" name="object 8"/>
            <p:cNvSpPr/>
            <p:nvPr/>
          </p:nvSpPr>
          <p:spPr>
            <a:xfrm>
              <a:off x="2331720" y="1645920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19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2089" y="1599088"/>
              <a:ext cx="93662" cy="9366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34639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79" h="731519">
                  <a:moveTo>
                    <a:pt x="1709927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86" y="686727"/>
                  </a:lnTo>
                  <a:lnTo>
                    <a:pt x="21527" y="709992"/>
                  </a:lnTo>
                  <a:lnTo>
                    <a:pt x="44792" y="725733"/>
                  </a:lnTo>
                  <a:lnTo>
                    <a:pt x="73152" y="731520"/>
                  </a:lnTo>
                  <a:lnTo>
                    <a:pt x="1709927" y="731520"/>
                  </a:lnTo>
                  <a:lnTo>
                    <a:pt x="1738287" y="725733"/>
                  </a:lnTo>
                  <a:lnTo>
                    <a:pt x="1761552" y="709992"/>
                  </a:lnTo>
                  <a:lnTo>
                    <a:pt x="1777293" y="686727"/>
                  </a:lnTo>
                  <a:lnTo>
                    <a:pt x="1783080" y="658367"/>
                  </a:lnTo>
                  <a:lnTo>
                    <a:pt x="1783080" y="73151"/>
                  </a:lnTo>
                  <a:lnTo>
                    <a:pt x="1777293" y="44792"/>
                  </a:lnTo>
                  <a:lnTo>
                    <a:pt x="1761552" y="21527"/>
                  </a:lnTo>
                  <a:lnTo>
                    <a:pt x="1738287" y="5786"/>
                  </a:lnTo>
                  <a:lnTo>
                    <a:pt x="1709927" y="0"/>
                  </a:lnTo>
                  <a:close/>
                </a:path>
              </a:pathLst>
            </a:custGeom>
            <a:solidFill>
              <a:srgbClr val="3A66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4639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79" h="731519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709927" y="0"/>
                  </a:lnTo>
                  <a:lnTo>
                    <a:pt x="1738287" y="5786"/>
                  </a:lnTo>
                  <a:lnTo>
                    <a:pt x="1761552" y="21526"/>
                  </a:lnTo>
                  <a:lnTo>
                    <a:pt x="1777293" y="44791"/>
                  </a:lnTo>
                  <a:lnTo>
                    <a:pt x="1783080" y="73150"/>
                  </a:lnTo>
                  <a:lnTo>
                    <a:pt x="1783080" y="658367"/>
                  </a:lnTo>
                  <a:lnTo>
                    <a:pt x="1777293" y="686727"/>
                  </a:lnTo>
                  <a:lnTo>
                    <a:pt x="1761552" y="709992"/>
                  </a:lnTo>
                  <a:lnTo>
                    <a:pt x="1738287" y="725733"/>
                  </a:lnTo>
                  <a:lnTo>
                    <a:pt x="1709927" y="731520"/>
                  </a:lnTo>
                  <a:lnTo>
                    <a:pt x="73152" y="731520"/>
                  </a:lnTo>
                  <a:lnTo>
                    <a:pt x="44792" y="725733"/>
                  </a:lnTo>
                  <a:lnTo>
                    <a:pt x="21527" y="709992"/>
                  </a:lnTo>
                  <a:lnTo>
                    <a:pt x="5786" y="686727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3A66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17253" y="1440586"/>
            <a:ext cx="10172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CDN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WAF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cache,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bot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filter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06607" y="1273810"/>
            <a:ext cx="2303780" cy="744220"/>
            <a:chOff x="4606607" y="1273810"/>
            <a:chExt cx="2303780" cy="744220"/>
          </a:xfrm>
        </p:grpSpPr>
        <p:sp>
          <p:nvSpPr>
            <p:cNvPr id="14" name="object 14"/>
            <p:cNvSpPr/>
            <p:nvPr/>
          </p:nvSpPr>
          <p:spPr>
            <a:xfrm>
              <a:off x="4617720" y="1645920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20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8089" y="1599088"/>
              <a:ext cx="93662" cy="936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20640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79" h="731519">
                  <a:moveTo>
                    <a:pt x="1709927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86" y="686727"/>
                  </a:lnTo>
                  <a:lnTo>
                    <a:pt x="21527" y="709992"/>
                  </a:lnTo>
                  <a:lnTo>
                    <a:pt x="44792" y="725733"/>
                  </a:lnTo>
                  <a:lnTo>
                    <a:pt x="73152" y="731520"/>
                  </a:lnTo>
                  <a:lnTo>
                    <a:pt x="1709927" y="731520"/>
                  </a:lnTo>
                  <a:lnTo>
                    <a:pt x="1738287" y="725733"/>
                  </a:lnTo>
                  <a:lnTo>
                    <a:pt x="1761552" y="709992"/>
                  </a:lnTo>
                  <a:lnTo>
                    <a:pt x="1777293" y="686727"/>
                  </a:lnTo>
                  <a:lnTo>
                    <a:pt x="1783080" y="658367"/>
                  </a:lnTo>
                  <a:lnTo>
                    <a:pt x="1783080" y="73151"/>
                  </a:lnTo>
                  <a:lnTo>
                    <a:pt x="1777293" y="44792"/>
                  </a:lnTo>
                  <a:lnTo>
                    <a:pt x="1761552" y="21527"/>
                  </a:lnTo>
                  <a:lnTo>
                    <a:pt x="1738287" y="5786"/>
                  </a:lnTo>
                  <a:lnTo>
                    <a:pt x="1709927" y="0"/>
                  </a:lnTo>
                  <a:close/>
                </a:path>
              </a:pathLst>
            </a:custGeom>
            <a:solidFill>
              <a:srgbClr val="3A66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20640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79" h="731519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709927" y="0"/>
                  </a:lnTo>
                  <a:lnTo>
                    <a:pt x="1738287" y="5786"/>
                  </a:lnTo>
                  <a:lnTo>
                    <a:pt x="1761552" y="21526"/>
                  </a:lnTo>
                  <a:lnTo>
                    <a:pt x="1777293" y="44791"/>
                  </a:lnTo>
                  <a:lnTo>
                    <a:pt x="1783080" y="73150"/>
                  </a:lnTo>
                  <a:lnTo>
                    <a:pt x="1783080" y="658367"/>
                  </a:lnTo>
                  <a:lnTo>
                    <a:pt x="1777293" y="686727"/>
                  </a:lnTo>
                  <a:lnTo>
                    <a:pt x="1761552" y="709992"/>
                  </a:lnTo>
                  <a:lnTo>
                    <a:pt x="1738287" y="725733"/>
                  </a:lnTo>
                  <a:lnTo>
                    <a:pt x="1709927" y="731520"/>
                  </a:lnTo>
                  <a:lnTo>
                    <a:pt x="73152" y="731520"/>
                  </a:lnTo>
                  <a:lnTo>
                    <a:pt x="44792" y="725733"/>
                  </a:lnTo>
                  <a:lnTo>
                    <a:pt x="21527" y="709992"/>
                  </a:lnTo>
                  <a:lnTo>
                    <a:pt x="5786" y="686727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3A66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55862" y="1440586"/>
            <a:ext cx="9124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marR="5080" indent="-635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Balancer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L7,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AZ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92607" y="1273810"/>
            <a:ext cx="2303780" cy="744220"/>
            <a:chOff x="6892607" y="1273810"/>
            <a:chExt cx="2303780" cy="744220"/>
          </a:xfrm>
        </p:grpSpPr>
        <p:sp>
          <p:nvSpPr>
            <p:cNvPr id="20" name="object 20"/>
            <p:cNvSpPr/>
            <p:nvPr/>
          </p:nvSpPr>
          <p:spPr>
            <a:xfrm>
              <a:off x="6903719" y="1645920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20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4089" y="1599088"/>
              <a:ext cx="93662" cy="936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406639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79" h="731519">
                  <a:moveTo>
                    <a:pt x="1709927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86" y="686727"/>
                  </a:lnTo>
                  <a:lnTo>
                    <a:pt x="21527" y="709992"/>
                  </a:lnTo>
                  <a:lnTo>
                    <a:pt x="44792" y="725733"/>
                  </a:lnTo>
                  <a:lnTo>
                    <a:pt x="73152" y="731520"/>
                  </a:lnTo>
                  <a:lnTo>
                    <a:pt x="1709927" y="731520"/>
                  </a:lnTo>
                  <a:lnTo>
                    <a:pt x="1738287" y="725733"/>
                  </a:lnTo>
                  <a:lnTo>
                    <a:pt x="1761552" y="709992"/>
                  </a:lnTo>
                  <a:lnTo>
                    <a:pt x="1777293" y="686727"/>
                  </a:lnTo>
                  <a:lnTo>
                    <a:pt x="1783080" y="658367"/>
                  </a:lnTo>
                  <a:lnTo>
                    <a:pt x="1783080" y="73151"/>
                  </a:lnTo>
                  <a:lnTo>
                    <a:pt x="1777293" y="44792"/>
                  </a:lnTo>
                  <a:lnTo>
                    <a:pt x="1761552" y="21527"/>
                  </a:lnTo>
                  <a:lnTo>
                    <a:pt x="1738287" y="5786"/>
                  </a:lnTo>
                  <a:lnTo>
                    <a:pt x="1709927" y="0"/>
                  </a:lnTo>
                  <a:close/>
                </a:path>
              </a:pathLst>
            </a:custGeom>
            <a:solidFill>
              <a:srgbClr val="3A66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06639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79" h="731519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709927" y="0"/>
                  </a:lnTo>
                  <a:lnTo>
                    <a:pt x="1738287" y="5786"/>
                  </a:lnTo>
                  <a:lnTo>
                    <a:pt x="1761552" y="21526"/>
                  </a:lnTo>
                  <a:lnTo>
                    <a:pt x="1777293" y="44791"/>
                  </a:lnTo>
                  <a:lnTo>
                    <a:pt x="1783080" y="73150"/>
                  </a:lnTo>
                  <a:lnTo>
                    <a:pt x="1783080" y="658367"/>
                  </a:lnTo>
                  <a:lnTo>
                    <a:pt x="1777293" y="686727"/>
                  </a:lnTo>
                  <a:lnTo>
                    <a:pt x="1761552" y="709992"/>
                  </a:lnTo>
                  <a:lnTo>
                    <a:pt x="1738287" y="725733"/>
                  </a:lnTo>
                  <a:lnTo>
                    <a:pt x="1709927" y="731520"/>
                  </a:lnTo>
                  <a:lnTo>
                    <a:pt x="73152" y="731520"/>
                  </a:lnTo>
                  <a:lnTo>
                    <a:pt x="44792" y="725733"/>
                  </a:lnTo>
                  <a:lnTo>
                    <a:pt x="21527" y="709992"/>
                  </a:lnTo>
                  <a:lnTo>
                    <a:pt x="5786" y="686727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3A66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811725" y="1440586"/>
            <a:ext cx="972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94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Gateway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auth,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limit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78607" y="1273810"/>
            <a:ext cx="2303780" cy="744220"/>
            <a:chOff x="9178607" y="1273810"/>
            <a:chExt cx="2303780" cy="744220"/>
          </a:xfrm>
        </p:grpSpPr>
        <p:sp>
          <p:nvSpPr>
            <p:cNvPr id="26" name="object 26"/>
            <p:cNvSpPr/>
            <p:nvPr/>
          </p:nvSpPr>
          <p:spPr>
            <a:xfrm>
              <a:off x="9189719" y="1645920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20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10089" y="1599088"/>
              <a:ext cx="93662" cy="9366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692639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79" h="731519">
                  <a:moveTo>
                    <a:pt x="1709927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86" y="686727"/>
                  </a:lnTo>
                  <a:lnTo>
                    <a:pt x="21527" y="709992"/>
                  </a:lnTo>
                  <a:lnTo>
                    <a:pt x="44792" y="725733"/>
                  </a:lnTo>
                  <a:lnTo>
                    <a:pt x="73152" y="731520"/>
                  </a:lnTo>
                  <a:lnTo>
                    <a:pt x="1709927" y="731520"/>
                  </a:lnTo>
                  <a:lnTo>
                    <a:pt x="1738287" y="725733"/>
                  </a:lnTo>
                  <a:lnTo>
                    <a:pt x="1761552" y="709992"/>
                  </a:lnTo>
                  <a:lnTo>
                    <a:pt x="1777293" y="686727"/>
                  </a:lnTo>
                  <a:lnTo>
                    <a:pt x="1783080" y="658367"/>
                  </a:lnTo>
                  <a:lnTo>
                    <a:pt x="1783080" y="73151"/>
                  </a:lnTo>
                  <a:lnTo>
                    <a:pt x="1777293" y="44792"/>
                  </a:lnTo>
                  <a:lnTo>
                    <a:pt x="1761552" y="21527"/>
                  </a:lnTo>
                  <a:lnTo>
                    <a:pt x="1738287" y="5786"/>
                  </a:lnTo>
                  <a:lnTo>
                    <a:pt x="1709927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92639" y="1280160"/>
              <a:ext cx="1783080" cy="731520"/>
            </a:xfrm>
            <a:custGeom>
              <a:avLst/>
              <a:gdLst/>
              <a:ahLst/>
              <a:cxnLst/>
              <a:rect l="l" t="t" r="r" b="b"/>
              <a:pathLst>
                <a:path w="1783079" h="731519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709927" y="0"/>
                  </a:lnTo>
                  <a:lnTo>
                    <a:pt x="1738287" y="5786"/>
                  </a:lnTo>
                  <a:lnTo>
                    <a:pt x="1761552" y="21526"/>
                  </a:lnTo>
                  <a:lnTo>
                    <a:pt x="1777293" y="44791"/>
                  </a:lnTo>
                  <a:lnTo>
                    <a:pt x="1783080" y="73150"/>
                  </a:lnTo>
                  <a:lnTo>
                    <a:pt x="1783080" y="658367"/>
                  </a:lnTo>
                  <a:lnTo>
                    <a:pt x="1777293" y="686727"/>
                  </a:lnTo>
                  <a:lnTo>
                    <a:pt x="1761552" y="709992"/>
                  </a:lnTo>
                  <a:lnTo>
                    <a:pt x="1738287" y="725733"/>
                  </a:lnTo>
                  <a:lnTo>
                    <a:pt x="1709927" y="731520"/>
                  </a:lnTo>
                  <a:lnTo>
                    <a:pt x="73152" y="731520"/>
                  </a:lnTo>
                  <a:lnTo>
                    <a:pt x="44792" y="725733"/>
                  </a:lnTo>
                  <a:lnTo>
                    <a:pt x="21527" y="709992"/>
                  </a:lnTo>
                  <a:lnTo>
                    <a:pt x="5786" y="686727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20258" y="1440586"/>
            <a:ext cx="1127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969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Waiting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Room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admission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tokens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2290" y="2325370"/>
            <a:ext cx="11122660" cy="1612900"/>
            <a:chOff x="542290" y="2325370"/>
            <a:chExt cx="11122660" cy="1612900"/>
          </a:xfrm>
        </p:grpSpPr>
        <p:sp>
          <p:nvSpPr>
            <p:cNvPr id="32" name="object 32"/>
            <p:cNvSpPr/>
            <p:nvPr/>
          </p:nvSpPr>
          <p:spPr>
            <a:xfrm>
              <a:off x="548640" y="2331720"/>
              <a:ext cx="11109960" cy="1600200"/>
            </a:xfrm>
            <a:custGeom>
              <a:avLst/>
              <a:gdLst/>
              <a:ahLst/>
              <a:cxnLst/>
              <a:rect l="l" t="t" r="r" b="b"/>
              <a:pathLst>
                <a:path w="11109960" h="1600200">
                  <a:moveTo>
                    <a:pt x="11036814" y="0"/>
                  </a:moveTo>
                  <a:lnTo>
                    <a:pt x="73144" y="0"/>
                  </a:lnTo>
                  <a:lnTo>
                    <a:pt x="44787" y="5786"/>
                  </a:lnTo>
                  <a:lnTo>
                    <a:pt x="21525" y="21525"/>
                  </a:lnTo>
                  <a:lnTo>
                    <a:pt x="5786" y="44787"/>
                  </a:lnTo>
                  <a:lnTo>
                    <a:pt x="0" y="73144"/>
                  </a:lnTo>
                  <a:lnTo>
                    <a:pt x="0" y="1527054"/>
                  </a:lnTo>
                  <a:lnTo>
                    <a:pt x="5786" y="1555411"/>
                  </a:lnTo>
                  <a:lnTo>
                    <a:pt x="21525" y="1578674"/>
                  </a:lnTo>
                  <a:lnTo>
                    <a:pt x="44787" y="1594413"/>
                  </a:lnTo>
                  <a:lnTo>
                    <a:pt x="73144" y="1600200"/>
                  </a:lnTo>
                  <a:lnTo>
                    <a:pt x="11036814" y="1600200"/>
                  </a:lnTo>
                  <a:lnTo>
                    <a:pt x="11065171" y="1594413"/>
                  </a:lnTo>
                  <a:lnTo>
                    <a:pt x="11088434" y="1578674"/>
                  </a:lnTo>
                  <a:lnTo>
                    <a:pt x="11104173" y="1555411"/>
                  </a:lnTo>
                  <a:lnTo>
                    <a:pt x="11109960" y="1527054"/>
                  </a:lnTo>
                  <a:lnTo>
                    <a:pt x="11109960" y="73144"/>
                  </a:lnTo>
                  <a:lnTo>
                    <a:pt x="11104173" y="44787"/>
                  </a:lnTo>
                  <a:lnTo>
                    <a:pt x="11088434" y="21525"/>
                  </a:lnTo>
                  <a:lnTo>
                    <a:pt x="11065171" y="5786"/>
                  </a:lnTo>
                  <a:lnTo>
                    <a:pt x="11036814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8640" y="2331720"/>
              <a:ext cx="11109960" cy="1600200"/>
            </a:xfrm>
            <a:custGeom>
              <a:avLst/>
              <a:gdLst/>
              <a:ahLst/>
              <a:cxnLst/>
              <a:rect l="l" t="t" r="r" b="b"/>
              <a:pathLst>
                <a:path w="11109960" h="1600200">
                  <a:moveTo>
                    <a:pt x="0" y="73144"/>
                  </a:moveTo>
                  <a:lnTo>
                    <a:pt x="5786" y="44787"/>
                  </a:lnTo>
                  <a:lnTo>
                    <a:pt x="21525" y="21525"/>
                  </a:lnTo>
                  <a:lnTo>
                    <a:pt x="44787" y="5786"/>
                  </a:lnTo>
                  <a:lnTo>
                    <a:pt x="73144" y="0"/>
                  </a:lnTo>
                  <a:lnTo>
                    <a:pt x="11036814" y="0"/>
                  </a:lnTo>
                  <a:lnTo>
                    <a:pt x="11065171" y="5786"/>
                  </a:lnTo>
                  <a:lnTo>
                    <a:pt x="11088434" y="21525"/>
                  </a:lnTo>
                  <a:lnTo>
                    <a:pt x="11104173" y="44787"/>
                  </a:lnTo>
                  <a:lnTo>
                    <a:pt x="11109960" y="73144"/>
                  </a:lnTo>
                  <a:lnTo>
                    <a:pt x="11109960" y="1527054"/>
                  </a:lnTo>
                  <a:lnTo>
                    <a:pt x="11104173" y="1555411"/>
                  </a:lnTo>
                  <a:lnTo>
                    <a:pt x="11088434" y="1578674"/>
                  </a:lnTo>
                  <a:lnTo>
                    <a:pt x="11065171" y="1594413"/>
                  </a:lnTo>
                  <a:lnTo>
                    <a:pt x="11036814" y="1600200"/>
                  </a:lnTo>
                  <a:lnTo>
                    <a:pt x="73144" y="1600200"/>
                  </a:lnTo>
                  <a:lnTo>
                    <a:pt x="44787" y="1594413"/>
                  </a:lnTo>
                  <a:lnTo>
                    <a:pt x="21525" y="1578674"/>
                  </a:lnTo>
                  <a:lnTo>
                    <a:pt x="5786" y="1555411"/>
                  </a:lnTo>
                  <a:lnTo>
                    <a:pt x="0" y="1527054"/>
                  </a:lnTo>
                  <a:lnTo>
                    <a:pt x="0" y="73144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18819" y="2373274"/>
            <a:ext cx="329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A6578"/>
                </a:solidFill>
                <a:latin typeface="Calibri"/>
                <a:cs typeface="Calibri"/>
              </a:rPr>
              <a:t>Stateless</a:t>
            </a:r>
            <a:r>
              <a:rPr sz="1200" b="1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A6578"/>
                </a:solidFill>
                <a:latin typeface="Calibri"/>
                <a:cs typeface="Calibri"/>
              </a:rPr>
              <a:t>services,</a:t>
            </a:r>
            <a:r>
              <a:rPr sz="1200" b="1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A6578"/>
                </a:solidFill>
                <a:latin typeface="Calibri"/>
                <a:cs typeface="Calibri"/>
              </a:rPr>
              <a:t>autoscaled</a:t>
            </a:r>
            <a:r>
              <a:rPr sz="1200" b="1" spc="204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A6578"/>
                </a:solidFill>
                <a:latin typeface="Calibri"/>
                <a:cs typeface="Calibri"/>
              </a:rPr>
              <a:t>(solid</a:t>
            </a:r>
            <a:r>
              <a:rPr sz="1200" b="1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5A6578"/>
                </a:solidFill>
                <a:latin typeface="Calibri"/>
                <a:cs typeface="Calibri"/>
              </a:rPr>
              <a:t>=</a:t>
            </a:r>
            <a:r>
              <a:rPr sz="1200" b="1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5A6578"/>
                </a:solidFill>
                <a:latin typeface="Calibri"/>
                <a:cs typeface="Calibri"/>
              </a:rPr>
              <a:t>synchronous)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450" y="2000567"/>
            <a:ext cx="9951720" cy="1663700"/>
            <a:chOff x="679450" y="2000567"/>
            <a:chExt cx="9951720" cy="1663700"/>
          </a:xfrm>
        </p:grpSpPr>
        <p:sp>
          <p:nvSpPr>
            <p:cNvPr id="36" name="object 36"/>
            <p:cNvSpPr/>
            <p:nvPr/>
          </p:nvSpPr>
          <p:spPr>
            <a:xfrm>
              <a:off x="10584180" y="2011679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2004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37349" y="2249169"/>
              <a:ext cx="93661" cy="9366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85800" y="2743199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60" h="914400">
                  <a:moveTo>
                    <a:pt x="1371599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371599" y="914400"/>
                  </a:lnTo>
                  <a:lnTo>
                    <a:pt x="1399959" y="908613"/>
                  </a:lnTo>
                  <a:lnTo>
                    <a:pt x="1423224" y="892872"/>
                  </a:lnTo>
                  <a:lnTo>
                    <a:pt x="1438964" y="869607"/>
                  </a:lnTo>
                  <a:lnTo>
                    <a:pt x="1444752" y="841248"/>
                  </a:lnTo>
                  <a:lnTo>
                    <a:pt x="1444751" y="73151"/>
                  </a:lnTo>
                  <a:lnTo>
                    <a:pt x="1438965" y="44792"/>
                  </a:lnTo>
                  <a:lnTo>
                    <a:pt x="1423224" y="21527"/>
                  </a:lnTo>
                  <a:lnTo>
                    <a:pt x="1399959" y="5786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5800" y="2743199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60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371599" y="0"/>
                  </a:lnTo>
                  <a:lnTo>
                    <a:pt x="1399959" y="5786"/>
                  </a:lnTo>
                  <a:lnTo>
                    <a:pt x="1423224" y="21526"/>
                  </a:lnTo>
                  <a:lnTo>
                    <a:pt x="1438964" y="44791"/>
                  </a:lnTo>
                  <a:lnTo>
                    <a:pt x="1444751" y="73150"/>
                  </a:lnTo>
                  <a:lnTo>
                    <a:pt x="1444752" y="841248"/>
                  </a:lnTo>
                  <a:lnTo>
                    <a:pt x="1438964" y="869607"/>
                  </a:lnTo>
                  <a:lnTo>
                    <a:pt x="1423224" y="892872"/>
                  </a:lnTo>
                  <a:lnTo>
                    <a:pt x="1399959" y="908613"/>
                  </a:lnTo>
                  <a:lnTo>
                    <a:pt x="1371599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935078" y="2995066"/>
            <a:ext cx="945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97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 / 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Sale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(cached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reads)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252217" y="2736850"/>
            <a:ext cx="1457960" cy="927100"/>
            <a:chOff x="2252217" y="2736850"/>
            <a:chExt cx="1457960" cy="927100"/>
          </a:xfrm>
        </p:grpSpPr>
        <p:sp>
          <p:nvSpPr>
            <p:cNvPr id="42" name="object 42"/>
            <p:cNvSpPr/>
            <p:nvPr/>
          </p:nvSpPr>
          <p:spPr>
            <a:xfrm>
              <a:off x="2258567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60" h="914400">
                  <a:moveTo>
                    <a:pt x="1371599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371599" y="914400"/>
                  </a:lnTo>
                  <a:lnTo>
                    <a:pt x="1399959" y="908613"/>
                  </a:lnTo>
                  <a:lnTo>
                    <a:pt x="1423224" y="892872"/>
                  </a:lnTo>
                  <a:lnTo>
                    <a:pt x="1438964" y="869607"/>
                  </a:lnTo>
                  <a:lnTo>
                    <a:pt x="1444752" y="841248"/>
                  </a:lnTo>
                  <a:lnTo>
                    <a:pt x="1444751" y="73151"/>
                  </a:lnTo>
                  <a:lnTo>
                    <a:pt x="1438965" y="44792"/>
                  </a:lnTo>
                  <a:lnTo>
                    <a:pt x="1423224" y="21527"/>
                  </a:lnTo>
                  <a:lnTo>
                    <a:pt x="1399959" y="5786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58567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60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371599" y="0"/>
                  </a:lnTo>
                  <a:lnTo>
                    <a:pt x="1399959" y="5786"/>
                  </a:lnTo>
                  <a:lnTo>
                    <a:pt x="1423224" y="21526"/>
                  </a:lnTo>
                  <a:lnTo>
                    <a:pt x="1438964" y="44791"/>
                  </a:lnTo>
                  <a:lnTo>
                    <a:pt x="1444751" y="73150"/>
                  </a:lnTo>
                  <a:lnTo>
                    <a:pt x="1444752" y="841248"/>
                  </a:lnTo>
                  <a:lnTo>
                    <a:pt x="1438964" y="869607"/>
                  </a:lnTo>
                  <a:lnTo>
                    <a:pt x="1423224" y="892872"/>
                  </a:lnTo>
                  <a:lnTo>
                    <a:pt x="1399959" y="908613"/>
                  </a:lnTo>
                  <a:lnTo>
                    <a:pt x="1371599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836973" y="3086506"/>
            <a:ext cx="288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Cart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824985" y="2736850"/>
            <a:ext cx="1457960" cy="927100"/>
            <a:chOff x="3824985" y="2736850"/>
            <a:chExt cx="1457960" cy="927100"/>
          </a:xfrm>
        </p:grpSpPr>
        <p:sp>
          <p:nvSpPr>
            <p:cNvPr id="46" name="object 46"/>
            <p:cNvSpPr/>
            <p:nvPr/>
          </p:nvSpPr>
          <p:spPr>
            <a:xfrm>
              <a:off x="3831335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60" h="914400">
                  <a:moveTo>
                    <a:pt x="1371599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371599" y="914400"/>
                  </a:lnTo>
                  <a:lnTo>
                    <a:pt x="1399959" y="908613"/>
                  </a:lnTo>
                  <a:lnTo>
                    <a:pt x="1423224" y="892872"/>
                  </a:lnTo>
                  <a:lnTo>
                    <a:pt x="1438964" y="869607"/>
                  </a:lnTo>
                  <a:lnTo>
                    <a:pt x="1444752" y="841248"/>
                  </a:lnTo>
                  <a:lnTo>
                    <a:pt x="1444751" y="73151"/>
                  </a:lnTo>
                  <a:lnTo>
                    <a:pt x="1438965" y="44792"/>
                  </a:lnTo>
                  <a:lnTo>
                    <a:pt x="1423224" y="21527"/>
                  </a:lnTo>
                  <a:lnTo>
                    <a:pt x="1399959" y="5786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831335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60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371599" y="0"/>
                  </a:lnTo>
                  <a:lnTo>
                    <a:pt x="1399959" y="5786"/>
                  </a:lnTo>
                  <a:lnTo>
                    <a:pt x="1423224" y="21526"/>
                  </a:lnTo>
                  <a:lnTo>
                    <a:pt x="1438964" y="44791"/>
                  </a:lnTo>
                  <a:lnTo>
                    <a:pt x="1444751" y="73150"/>
                  </a:lnTo>
                  <a:lnTo>
                    <a:pt x="1444752" y="841248"/>
                  </a:lnTo>
                  <a:lnTo>
                    <a:pt x="1438964" y="869607"/>
                  </a:lnTo>
                  <a:lnTo>
                    <a:pt x="1423224" y="892872"/>
                  </a:lnTo>
                  <a:lnTo>
                    <a:pt x="1399959" y="908613"/>
                  </a:lnTo>
                  <a:lnTo>
                    <a:pt x="1371599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163211" y="2995066"/>
            <a:ext cx="781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Inventory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Reservation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397753" y="2736850"/>
            <a:ext cx="1457960" cy="927100"/>
            <a:chOff x="5397753" y="2736850"/>
            <a:chExt cx="1457960" cy="927100"/>
          </a:xfrm>
        </p:grpSpPr>
        <p:sp>
          <p:nvSpPr>
            <p:cNvPr id="50" name="object 50"/>
            <p:cNvSpPr/>
            <p:nvPr/>
          </p:nvSpPr>
          <p:spPr>
            <a:xfrm>
              <a:off x="5404103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59" h="914400">
                  <a:moveTo>
                    <a:pt x="1371599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371599" y="914400"/>
                  </a:lnTo>
                  <a:lnTo>
                    <a:pt x="1399959" y="908613"/>
                  </a:lnTo>
                  <a:lnTo>
                    <a:pt x="1423224" y="892872"/>
                  </a:lnTo>
                  <a:lnTo>
                    <a:pt x="1438964" y="869607"/>
                  </a:lnTo>
                  <a:lnTo>
                    <a:pt x="1444752" y="841248"/>
                  </a:lnTo>
                  <a:lnTo>
                    <a:pt x="1444751" y="73151"/>
                  </a:lnTo>
                  <a:lnTo>
                    <a:pt x="1438965" y="44792"/>
                  </a:lnTo>
                  <a:lnTo>
                    <a:pt x="1423224" y="21527"/>
                  </a:lnTo>
                  <a:lnTo>
                    <a:pt x="1399959" y="5786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04103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59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371599" y="0"/>
                  </a:lnTo>
                  <a:lnTo>
                    <a:pt x="1399959" y="5786"/>
                  </a:lnTo>
                  <a:lnTo>
                    <a:pt x="1423224" y="21526"/>
                  </a:lnTo>
                  <a:lnTo>
                    <a:pt x="1438964" y="44791"/>
                  </a:lnTo>
                  <a:lnTo>
                    <a:pt x="1444751" y="73150"/>
                  </a:lnTo>
                  <a:lnTo>
                    <a:pt x="1444752" y="841248"/>
                  </a:lnTo>
                  <a:lnTo>
                    <a:pt x="1438964" y="869607"/>
                  </a:lnTo>
                  <a:lnTo>
                    <a:pt x="1423224" y="892872"/>
                  </a:lnTo>
                  <a:lnTo>
                    <a:pt x="1399959" y="908613"/>
                  </a:lnTo>
                  <a:lnTo>
                    <a:pt x="1371599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817647" y="2995066"/>
            <a:ext cx="617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Checkout (Facade)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970521" y="2736850"/>
            <a:ext cx="1457960" cy="927100"/>
            <a:chOff x="6970521" y="2736850"/>
            <a:chExt cx="1457960" cy="927100"/>
          </a:xfrm>
        </p:grpSpPr>
        <p:sp>
          <p:nvSpPr>
            <p:cNvPr id="54" name="object 54"/>
            <p:cNvSpPr/>
            <p:nvPr/>
          </p:nvSpPr>
          <p:spPr>
            <a:xfrm>
              <a:off x="6976871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59" h="914400">
                  <a:moveTo>
                    <a:pt x="1371599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371599" y="914400"/>
                  </a:lnTo>
                  <a:lnTo>
                    <a:pt x="1399959" y="908613"/>
                  </a:lnTo>
                  <a:lnTo>
                    <a:pt x="1423224" y="892872"/>
                  </a:lnTo>
                  <a:lnTo>
                    <a:pt x="1438964" y="869607"/>
                  </a:lnTo>
                  <a:lnTo>
                    <a:pt x="1444752" y="841248"/>
                  </a:lnTo>
                  <a:lnTo>
                    <a:pt x="1444751" y="73151"/>
                  </a:lnTo>
                  <a:lnTo>
                    <a:pt x="1438965" y="44792"/>
                  </a:lnTo>
                  <a:lnTo>
                    <a:pt x="1423224" y="21527"/>
                  </a:lnTo>
                  <a:lnTo>
                    <a:pt x="1399959" y="5786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976871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59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371599" y="0"/>
                  </a:lnTo>
                  <a:lnTo>
                    <a:pt x="1399959" y="5786"/>
                  </a:lnTo>
                  <a:lnTo>
                    <a:pt x="1423224" y="21526"/>
                  </a:lnTo>
                  <a:lnTo>
                    <a:pt x="1438964" y="44791"/>
                  </a:lnTo>
                  <a:lnTo>
                    <a:pt x="1444751" y="73150"/>
                  </a:lnTo>
                  <a:lnTo>
                    <a:pt x="1444752" y="841248"/>
                  </a:lnTo>
                  <a:lnTo>
                    <a:pt x="1438964" y="869607"/>
                  </a:lnTo>
                  <a:lnTo>
                    <a:pt x="1423224" y="892872"/>
                  </a:lnTo>
                  <a:lnTo>
                    <a:pt x="1399959" y="908613"/>
                  </a:lnTo>
                  <a:lnTo>
                    <a:pt x="1371599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404814" y="3086506"/>
            <a:ext cx="58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Payment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543289" y="2736850"/>
            <a:ext cx="1457960" cy="927100"/>
            <a:chOff x="8543289" y="2736850"/>
            <a:chExt cx="1457960" cy="927100"/>
          </a:xfrm>
        </p:grpSpPr>
        <p:sp>
          <p:nvSpPr>
            <p:cNvPr id="58" name="object 58"/>
            <p:cNvSpPr/>
            <p:nvPr/>
          </p:nvSpPr>
          <p:spPr>
            <a:xfrm>
              <a:off x="8549639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59" h="914400">
                  <a:moveTo>
                    <a:pt x="1371599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371599" y="914400"/>
                  </a:lnTo>
                  <a:lnTo>
                    <a:pt x="1399959" y="908613"/>
                  </a:lnTo>
                  <a:lnTo>
                    <a:pt x="1423224" y="892872"/>
                  </a:lnTo>
                  <a:lnTo>
                    <a:pt x="1438964" y="869607"/>
                  </a:lnTo>
                  <a:lnTo>
                    <a:pt x="1444752" y="841248"/>
                  </a:lnTo>
                  <a:lnTo>
                    <a:pt x="1444751" y="73151"/>
                  </a:lnTo>
                  <a:lnTo>
                    <a:pt x="1438965" y="44792"/>
                  </a:lnTo>
                  <a:lnTo>
                    <a:pt x="1423224" y="21527"/>
                  </a:lnTo>
                  <a:lnTo>
                    <a:pt x="1399959" y="5786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549639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59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371599" y="0"/>
                  </a:lnTo>
                  <a:lnTo>
                    <a:pt x="1399959" y="5786"/>
                  </a:lnTo>
                  <a:lnTo>
                    <a:pt x="1423224" y="21526"/>
                  </a:lnTo>
                  <a:lnTo>
                    <a:pt x="1438964" y="44791"/>
                  </a:lnTo>
                  <a:lnTo>
                    <a:pt x="1444751" y="73150"/>
                  </a:lnTo>
                  <a:lnTo>
                    <a:pt x="1444752" y="841248"/>
                  </a:lnTo>
                  <a:lnTo>
                    <a:pt x="1438964" y="869607"/>
                  </a:lnTo>
                  <a:lnTo>
                    <a:pt x="1423224" y="892872"/>
                  </a:lnTo>
                  <a:lnTo>
                    <a:pt x="1399959" y="908613"/>
                  </a:lnTo>
                  <a:lnTo>
                    <a:pt x="1371599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074542" y="3086506"/>
            <a:ext cx="394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116058" y="2736850"/>
            <a:ext cx="1457960" cy="927100"/>
            <a:chOff x="10116058" y="2736850"/>
            <a:chExt cx="1457960" cy="927100"/>
          </a:xfrm>
        </p:grpSpPr>
        <p:sp>
          <p:nvSpPr>
            <p:cNvPr id="62" name="object 62"/>
            <p:cNvSpPr/>
            <p:nvPr/>
          </p:nvSpPr>
          <p:spPr>
            <a:xfrm>
              <a:off x="10122408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59" h="914400">
                  <a:moveTo>
                    <a:pt x="1371599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371599" y="914400"/>
                  </a:lnTo>
                  <a:lnTo>
                    <a:pt x="1399959" y="908613"/>
                  </a:lnTo>
                  <a:lnTo>
                    <a:pt x="1423224" y="892872"/>
                  </a:lnTo>
                  <a:lnTo>
                    <a:pt x="1438964" y="869607"/>
                  </a:lnTo>
                  <a:lnTo>
                    <a:pt x="1444752" y="841248"/>
                  </a:lnTo>
                  <a:lnTo>
                    <a:pt x="1444751" y="73151"/>
                  </a:lnTo>
                  <a:lnTo>
                    <a:pt x="1438965" y="44792"/>
                  </a:lnTo>
                  <a:lnTo>
                    <a:pt x="1423224" y="21527"/>
                  </a:lnTo>
                  <a:lnTo>
                    <a:pt x="1399959" y="5786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122408" y="2743200"/>
              <a:ext cx="1445260" cy="914400"/>
            </a:xfrm>
            <a:custGeom>
              <a:avLst/>
              <a:gdLst/>
              <a:ahLst/>
              <a:cxnLst/>
              <a:rect l="l" t="t" r="r" b="b"/>
              <a:pathLst>
                <a:path w="1445259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371599" y="0"/>
                  </a:lnTo>
                  <a:lnTo>
                    <a:pt x="1399959" y="5786"/>
                  </a:lnTo>
                  <a:lnTo>
                    <a:pt x="1423224" y="21526"/>
                  </a:lnTo>
                  <a:lnTo>
                    <a:pt x="1438964" y="44791"/>
                  </a:lnTo>
                  <a:lnTo>
                    <a:pt x="1444751" y="73150"/>
                  </a:lnTo>
                  <a:lnTo>
                    <a:pt x="1444752" y="841248"/>
                  </a:lnTo>
                  <a:lnTo>
                    <a:pt x="1438964" y="869607"/>
                  </a:lnTo>
                  <a:lnTo>
                    <a:pt x="1423224" y="892872"/>
                  </a:lnTo>
                  <a:lnTo>
                    <a:pt x="1399959" y="908613"/>
                  </a:lnTo>
                  <a:lnTo>
                    <a:pt x="1371599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0456666" y="2995066"/>
            <a:ext cx="775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87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Shipment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+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42290" y="4199890"/>
            <a:ext cx="2664460" cy="1018540"/>
            <a:chOff x="542290" y="4199890"/>
            <a:chExt cx="2664460" cy="1018540"/>
          </a:xfrm>
        </p:grpSpPr>
        <p:sp>
          <p:nvSpPr>
            <p:cNvPr id="66" name="object 66"/>
            <p:cNvSpPr/>
            <p:nvPr/>
          </p:nvSpPr>
          <p:spPr>
            <a:xfrm>
              <a:off x="548639" y="420624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60" h="1005839">
                  <a:moveTo>
                    <a:pt x="257860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8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932684"/>
                  </a:lnTo>
                  <a:lnTo>
                    <a:pt x="5786" y="961045"/>
                  </a:lnTo>
                  <a:lnTo>
                    <a:pt x="21528" y="984311"/>
                  </a:lnTo>
                  <a:lnTo>
                    <a:pt x="44793" y="1000053"/>
                  </a:lnTo>
                  <a:lnTo>
                    <a:pt x="73154" y="1005839"/>
                  </a:lnTo>
                  <a:lnTo>
                    <a:pt x="2578605" y="1005839"/>
                  </a:lnTo>
                  <a:lnTo>
                    <a:pt x="2606965" y="1000053"/>
                  </a:lnTo>
                  <a:lnTo>
                    <a:pt x="2630231" y="984311"/>
                  </a:lnTo>
                  <a:lnTo>
                    <a:pt x="2645973" y="961045"/>
                  </a:lnTo>
                  <a:lnTo>
                    <a:pt x="2651760" y="932684"/>
                  </a:lnTo>
                  <a:lnTo>
                    <a:pt x="2651760" y="73154"/>
                  </a:lnTo>
                  <a:lnTo>
                    <a:pt x="2645973" y="44793"/>
                  </a:lnTo>
                  <a:lnTo>
                    <a:pt x="2630231" y="21527"/>
                  </a:lnTo>
                  <a:lnTo>
                    <a:pt x="2606965" y="5786"/>
                  </a:lnTo>
                  <a:lnTo>
                    <a:pt x="2578605" y="0"/>
                  </a:lnTo>
                  <a:close/>
                </a:path>
              </a:pathLst>
            </a:custGeom>
            <a:solidFill>
              <a:srgbClr val="B02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8639" y="420624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60" h="1005839">
                  <a:moveTo>
                    <a:pt x="0" y="73154"/>
                  </a:moveTo>
                  <a:lnTo>
                    <a:pt x="5786" y="44793"/>
                  </a:lnTo>
                  <a:lnTo>
                    <a:pt x="21528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2578605" y="0"/>
                  </a:lnTo>
                  <a:lnTo>
                    <a:pt x="2606965" y="5786"/>
                  </a:lnTo>
                  <a:lnTo>
                    <a:pt x="2630231" y="21527"/>
                  </a:lnTo>
                  <a:lnTo>
                    <a:pt x="2645973" y="44793"/>
                  </a:lnTo>
                  <a:lnTo>
                    <a:pt x="2651760" y="73154"/>
                  </a:lnTo>
                  <a:lnTo>
                    <a:pt x="2651760" y="932684"/>
                  </a:lnTo>
                  <a:lnTo>
                    <a:pt x="2645973" y="961045"/>
                  </a:lnTo>
                  <a:lnTo>
                    <a:pt x="2630231" y="984311"/>
                  </a:lnTo>
                  <a:lnTo>
                    <a:pt x="2606965" y="1000053"/>
                  </a:lnTo>
                  <a:lnTo>
                    <a:pt x="2578605" y="1005839"/>
                  </a:lnTo>
                  <a:lnTo>
                    <a:pt x="73154" y="1005839"/>
                  </a:lnTo>
                  <a:lnTo>
                    <a:pt x="44793" y="1000053"/>
                  </a:lnTo>
                  <a:lnTo>
                    <a:pt x="21528" y="984311"/>
                  </a:lnTo>
                  <a:lnTo>
                    <a:pt x="5786" y="961045"/>
                  </a:lnTo>
                  <a:lnTo>
                    <a:pt x="0" y="932684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B02A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943150" y="4486960"/>
            <a:ext cx="1860550" cy="42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Redis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Cluster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stock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gate,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idempotency,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TTL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358642" y="4199890"/>
            <a:ext cx="2664460" cy="1018540"/>
            <a:chOff x="3358642" y="4199890"/>
            <a:chExt cx="2664460" cy="1018540"/>
          </a:xfrm>
        </p:grpSpPr>
        <p:sp>
          <p:nvSpPr>
            <p:cNvPr id="70" name="object 70"/>
            <p:cNvSpPr/>
            <p:nvPr/>
          </p:nvSpPr>
          <p:spPr>
            <a:xfrm>
              <a:off x="3364992" y="420624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60" h="1005839">
                  <a:moveTo>
                    <a:pt x="257860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8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932684"/>
                  </a:lnTo>
                  <a:lnTo>
                    <a:pt x="5786" y="961045"/>
                  </a:lnTo>
                  <a:lnTo>
                    <a:pt x="21528" y="984311"/>
                  </a:lnTo>
                  <a:lnTo>
                    <a:pt x="44793" y="1000053"/>
                  </a:lnTo>
                  <a:lnTo>
                    <a:pt x="73154" y="1005839"/>
                  </a:lnTo>
                  <a:lnTo>
                    <a:pt x="2578605" y="1005839"/>
                  </a:lnTo>
                  <a:lnTo>
                    <a:pt x="2606965" y="1000053"/>
                  </a:lnTo>
                  <a:lnTo>
                    <a:pt x="2630231" y="984311"/>
                  </a:lnTo>
                  <a:lnTo>
                    <a:pt x="2645973" y="961045"/>
                  </a:lnTo>
                  <a:lnTo>
                    <a:pt x="2651760" y="932684"/>
                  </a:lnTo>
                  <a:lnTo>
                    <a:pt x="2651760" y="73154"/>
                  </a:lnTo>
                  <a:lnTo>
                    <a:pt x="2645973" y="44793"/>
                  </a:lnTo>
                  <a:lnTo>
                    <a:pt x="2630231" y="21527"/>
                  </a:lnTo>
                  <a:lnTo>
                    <a:pt x="2606965" y="5786"/>
                  </a:lnTo>
                  <a:lnTo>
                    <a:pt x="2578605" y="0"/>
                  </a:lnTo>
                  <a:close/>
                </a:path>
              </a:pathLst>
            </a:custGeom>
            <a:solidFill>
              <a:srgbClr val="0D8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364992" y="420624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60" h="1005839">
                  <a:moveTo>
                    <a:pt x="0" y="73154"/>
                  </a:moveTo>
                  <a:lnTo>
                    <a:pt x="5786" y="44793"/>
                  </a:lnTo>
                  <a:lnTo>
                    <a:pt x="21528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2578605" y="0"/>
                  </a:lnTo>
                  <a:lnTo>
                    <a:pt x="2606965" y="5786"/>
                  </a:lnTo>
                  <a:lnTo>
                    <a:pt x="2630231" y="21527"/>
                  </a:lnTo>
                  <a:lnTo>
                    <a:pt x="2645973" y="44793"/>
                  </a:lnTo>
                  <a:lnTo>
                    <a:pt x="2651760" y="73154"/>
                  </a:lnTo>
                  <a:lnTo>
                    <a:pt x="2651760" y="932684"/>
                  </a:lnTo>
                  <a:lnTo>
                    <a:pt x="2645973" y="961045"/>
                  </a:lnTo>
                  <a:lnTo>
                    <a:pt x="2630231" y="984311"/>
                  </a:lnTo>
                  <a:lnTo>
                    <a:pt x="2606965" y="1000053"/>
                  </a:lnTo>
                  <a:lnTo>
                    <a:pt x="2578605" y="1005839"/>
                  </a:lnTo>
                  <a:lnTo>
                    <a:pt x="73154" y="1005839"/>
                  </a:lnTo>
                  <a:lnTo>
                    <a:pt x="44793" y="1000053"/>
                  </a:lnTo>
                  <a:lnTo>
                    <a:pt x="21528" y="984311"/>
                  </a:lnTo>
                  <a:lnTo>
                    <a:pt x="5786" y="961045"/>
                  </a:lnTo>
                  <a:lnTo>
                    <a:pt x="0" y="932684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0D8E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623367" y="4395520"/>
            <a:ext cx="2132965" cy="60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PostgreSQL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sync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replica;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inventory,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reservations,</a:t>
            </a:r>
            <a:r>
              <a:rPr sz="12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orders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174994" y="4199890"/>
            <a:ext cx="2664460" cy="1018540"/>
            <a:chOff x="6174994" y="4199890"/>
            <a:chExt cx="2664460" cy="1018540"/>
          </a:xfrm>
        </p:grpSpPr>
        <p:sp>
          <p:nvSpPr>
            <p:cNvPr id="74" name="object 74"/>
            <p:cNvSpPr/>
            <p:nvPr/>
          </p:nvSpPr>
          <p:spPr>
            <a:xfrm>
              <a:off x="6181343" y="420624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59" h="1005839">
                  <a:moveTo>
                    <a:pt x="257860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8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932684"/>
                  </a:lnTo>
                  <a:lnTo>
                    <a:pt x="5786" y="961045"/>
                  </a:lnTo>
                  <a:lnTo>
                    <a:pt x="21528" y="984311"/>
                  </a:lnTo>
                  <a:lnTo>
                    <a:pt x="44793" y="1000053"/>
                  </a:lnTo>
                  <a:lnTo>
                    <a:pt x="73154" y="1005839"/>
                  </a:lnTo>
                  <a:lnTo>
                    <a:pt x="2578605" y="1005839"/>
                  </a:lnTo>
                  <a:lnTo>
                    <a:pt x="2606965" y="1000053"/>
                  </a:lnTo>
                  <a:lnTo>
                    <a:pt x="2630231" y="984311"/>
                  </a:lnTo>
                  <a:lnTo>
                    <a:pt x="2645973" y="961045"/>
                  </a:lnTo>
                  <a:lnTo>
                    <a:pt x="2651760" y="932684"/>
                  </a:lnTo>
                  <a:lnTo>
                    <a:pt x="2651760" y="73154"/>
                  </a:lnTo>
                  <a:lnTo>
                    <a:pt x="2645973" y="44793"/>
                  </a:lnTo>
                  <a:lnTo>
                    <a:pt x="2630231" y="21527"/>
                  </a:lnTo>
                  <a:lnTo>
                    <a:pt x="2606965" y="5786"/>
                  </a:lnTo>
                  <a:lnTo>
                    <a:pt x="2578605" y="0"/>
                  </a:lnTo>
                  <a:close/>
                </a:path>
              </a:pathLst>
            </a:custGeom>
            <a:solidFill>
              <a:srgbClr val="C9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181343" y="420624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59" h="1005839">
                  <a:moveTo>
                    <a:pt x="0" y="73154"/>
                  </a:moveTo>
                  <a:lnTo>
                    <a:pt x="5786" y="44793"/>
                  </a:lnTo>
                  <a:lnTo>
                    <a:pt x="21528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2578605" y="0"/>
                  </a:lnTo>
                  <a:lnTo>
                    <a:pt x="2606965" y="5786"/>
                  </a:lnTo>
                  <a:lnTo>
                    <a:pt x="2630231" y="21527"/>
                  </a:lnTo>
                  <a:lnTo>
                    <a:pt x="2645973" y="44793"/>
                  </a:lnTo>
                  <a:lnTo>
                    <a:pt x="2651760" y="73154"/>
                  </a:lnTo>
                  <a:lnTo>
                    <a:pt x="2651760" y="932684"/>
                  </a:lnTo>
                  <a:lnTo>
                    <a:pt x="2645973" y="961045"/>
                  </a:lnTo>
                  <a:lnTo>
                    <a:pt x="2630231" y="984311"/>
                  </a:lnTo>
                  <a:lnTo>
                    <a:pt x="2606965" y="1000053"/>
                  </a:lnTo>
                  <a:lnTo>
                    <a:pt x="2578605" y="1005839"/>
                  </a:lnTo>
                  <a:lnTo>
                    <a:pt x="73154" y="1005839"/>
                  </a:lnTo>
                  <a:lnTo>
                    <a:pt x="44793" y="1000053"/>
                  </a:lnTo>
                  <a:lnTo>
                    <a:pt x="21528" y="984311"/>
                  </a:lnTo>
                  <a:lnTo>
                    <a:pt x="5786" y="961045"/>
                  </a:lnTo>
                  <a:lnTo>
                    <a:pt x="0" y="932684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C98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483618" y="4486960"/>
            <a:ext cx="2045970" cy="42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Kafka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broker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async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events,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outbox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relay,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DLQ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8991345" y="4199890"/>
            <a:ext cx="2664460" cy="1018540"/>
            <a:chOff x="8991345" y="4199890"/>
            <a:chExt cx="2664460" cy="1018540"/>
          </a:xfrm>
        </p:grpSpPr>
        <p:sp>
          <p:nvSpPr>
            <p:cNvPr id="78" name="object 78"/>
            <p:cNvSpPr/>
            <p:nvPr/>
          </p:nvSpPr>
          <p:spPr>
            <a:xfrm>
              <a:off x="8997695" y="420624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59" h="1005839">
                  <a:moveTo>
                    <a:pt x="257860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8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932684"/>
                  </a:lnTo>
                  <a:lnTo>
                    <a:pt x="5786" y="961045"/>
                  </a:lnTo>
                  <a:lnTo>
                    <a:pt x="21528" y="984311"/>
                  </a:lnTo>
                  <a:lnTo>
                    <a:pt x="44793" y="1000053"/>
                  </a:lnTo>
                  <a:lnTo>
                    <a:pt x="73154" y="1005839"/>
                  </a:lnTo>
                  <a:lnTo>
                    <a:pt x="2578605" y="1005839"/>
                  </a:lnTo>
                  <a:lnTo>
                    <a:pt x="2606965" y="1000053"/>
                  </a:lnTo>
                  <a:lnTo>
                    <a:pt x="2630231" y="984311"/>
                  </a:lnTo>
                  <a:lnTo>
                    <a:pt x="2645973" y="961045"/>
                  </a:lnTo>
                  <a:lnTo>
                    <a:pt x="2651760" y="932684"/>
                  </a:lnTo>
                  <a:lnTo>
                    <a:pt x="2651760" y="73154"/>
                  </a:lnTo>
                  <a:lnTo>
                    <a:pt x="2645973" y="44793"/>
                  </a:lnTo>
                  <a:lnTo>
                    <a:pt x="2630231" y="21527"/>
                  </a:lnTo>
                  <a:lnTo>
                    <a:pt x="2606965" y="5786"/>
                  </a:lnTo>
                  <a:lnTo>
                    <a:pt x="2578605" y="0"/>
                  </a:lnTo>
                  <a:close/>
                </a:path>
              </a:pathLst>
            </a:custGeom>
            <a:solidFill>
              <a:srgbClr val="5A6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997695" y="4206240"/>
              <a:ext cx="2651760" cy="1005840"/>
            </a:xfrm>
            <a:custGeom>
              <a:avLst/>
              <a:gdLst/>
              <a:ahLst/>
              <a:cxnLst/>
              <a:rect l="l" t="t" r="r" b="b"/>
              <a:pathLst>
                <a:path w="2651759" h="1005839">
                  <a:moveTo>
                    <a:pt x="0" y="73154"/>
                  </a:moveTo>
                  <a:lnTo>
                    <a:pt x="5786" y="44793"/>
                  </a:lnTo>
                  <a:lnTo>
                    <a:pt x="21528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2578605" y="0"/>
                  </a:lnTo>
                  <a:lnTo>
                    <a:pt x="2606965" y="5786"/>
                  </a:lnTo>
                  <a:lnTo>
                    <a:pt x="2630231" y="21527"/>
                  </a:lnTo>
                  <a:lnTo>
                    <a:pt x="2645973" y="44793"/>
                  </a:lnTo>
                  <a:lnTo>
                    <a:pt x="2651760" y="73154"/>
                  </a:lnTo>
                  <a:lnTo>
                    <a:pt x="2651760" y="932684"/>
                  </a:lnTo>
                  <a:lnTo>
                    <a:pt x="2645973" y="961045"/>
                  </a:lnTo>
                  <a:lnTo>
                    <a:pt x="2630231" y="984311"/>
                  </a:lnTo>
                  <a:lnTo>
                    <a:pt x="2606965" y="1000053"/>
                  </a:lnTo>
                  <a:lnTo>
                    <a:pt x="2578605" y="1005839"/>
                  </a:lnTo>
                  <a:lnTo>
                    <a:pt x="73154" y="1005839"/>
                  </a:lnTo>
                  <a:lnTo>
                    <a:pt x="44793" y="1000053"/>
                  </a:lnTo>
                  <a:lnTo>
                    <a:pt x="21528" y="984311"/>
                  </a:lnTo>
                  <a:lnTo>
                    <a:pt x="5786" y="961045"/>
                  </a:lnTo>
                  <a:lnTo>
                    <a:pt x="0" y="932684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9504309" y="4486960"/>
            <a:ext cx="1637030" cy="42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Observability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metrics,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JSON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logs,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traces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35940" y="5366206"/>
            <a:ext cx="7049134" cy="5384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350" b="1" dirty="0">
                <a:solidFill>
                  <a:srgbClr val="E75019"/>
                </a:solidFill>
                <a:latin typeface="Calibri"/>
                <a:cs typeface="Calibri"/>
              </a:rPr>
              <a:t>External:</a:t>
            </a:r>
            <a:r>
              <a:rPr sz="13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payment</a:t>
            </a:r>
            <a:r>
              <a:rPr sz="13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gateway</a:t>
            </a:r>
            <a:r>
              <a:rPr sz="13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11826"/>
                </a:solidFill>
                <a:latin typeface="Calibri"/>
                <a:cs typeface="Calibri"/>
              </a:rPr>
              <a:t>(webhook</a:t>
            </a:r>
            <a:r>
              <a:rPr sz="13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3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status</a:t>
            </a:r>
            <a:r>
              <a:rPr sz="13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API),</a:t>
            </a:r>
            <a:r>
              <a:rPr sz="13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courier</a:t>
            </a:r>
            <a:r>
              <a:rPr sz="13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API,</a:t>
            </a:r>
            <a:r>
              <a:rPr sz="13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11826"/>
                </a:solidFill>
                <a:latin typeface="Calibri"/>
                <a:cs typeface="Calibri"/>
              </a:rPr>
              <a:t>SMS/email</a:t>
            </a:r>
            <a:r>
              <a:rPr sz="13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11826"/>
                </a:solidFill>
                <a:latin typeface="Calibri"/>
                <a:cs typeface="Calibri"/>
              </a:rPr>
              <a:t>provider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350" b="1" dirty="0">
                <a:solidFill>
                  <a:srgbClr val="E75019"/>
                </a:solidFill>
                <a:latin typeface="Calibri"/>
                <a:cs typeface="Calibri"/>
              </a:rPr>
              <a:t>Sync:</a:t>
            </a:r>
            <a:r>
              <a:rPr sz="1350" b="1" spc="-2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11826"/>
                </a:solidFill>
                <a:latin typeface="Calibri"/>
                <a:cs typeface="Calibri"/>
              </a:rPr>
              <a:t>reserve,</a:t>
            </a:r>
            <a:r>
              <a:rPr sz="13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11826"/>
                </a:solidFill>
                <a:latin typeface="Calibri"/>
                <a:cs typeface="Calibri"/>
              </a:rPr>
              <a:t>checkout,</a:t>
            </a:r>
            <a:r>
              <a:rPr sz="13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payment</a:t>
            </a:r>
            <a:r>
              <a:rPr sz="13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initiation.</a:t>
            </a:r>
            <a:r>
              <a:rPr sz="1350" spc="130" dirty="0">
                <a:solidFill>
                  <a:srgbClr val="111826"/>
                </a:solidFill>
                <a:latin typeface="Calibri"/>
                <a:cs typeface="Calibri"/>
              </a:rPr>
              <a:t>  </a:t>
            </a:r>
            <a:r>
              <a:rPr sz="1350" b="1" dirty="0">
                <a:solidFill>
                  <a:srgbClr val="E75019"/>
                </a:solidFill>
                <a:latin typeface="Calibri"/>
                <a:cs typeface="Calibri"/>
              </a:rPr>
              <a:t>Async</a:t>
            </a:r>
            <a:r>
              <a:rPr sz="1350" b="1" spc="-2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E75019"/>
                </a:solidFill>
                <a:latin typeface="Calibri"/>
                <a:cs typeface="Calibri"/>
              </a:rPr>
              <a:t>via</a:t>
            </a:r>
            <a:r>
              <a:rPr sz="1350" b="1" spc="-2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E75019"/>
                </a:solidFill>
                <a:latin typeface="Calibri"/>
                <a:cs typeface="Calibri"/>
              </a:rPr>
              <a:t>Kafka:</a:t>
            </a:r>
            <a:r>
              <a:rPr sz="1350" b="1" spc="-1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826"/>
                </a:solidFill>
                <a:latin typeface="Calibri"/>
                <a:cs typeface="Calibri"/>
              </a:rPr>
              <a:t>order</a:t>
            </a:r>
            <a:r>
              <a:rPr sz="13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11826"/>
                </a:solidFill>
                <a:latin typeface="Calibri"/>
                <a:cs typeface="Calibri"/>
              </a:rPr>
              <a:t>creation,</a:t>
            </a:r>
            <a:r>
              <a:rPr sz="13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11826"/>
                </a:solidFill>
                <a:latin typeface="Calibri"/>
                <a:cs typeface="Calibri"/>
              </a:rPr>
              <a:t>shipment,</a:t>
            </a:r>
            <a:r>
              <a:rPr sz="13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11826"/>
                </a:solidFill>
                <a:latin typeface="Calibri"/>
                <a:cs typeface="Calibri"/>
              </a:rPr>
              <a:t>notification.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10,000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requests,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100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winners: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where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each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is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stopped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90" y="1273810"/>
            <a:ext cx="11076940" cy="927100"/>
            <a:chOff x="542290" y="1273810"/>
            <a:chExt cx="11076940" cy="927100"/>
          </a:xfrm>
        </p:grpSpPr>
        <p:sp>
          <p:nvSpPr>
            <p:cNvPr id="4" name="object 4"/>
            <p:cNvSpPr/>
            <p:nvPr/>
          </p:nvSpPr>
          <p:spPr>
            <a:xfrm>
              <a:off x="548640" y="1280160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1099108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0991088" y="914400"/>
                  </a:lnTo>
                  <a:lnTo>
                    <a:pt x="11019448" y="908613"/>
                  </a:lnTo>
                  <a:lnTo>
                    <a:pt x="11042712" y="892872"/>
                  </a:lnTo>
                  <a:lnTo>
                    <a:pt x="11058453" y="869607"/>
                  </a:lnTo>
                  <a:lnTo>
                    <a:pt x="11064239" y="841248"/>
                  </a:lnTo>
                  <a:lnTo>
                    <a:pt x="11064239" y="73151"/>
                  </a:lnTo>
                  <a:lnTo>
                    <a:pt x="11058453" y="44792"/>
                  </a:lnTo>
                  <a:lnTo>
                    <a:pt x="11042712" y="21527"/>
                  </a:lnTo>
                  <a:lnTo>
                    <a:pt x="11019448" y="5786"/>
                  </a:lnTo>
                  <a:lnTo>
                    <a:pt x="10991088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40" y="1280160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0991088" y="0"/>
                  </a:lnTo>
                  <a:lnTo>
                    <a:pt x="11019448" y="5786"/>
                  </a:lnTo>
                  <a:lnTo>
                    <a:pt x="11042712" y="21526"/>
                  </a:lnTo>
                  <a:lnTo>
                    <a:pt x="11058453" y="44791"/>
                  </a:lnTo>
                  <a:lnTo>
                    <a:pt x="11064239" y="73150"/>
                  </a:lnTo>
                  <a:lnTo>
                    <a:pt x="11064239" y="841248"/>
                  </a:lnTo>
                  <a:lnTo>
                    <a:pt x="11058453" y="869607"/>
                  </a:lnTo>
                  <a:lnTo>
                    <a:pt x="11042712" y="892872"/>
                  </a:lnTo>
                  <a:lnTo>
                    <a:pt x="11019448" y="908613"/>
                  </a:lnTo>
                  <a:lnTo>
                    <a:pt x="10991088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1520" y="15087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82771" y="4679"/>
                  </a:lnTo>
                  <a:lnTo>
                    <a:pt x="139975" y="18083"/>
                  </a:lnTo>
                  <a:lnTo>
                    <a:pt x="101159" y="39264"/>
                  </a:lnTo>
                  <a:lnTo>
                    <a:pt x="67272" y="67272"/>
                  </a:lnTo>
                  <a:lnTo>
                    <a:pt x="39264" y="101159"/>
                  </a:lnTo>
                  <a:lnTo>
                    <a:pt x="18083" y="139975"/>
                  </a:lnTo>
                  <a:lnTo>
                    <a:pt x="4679" y="182772"/>
                  </a:lnTo>
                  <a:lnTo>
                    <a:pt x="0" y="228600"/>
                  </a:lnTo>
                  <a:lnTo>
                    <a:pt x="4679" y="274427"/>
                  </a:lnTo>
                  <a:lnTo>
                    <a:pt x="18083" y="317224"/>
                  </a:lnTo>
                  <a:lnTo>
                    <a:pt x="39264" y="356040"/>
                  </a:lnTo>
                  <a:lnTo>
                    <a:pt x="67272" y="389927"/>
                  </a:lnTo>
                  <a:lnTo>
                    <a:pt x="101159" y="417935"/>
                  </a:lnTo>
                  <a:lnTo>
                    <a:pt x="139975" y="439116"/>
                  </a:lnTo>
                  <a:lnTo>
                    <a:pt x="182771" y="452520"/>
                  </a:lnTo>
                  <a:lnTo>
                    <a:pt x="228599" y="457199"/>
                  </a:lnTo>
                  <a:lnTo>
                    <a:pt x="274427" y="452520"/>
                  </a:lnTo>
                  <a:lnTo>
                    <a:pt x="317224" y="439116"/>
                  </a:lnTo>
                  <a:lnTo>
                    <a:pt x="356040" y="417935"/>
                  </a:lnTo>
                  <a:lnTo>
                    <a:pt x="389927" y="389927"/>
                  </a:lnTo>
                  <a:lnTo>
                    <a:pt x="417935" y="356040"/>
                  </a:lnTo>
                  <a:lnTo>
                    <a:pt x="439116" y="317224"/>
                  </a:lnTo>
                  <a:lnTo>
                    <a:pt x="452520" y="274427"/>
                  </a:lnTo>
                  <a:lnTo>
                    <a:pt x="457199" y="228600"/>
                  </a:lnTo>
                  <a:lnTo>
                    <a:pt x="452520" y="182772"/>
                  </a:lnTo>
                  <a:lnTo>
                    <a:pt x="439116" y="139975"/>
                  </a:lnTo>
                  <a:lnTo>
                    <a:pt x="417935" y="101159"/>
                  </a:lnTo>
                  <a:lnTo>
                    <a:pt x="389927" y="67272"/>
                  </a:lnTo>
                  <a:lnTo>
                    <a:pt x="356040" y="39264"/>
                  </a:lnTo>
                  <a:lnTo>
                    <a:pt x="317224" y="18083"/>
                  </a:lnTo>
                  <a:lnTo>
                    <a:pt x="274427" y="467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3A66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520" y="15087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79" y="182772"/>
                  </a:lnTo>
                  <a:lnTo>
                    <a:pt x="18083" y="139975"/>
                  </a:lnTo>
                  <a:lnTo>
                    <a:pt x="39264" y="101159"/>
                  </a:lnTo>
                  <a:lnTo>
                    <a:pt x="67272" y="67272"/>
                  </a:lnTo>
                  <a:lnTo>
                    <a:pt x="101159" y="39264"/>
                  </a:lnTo>
                  <a:lnTo>
                    <a:pt x="139975" y="18083"/>
                  </a:lnTo>
                  <a:lnTo>
                    <a:pt x="182771" y="4679"/>
                  </a:lnTo>
                  <a:lnTo>
                    <a:pt x="228599" y="0"/>
                  </a:lnTo>
                  <a:lnTo>
                    <a:pt x="274427" y="4679"/>
                  </a:lnTo>
                  <a:lnTo>
                    <a:pt x="317224" y="18083"/>
                  </a:lnTo>
                  <a:lnTo>
                    <a:pt x="356040" y="39264"/>
                  </a:lnTo>
                  <a:lnTo>
                    <a:pt x="389927" y="67272"/>
                  </a:lnTo>
                  <a:lnTo>
                    <a:pt x="417935" y="101159"/>
                  </a:lnTo>
                  <a:lnTo>
                    <a:pt x="439116" y="139975"/>
                  </a:lnTo>
                  <a:lnTo>
                    <a:pt x="452520" y="182772"/>
                  </a:lnTo>
                  <a:lnTo>
                    <a:pt x="457199" y="228600"/>
                  </a:lnTo>
                  <a:lnTo>
                    <a:pt x="452520" y="274427"/>
                  </a:lnTo>
                  <a:lnTo>
                    <a:pt x="439116" y="317224"/>
                  </a:lnTo>
                  <a:lnTo>
                    <a:pt x="417935" y="356040"/>
                  </a:lnTo>
                  <a:lnTo>
                    <a:pt x="389927" y="389927"/>
                  </a:lnTo>
                  <a:lnTo>
                    <a:pt x="356040" y="417935"/>
                  </a:lnTo>
                  <a:lnTo>
                    <a:pt x="317224" y="439116"/>
                  </a:lnTo>
                  <a:lnTo>
                    <a:pt x="274427" y="452520"/>
                  </a:lnTo>
                  <a:lnTo>
                    <a:pt x="228599" y="457199"/>
                  </a:lnTo>
                  <a:lnTo>
                    <a:pt x="182771" y="452520"/>
                  </a:lnTo>
                  <a:lnTo>
                    <a:pt x="139975" y="439116"/>
                  </a:lnTo>
                  <a:lnTo>
                    <a:pt x="101159" y="417935"/>
                  </a:lnTo>
                  <a:lnTo>
                    <a:pt x="67272" y="389927"/>
                  </a:lnTo>
                  <a:lnTo>
                    <a:pt x="39264" y="356040"/>
                  </a:lnTo>
                  <a:lnTo>
                    <a:pt x="18083" y="317224"/>
                  </a:lnTo>
                  <a:lnTo>
                    <a:pt x="4679" y="274427"/>
                  </a:lnTo>
                  <a:lnTo>
                    <a:pt x="0" y="228600"/>
                  </a:lnTo>
                  <a:close/>
                </a:path>
              </a:pathLst>
            </a:custGeom>
            <a:ln w="12699">
              <a:solidFill>
                <a:srgbClr val="3A66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9324" y="1598167"/>
            <a:ext cx="1225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4619" y="1364182"/>
            <a:ext cx="4653280" cy="462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11826"/>
                </a:solidFill>
                <a:latin typeface="Calibri"/>
                <a:cs typeface="Calibri"/>
              </a:rPr>
              <a:t>CDN</a:t>
            </a:r>
            <a:r>
              <a:rPr sz="1600" b="1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600" b="1" spc="-25" dirty="0">
                <a:solidFill>
                  <a:srgbClr val="111826"/>
                </a:solidFill>
                <a:latin typeface="Calibri"/>
                <a:cs typeface="Calibri"/>
              </a:rPr>
              <a:t> WAF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Serves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static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pages;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bot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filter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per-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IP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limits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keep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abuse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off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the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origin.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23250" y="1502409"/>
            <a:ext cx="3213100" cy="469900"/>
            <a:chOff x="8223250" y="1502409"/>
            <a:chExt cx="3213100" cy="469900"/>
          </a:xfrm>
        </p:grpSpPr>
        <p:sp>
          <p:nvSpPr>
            <p:cNvPr id="11" name="object 11"/>
            <p:cNvSpPr/>
            <p:nvPr/>
          </p:nvSpPr>
          <p:spPr>
            <a:xfrm>
              <a:off x="8229599" y="1508759"/>
              <a:ext cx="3200400" cy="457200"/>
            </a:xfrm>
            <a:custGeom>
              <a:avLst/>
              <a:gdLst/>
              <a:ahLst/>
              <a:cxnLst/>
              <a:rect l="l" t="t" r="r" b="b"/>
              <a:pathLst>
                <a:path w="3200400" h="457200">
                  <a:moveTo>
                    <a:pt x="312724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384048"/>
                  </a:lnTo>
                  <a:lnTo>
                    <a:pt x="5786" y="412407"/>
                  </a:lnTo>
                  <a:lnTo>
                    <a:pt x="21527" y="435672"/>
                  </a:lnTo>
                  <a:lnTo>
                    <a:pt x="44792" y="451413"/>
                  </a:lnTo>
                  <a:lnTo>
                    <a:pt x="73152" y="457200"/>
                  </a:lnTo>
                  <a:lnTo>
                    <a:pt x="3127248" y="457200"/>
                  </a:lnTo>
                  <a:lnTo>
                    <a:pt x="3155607" y="451413"/>
                  </a:lnTo>
                  <a:lnTo>
                    <a:pt x="3178872" y="435672"/>
                  </a:lnTo>
                  <a:lnTo>
                    <a:pt x="3194613" y="412407"/>
                  </a:lnTo>
                  <a:lnTo>
                    <a:pt x="3200400" y="384048"/>
                  </a:lnTo>
                  <a:lnTo>
                    <a:pt x="3200400" y="73151"/>
                  </a:lnTo>
                  <a:lnTo>
                    <a:pt x="3194613" y="44792"/>
                  </a:lnTo>
                  <a:lnTo>
                    <a:pt x="3178872" y="21527"/>
                  </a:lnTo>
                  <a:lnTo>
                    <a:pt x="3155607" y="5786"/>
                  </a:lnTo>
                  <a:lnTo>
                    <a:pt x="3127248" y="0"/>
                  </a:lnTo>
                  <a:close/>
                </a:path>
              </a:pathLst>
            </a:custGeom>
            <a:solidFill>
              <a:srgbClr val="3A66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9599" y="1508759"/>
              <a:ext cx="3200400" cy="457200"/>
            </a:xfrm>
            <a:custGeom>
              <a:avLst/>
              <a:gdLst/>
              <a:ahLst/>
              <a:cxnLst/>
              <a:rect l="l" t="t" r="r" b="b"/>
              <a:pathLst>
                <a:path w="3200400" h="4572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3127248" y="0"/>
                  </a:lnTo>
                  <a:lnTo>
                    <a:pt x="3155607" y="5786"/>
                  </a:lnTo>
                  <a:lnTo>
                    <a:pt x="3178872" y="21526"/>
                  </a:lnTo>
                  <a:lnTo>
                    <a:pt x="3194613" y="44791"/>
                  </a:lnTo>
                  <a:lnTo>
                    <a:pt x="3200400" y="73150"/>
                  </a:lnTo>
                  <a:lnTo>
                    <a:pt x="3200400" y="384048"/>
                  </a:lnTo>
                  <a:lnTo>
                    <a:pt x="3194613" y="412407"/>
                  </a:lnTo>
                  <a:lnTo>
                    <a:pt x="3178872" y="435672"/>
                  </a:lnTo>
                  <a:lnTo>
                    <a:pt x="3155607" y="451413"/>
                  </a:lnTo>
                  <a:lnTo>
                    <a:pt x="3127248" y="457200"/>
                  </a:lnTo>
                  <a:lnTo>
                    <a:pt x="73152" y="457200"/>
                  </a:lnTo>
                  <a:lnTo>
                    <a:pt x="44792" y="451413"/>
                  </a:lnTo>
                  <a:lnTo>
                    <a:pt x="21527" y="435672"/>
                  </a:lnTo>
                  <a:lnTo>
                    <a:pt x="5786" y="412407"/>
                  </a:lnTo>
                  <a:lnTo>
                    <a:pt x="0" y="3840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3A66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595667" y="1619248"/>
            <a:ext cx="46863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 dirty="0">
                <a:solidFill>
                  <a:srgbClr val="FFFFFF"/>
                </a:solidFill>
                <a:latin typeface="Calibri"/>
                <a:cs typeface="Calibri"/>
              </a:rPr>
              <a:t>10,000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2290" y="2279650"/>
            <a:ext cx="11076940" cy="927100"/>
            <a:chOff x="542290" y="2279650"/>
            <a:chExt cx="11076940" cy="927100"/>
          </a:xfrm>
        </p:grpSpPr>
        <p:sp>
          <p:nvSpPr>
            <p:cNvPr id="15" name="object 15"/>
            <p:cNvSpPr/>
            <p:nvPr/>
          </p:nvSpPr>
          <p:spPr>
            <a:xfrm>
              <a:off x="548640" y="2286000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1099108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0991088" y="914400"/>
                  </a:lnTo>
                  <a:lnTo>
                    <a:pt x="11019448" y="908613"/>
                  </a:lnTo>
                  <a:lnTo>
                    <a:pt x="11042712" y="892872"/>
                  </a:lnTo>
                  <a:lnTo>
                    <a:pt x="11058453" y="869607"/>
                  </a:lnTo>
                  <a:lnTo>
                    <a:pt x="11064239" y="841248"/>
                  </a:lnTo>
                  <a:lnTo>
                    <a:pt x="11064239" y="73151"/>
                  </a:lnTo>
                  <a:lnTo>
                    <a:pt x="11058453" y="44792"/>
                  </a:lnTo>
                  <a:lnTo>
                    <a:pt x="11042712" y="21527"/>
                  </a:lnTo>
                  <a:lnTo>
                    <a:pt x="11019448" y="5786"/>
                  </a:lnTo>
                  <a:lnTo>
                    <a:pt x="10991088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640" y="2286000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0991088" y="0"/>
                  </a:lnTo>
                  <a:lnTo>
                    <a:pt x="11019448" y="5786"/>
                  </a:lnTo>
                  <a:lnTo>
                    <a:pt x="11042712" y="21526"/>
                  </a:lnTo>
                  <a:lnTo>
                    <a:pt x="11058453" y="44791"/>
                  </a:lnTo>
                  <a:lnTo>
                    <a:pt x="11064239" y="73150"/>
                  </a:lnTo>
                  <a:lnTo>
                    <a:pt x="11064239" y="841248"/>
                  </a:lnTo>
                  <a:lnTo>
                    <a:pt x="11058453" y="869607"/>
                  </a:lnTo>
                  <a:lnTo>
                    <a:pt x="11042712" y="892872"/>
                  </a:lnTo>
                  <a:lnTo>
                    <a:pt x="11019448" y="908613"/>
                  </a:lnTo>
                  <a:lnTo>
                    <a:pt x="10991088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1520" y="2514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82771" y="4679"/>
                  </a:lnTo>
                  <a:lnTo>
                    <a:pt x="139975" y="18083"/>
                  </a:lnTo>
                  <a:lnTo>
                    <a:pt x="101159" y="39264"/>
                  </a:lnTo>
                  <a:lnTo>
                    <a:pt x="67272" y="67272"/>
                  </a:lnTo>
                  <a:lnTo>
                    <a:pt x="39264" y="101159"/>
                  </a:lnTo>
                  <a:lnTo>
                    <a:pt x="18083" y="139975"/>
                  </a:lnTo>
                  <a:lnTo>
                    <a:pt x="4679" y="182772"/>
                  </a:lnTo>
                  <a:lnTo>
                    <a:pt x="0" y="228600"/>
                  </a:lnTo>
                  <a:lnTo>
                    <a:pt x="4679" y="274427"/>
                  </a:lnTo>
                  <a:lnTo>
                    <a:pt x="18083" y="317224"/>
                  </a:lnTo>
                  <a:lnTo>
                    <a:pt x="39264" y="356040"/>
                  </a:lnTo>
                  <a:lnTo>
                    <a:pt x="67272" y="389927"/>
                  </a:lnTo>
                  <a:lnTo>
                    <a:pt x="101159" y="417935"/>
                  </a:lnTo>
                  <a:lnTo>
                    <a:pt x="139975" y="439116"/>
                  </a:lnTo>
                  <a:lnTo>
                    <a:pt x="182771" y="452520"/>
                  </a:lnTo>
                  <a:lnTo>
                    <a:pt x="228599" y="457199"/>
                  </a:lnTo>
                  <a:lnTo>
                    <a:pt x="274427" y="452520"/>
                  </a:lnTo>
                  <a:lnTo>
                    <a:pt x="317224" y="439116"/>
                  </a:lnTo>
                  <a:lnTo>
                    <a:pt x="356040" y="417935"/>
                  </a:lnTo>
                  <a:lnTo>
                    <a:pt x="389927" y="389927"/>
                  </a:lnTo>
                  <a:lnTo>
                    <a:pt x="417935" y="356040"/>
                  </a:lnTo>
                  <a:lnTo>
                    <a:pt x="439116" y="317224"/>
                  </a:lnTo>
                  <a:lnTo>
                    <a:pt x="452520" y="274427"/>
                  </a:lnTo>
                  <a:lnTo>
                    <a:pt x="457199" y="228600"/>
                  </a:lnTo>
                  <a:lnTo>
                    <a:pt x="452520" y="182772"/>
                  </a:lnTo>
                  <a:lnTo>
                    <a:pt x="439116" y="139975"/>
                  </a:lnTo>
                  <a:lnTo>
                    <a:pt x="417935" y="101159"/>
                  </a:lnTo>
                  <a:lnTo>
                    <a:pt x="389927" y="67272"/>
                  </a:lnTo>
                  <a:lnTo>
                    <a:pt x="356040" y="39264"/>
                  </a:lnTo>
                  <a:lnTo>
                    <a:pt x="317224" y="18083"/>
                  </a:lnTo>
                  <a:lnTo>
                    <a:pt x="274427" y="467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3A66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1520" y="2514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79" y="182772"/>
                  </a:lnTo>
                  <a:lnTo>
                    <a:pt x="18083" y="139975"/>
                  </a:lnTo>
                  <a:lnTo>
                    <a:pt x="39264" y="101159"/>
                  </a:lnTo>
                  <a:lnTo>
                    <a:pt x="67272" y="67272"/>
                  </a:lnTo>
                  <a:lnTo>
                    <a:pt x="101159" y="39264"/>
                  </a:lnTo>
                  <a:lnTo>
                    <a:pt x="139975" y="18083"/>
                  </a:lnTo>
                  <a:lnTo>
                    <a:pt x="182771" y="4679"/>
                  </a:lnTo>
                  <a:lnTo>
                    <a:pt x="228599" y="0"/>
                  </a:lnTo>
                  <a:lnTo>
                    <a:pt x="274427" y="4679"/>
                  </a:lnTo>
                  <a:lnTo>
                    <a:pt x="317224" y="18083"/>
                  </a:lnTo>
                  <a:lnTo>
                    <a:pt x="356040" y="39264"/>
                  </a:lnTo>
                  <a:lnTo>
                    <a:pt x="389927" y="67272"/>
                  </a:lnTo>
                  <a:lnTo>
                    <a:pt x="417935" y="101159"/>
                  </a:lnTo>
                  <a:lnTo>
                    <a:pt x="439116" y="139975"/>
                  </a:lnTo>
                  <a:lnTo>
                    <a:pt x="452520" y="182772"/>
                  </a:lnTo>
                  <a:lnTo>
                    <a:pt x="457199" y="228600"/>
                  </a:lnTo>
                  <a:lnTo>
                    <a:pt x="452520" y="274427"/>
                  </a:lnTo>
                  <a:lnTo>
                    <a:pt x="439116" y="317224"/>
                  </a:lnTo>
                  <a:lnTo>
                    <a:pt x="417935" y="356040"/>
                  </a:lnTo>
                  <a:lnTo>
                    <a:pt x="389927" y="389927"/>
                  </a:lnTo>
                  <a:lnTo>
                    <a:pt x="356040" y="417935"/>
                  </a:lnTo>
                  <a:lnTo>
                    <a:pt x="317224" y="439116"/>
                  </a:lnTo>
                  <a:lnTo>
                    <a:pt x="274427" y="452520"/>
                  </a:lnTo>
                  <a:lnTo>
                    <a:pt x="228599" y="457199"/>
                  </a:lnTo>
                  <a:lnTo>
                    <a:pt x="182771" y="452520"/>
                  </a:lnTo>
                  <a:lnTo>
                    <a:pt x="139975" y="439116"/>
                  </a:lnTo>
                  <a:lnTo>
                    <a:pt x="101159" y="417935"/>
                  </a:lnTo>
                  <a:lnTo>
                    <a:pt x="67272" y="389927"/>
                  </a:lnTo>
                  <a:lnTo>
                    <a:pt x="39264" y="356040"/>
                  </a:lnTo>
                  <a:lnTo>
                    <a:pt x="18083" y="317224"/>
                  </a:lnTo>
                  <a:lnTo>
                    <a:pt x="4679" y="274427"/>
                  </a:lnTo>
                  <a:lnTo>
                    <a:pt x="0" y="228600"/>
                  </a:lnTo>
                  <a:close/>
                </a:path>
              </a:pathLst>
            </a:custGeom>
            <a:ln w="12699">
              <a:solidFill>
                <a:srgbClr val="3A66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9324" y="2604007"/>
            <a:ext cx="1225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4619" y="2370022"/>
            <a:ext cx="5961380" cy="462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11826"/>
                </a:solidFill>
                <a:latin typeface="Calibri"/>
                <a:cs typeface="Calibri"/>
              </a:rPr>
              <a:t>API</a:t>
            </a:r>
            <a:r>
              <a:rPr sz="1600" b="1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826"/>
                </a:solidFill>
                <a:latin typeface="Calibri"/>
                <a:cs typeface="Calibri"/>
              </a:rPr>
              <a:t>Gateway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JWT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auth,</a:t>
            </a:r>
            <a:r>
              <a:rPr sz="1250" spc="-1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per-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user</a:t>
            </a:r>
            <a:r>
              <a:rPr sz="1250" spc="-1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limit,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mandatory</a:t>
            </a:r>
            <a:r>
              <a:rPr sz="1250" spc="-1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Idempotency-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Key:</a:t>
            </a:r>
            <a:r>
              <a:rPr sz="1250" spc="-1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double-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clicks</a:t>
            </a:r>
            <a:r>
              <a:rPr sz="1250" spc="-1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return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same</a:t>
            </a:r>
            <a:r>
              <a:rPr sz="1250" spc="-1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result.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06130" y="2508249"/>
            <a:ext cx="2847340" cy="469900"/>
            <a:chOff x="8406130" y="2508249"/>
            <a:chExt cx="2847340" cy="469900"/>
          </a:xfrm>
        </p:grpSpPr>
        <p:sp>
          <p:nvSpPr>
            <p:cNvPr id="22" name="object 22"/>
            <p:cNvSpPr/>
            <p:nvPr/>
          </p:nvSpPr>
          <p:spPr>
            <a:xfrm>
              <a:off x="8412480" y="2514599"/>
              <a:ext cx="2834640" cy="457200"/>
            </a:xfrm>
            <a:custGeom>
              <a:avLst/>
              <a:gdLst/>
              <a:ahLst/>
              <a:cxnLst/>
              <a:rect l="l" t="t" r="r" b="b"/>
              <a:pathLst>
                <a:path w="2834640" h="457200">
                  <a:moveTo>
                    <a:pt x="276148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384048"/>
                  </a:lnTo>
                  <a:lnTo>
                    <a:pt x="5786" y="412407"/>
                  </a:lnTo>
                  <a:lnTo>
                    <a:pt x="21527" y="435672"/>
                  </a:lnTo>
                  <a:lnTo>
                    <a:pt x="44792" y="451413"/>
                  </a:lnTo>
                  <a:lnTo>
                    <a:pt x="73152" y="457200"/>
                  </a:lnTo>
                  <a:lnTo>
                    <a:pt x="2761488" y="457200"/>
                  </a:lnTo>
                  <a:lnTo>
                    <a:pt x="2789847" y="451413"/>
                  </a:lnTo>
                  <a:lnTo>
                    <a:pt x="2813112" y="435672"/>
                  </a:lnTo>
                  <a:lnTo>
                    <a:pt x="2828852" y="412407"/>
                  </a:lnTo>
                  <a:lnTo>
                    <a:pt x="2834639" y="384048"/>
                  </a:lnTo>
                  <a:lnTo>
                    <a:pt x="2834639" y="73151"/>
                  </a:lnTo>
                  <a:lnTo>
                    <a:pt x="2828853" y="44792"/>
                  </a:lnTo>
                  <a:lnTo>
                    <a:pt x="2813112" y="21527"/>
                  </a:lnTo>
                  <a:lnTo>
                    <a:pt x="2789847" y="5786"/>
                  </a:lnTo>
                  <a:lnTo>
                    <a:pt x="2761488" y="0"/>
                  </a:lnTo>
                  <a:close/>
                </a:path>
              </a:pathLst>
            </a:custGeom>
            <a:solidFill>
              <a:srgbClr val="3A66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12480" y="2514599"/>
              <a:ext cx="2834640" cy="457200"/>
            </a:xfrm>
            <a:custGeom>
              <a:avLst/>
              <a:gdLst/>
              <a:ahLst/>
              <a:cxnLst/>
              <a:rect l="l" t="t" r="r" b="b"/>
              <a:pathLst>
                <a:path w="2834640" h="4572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2761488" y="0"/>
                  </a:lnTo>
                  <a:lnTo>
                    <a:pt x="2789847" y="5786"/>
                  </a:lnTo>
                  <a:lnTo>
                    <a:pt x="2813112" y="21526"/>
                  </a:lnTo>
                  <a:lnTo>
                    <a:pt x="2828852" y="44791"/>
                  </a:lnTo>
                  <a:lnTo>
                    <a:pt x="2834639" y="73150"/>
                  </a:lnTo>
                  <a:lnTo>
                    <a:pt x="2834639" y="384048"/>
                  </a:lnTo>
                  <a:lnTo>
                    <a:pt x="2828852" y="412407"/>
                  </a:lnTo>
                  <a:lnTo>
                    <a:pt x="2813112" y="435672"/>
                  </a:lnTo>
                  <a:lnTo>
                    <a:pt x="2789847" y="451413"/>
                  </a:lnTo>
                  <a:lnTo>
                    <a:pt x="2761488" y="457200"/>
                  </a:lnTo>
                  <a:lnTo>
                    <a:pt x="73152" y="457200"/>
                  </a:lnTo>
                  <a:lnTo>
                    <a:pt x="44792" y="451413"/>
                  </a:lnTo>
                  <a:lnTo>
                    <a:pt x="21527" y="435672"/>
                  </a:lnTo>
                  <a:lnTo>
                    <a:pt x="5786" y="412407"/>
                  </a:lnTo>
                  <a:lnTo>
                    <a:pt x="0" y="3840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3A66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96366" y="2625088"/>
            <a:ext cx="467359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 dirty="0">
                <a:solidFill>
                  <a:srgbClr val="FFFFFF"/>
                </a:solidFill>
                <a:latin typeface="Calibri"/>
                <a:cs typeface="Calibri"/>
              </a:rPr>
              <a:t>~9,000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2290" y="3285490"/>
            <a:ext cx="11076940" cy="927100"/>
            <a:chOff x="542290" y="3285490"/>
            <a:chExt cx="11076940" cy="927100"/>
          </a:xfrm>
        </p:grpSpPr>
        <p:sp>
          <p:nvSpPr>
            <p:cNvPr id="26" name="object 26"/>
            <p:cNvSpPr/>
            <p:nvPr/>
          </p:nvSpPr>
          <p:spPr>
            <a:xfrm>
              <a:off x="548640" y="3291840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1099108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0991088" y="914400"/>
                  </a:lnTo>
                  <a:lnTo>
                    <a:pt x="11019448" y="908613"/>
                  </a:lnTo>
                  <a:lnTo>
                    <a:pt x="11042712" y="892872"/>
                  </a:lnTo>
                  <a:lnTo>
                    <a:pt x="11058453" y="869607"/>
                  </a:lnTo>
                  <a:lnTo>
                    <a:pt x="11064239" y="841248"/>
                  </a:lnTo>
                  <a:lnTo>
                    <a:pt x="11064239" y="73151"/>
                  </a:lnTo>
                  <a:lnTo>
                    <a:pt x="11058453" y="44792"/>
                  </a:lnTo>
                  <a:lnTo>
                    <a:pt x="11042712" y="21527"/>
                  </a:lnTo>
                  <a:lnTo>
                    <a:pt x="11019448" y="5786"/>
                  </a:lnTo>
                  <a:lnTo>
                    <a:pt x="10991088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8640" y="3291840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0991088" y="0"/>
                  </a:lnTo>
                  <a:lnTo>
                    <a:pt x="11019448" y="5786"/>
                  </a:lnTo>
                  <a:lnTo>
                    <a:pt x="11042712" y="21526"/>
                  </a:lnTo>
                  <a:lnTo>
                    <a:pt x="11058453" y="44791"/>
                  </a:lnTo>
                  <a:lnTo>
                    <a:pt x="11064239" y="73150"/>
                  </a:lnTo>
                  <a:lnTo>
                    <a:pt x="11064239" y="841248"/>
                  </a:lnTo>
                  <a:lnTo>
                    <a:pt x="11058453" y="869607"/>
                  </a:lnTo>
                  <a:lnTo>
                    <a:pt x="11042712" y="892872"/>
                  </a:lnTo>
                  <a:lnTo>
                    <a:pt x="11019448" y="908613"/>
                  </a:lnTo>
                  <a:lnTo>
                    <a:pt x="10991088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1520" y="352044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82771" y="4679"/>
                  </a:lnTo>
                  <a:lnTo>
                    <a:pt x="139975" y="18083"/>
                  </a:lnTo>
                  <a:lnTo>
                    <a:pt x="101159" y="39264"/>
                  </a:lnTo>
                  <a:lnTo>
                    <a:pt x="67272" y="67272"/>
                  </a:lnTo>
                  <a:lnTo>
                    <a:pt x="39264" y="101159"/>
                  </a:lnTo>
                  <a:lnTo>
                    <a:pt x="18083" y="139975"/>
                  </a:lnTo>
                  <a:lnTo>
                    <a:pt x="4679" y="182772"/>
                  </a:lnTo>
                  <a:lnTo>
                    <a:pt x="0" y="228600"/>
                  </a:lnTo>
                  <a:lnTo>
                    <a:pt x="4679" y="274427"/>
                  </a:lnTo>
                  <a:lnTo>
                    <a:pt x="18083" y="317224"/>
                  </a:lnTo>
                  <a:lnTo>
                    <a:pt x="39264" y="356040"/>
                  </a:lnTo>
                  <a:lnTo>
                    <a:pt x="67272" y="389927"/>
                  </a:lnTo>
                  <a:lnTo>
                    <a:pt x="101159" y="417935"/>
                  </a:lnTo>
                  <a:lnTo>
                    <a:pt x="139975" y="439116"/>
                  </a:lnTo>
                  <a:lnTo>
                    <a:pt x="182771" y="452520"/>
                  </a:lnTo>
                  <a:lnTo>
                    <a:pt x="228599" y="457199"/>
                  </a:lnTo>
                  <a:lnTo>
                    <a:pt x="274427" y="452520"/>
                  </a:lnTo>
                  <a:lnTo>
                    <a:pt x="317224" y="439116"/>
                  </a:lnTo>
                  <a:lnTo>
                    <a:pt x="356040" y="417935"/>
                  </a:lnTo>
                  <a:lnTo>
                    <a:pt x="389927" y="389927"/>
                  </a:lnTo>
                  <a:lnTo>
                    <a:pt x="417935" y="356040"/>
                  </a:lnTo>
                  <a:lnTo>
                    <a:pt x="439116" y="317224"/>
                  </a:lnTo>
                  <a:lnTo>
                    <a:pt x="452520" y="274427"/>
                  </a:lnTo>
                  <a:lnTo>
                    <a:pt x="457199" y="228600"/>
                  </a:lnTo>
                  <a:lnTo>
                    <a:pt x="452520" y="182772"/>
                  </a:lnTo>
                  <a:lnTo>
                    <a:pt x="439116" y="139975"/>
                  </a:lnTo>
                  <a:lnTo>
                    <a:pt x="417935" y="101159"/>
                  </a:lnTo>
                  <a:lnTo>
                    <a:pt x="389927" y="67272"/>
                  </a:lnTo>
                  <a:lnTo>
                    <a:pt x="356040" y="39264"/>
                  </a:lnTo>
                  <a:lnTo>
                    <a:pt x="317224" y="18083"/>
                  </a:lnTo>
                  <a:lnTo>
                    <a:pt x="274427" y="467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C9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1520" y="352044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79" y="182772"/>
                  </a:lnTo>
                  <a:lnTo>
                    <a:pt x="18083" y="139975"/>
                  </a:lnTo>
                  <a:lnTo>
                    <a:pt x="39264" y="101159"/>
                  </a:lnTo>
                  <a:lnTo>
                    <a:pt x="67272" y="67272"/>
                  </a:lnTo>
                  <a:lnTo>
                    <a:pt x="101159" y="39264"/>
                  </a:lnTo>
                  <a:lnTo>
                    <a:pt x="139975" y="18083"/>
                  </a:lnTo>
                  <a:lnTo>
                    <a:pt x="182771" y="4679"/>
                  </a:lnTo>
                  <a:lnTo>
                    <a:pt x="228599" y="0"/>
                  </a:lnTo>
                  <a:lnTo>
                    <a:pt x="274427" y="4679"/>
                  </a:lnTo>
                  <a:lnTo>
                    <a:pt x="317224" y="18083"/>
                  </a:lnTo>
                  <a:lnTo>
                    <a:pt x="356040" y="39264"/>
                  </a:lnTo>
                  <a:lnTo>
                    <a:pt x="389927" y="67272"/>
                  </a:lnTo>
                  <a:lnTo>
                    <a:pt x="417935" y="101159"/>
                  </a:lnTo>
                  <a:lnTo>
                    <a:pt x="439116" y="139975"/>
                  </a:lnTo>
                  <a:lnTo>
                    <a:pt x="452520" y="182772"/>
                  </a:lnTo>
                  <a:lnTo>
                    <a:pt x="457199" y="228600"/>
                  </a:lnTo>
                  <a:lnTo>
                    <a:pt x="452520" y="274427"/>
                  </a:lnTo>
                  <a:lnTo>
                    <a:pt x="439116" y="317224"/>
                  </a:lnTo>
                  <a:lnTo>
                    <a:pt x="417935" y="356040"/>
                  </a:lnTo>
                  <a:lnTo>
                    <a:pt x="389927" y="389927"/>
                  </a:lnTo>
                  <a:lnTo>
                    <a:pt x="356040" y="417935"/>
                  </a:lnTo>
                  <a:lnTo>
                    <a:pt x="317224" y="439116"/>
                  </a:lnTo>
                  <a:lnTo>
                    <a:pt x="274427" y="452520"/>
                  </a:lnTo>
                  <a:lnTo>
                    <a:pt x="228599" y="457199"/>
                  </a:lnTo>
                  <a:lnTo>
                    <a:pt x="182771" y="452520"/>
                  </a:lnTo>
                  <a:lnTo>
                    <a:pt x="139975" y="439116"/>
                  </a:lnTo>
                  <a:lnTo>
                    <a:pt x="101159" y="417935"/>
                  </a:lnTo>
                  <a:lnTo>
                    <a:pt x="67272" y="389927"/>
                  </a:lnTo>
                  <a:lnTo>
                    <a:pt x="39264" y="356040"/>
                  </a:lnTo>
                  <a:lnTo>
                    <a:pt x="18083" y="317224"/>
                  </a:lnTo>
                  <a:lnTo>
                    <a:pt x="4679" y="274427"/>
                  </a:lnTo>
                  <a:lnTo>
                    <a:pt x="0" y="228600"/>
                  </a:lnTo>
                  <a:close/>
                </a:path>
              </a:pathLst>
            </a:custGeom>
            <a:ln w="12699">
              <a:solidFill>
                <a:srgbClr val="C98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99324" y="3609847"/>
            <a:ext cx="1225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04619" y="3375862"/>
            <a:ext cx="6510020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11826"/>
                </a:solidFill>
                <a:latin typeface="Calibri"/>
                <a:cs typeface="Calibri"/>
              </a:rPr>
              <a:t>Waiting</a:t>
            </a:r>
            <a:r>
              <a:rPr sz="1600" b="1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111826"/>
                </a:solidFill>
                <a:latin typeface="Calibri"/>
                <a:cs typeface="Calibri"/>
              </a:rPr>
              <a:t>room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Queue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token;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users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admitted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in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paced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waves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sized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to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downstream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capacity.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Contention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is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controlled here.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726170" y="3514090"/>
            <a:ext cx="2207260" cy="469900"/>
            <a:chOff x="8726170" y="3514090"/>
            <a:chExt cx="2207260" cy="469900"/>
          </a:xfrm>
        </p:grpSpPr>
        <p:sp>
          <p:nvSpPr>
            <p:cNvPr id="33" name="object 33"/>
            <p:cNvSpPr/>
            <p:nvPr/>
          </p:nvSpPr>
          <p:spPr>
            <a:xfrm>
              <a:off x="8732520" y="3520440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59" h="457200">
                  <a:moveTo>
                    <a:pt x="212140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384048"/>
                  </a:lnTo>
                  <a:lnTo>
                    <a:pt x="5786" y="412407"/>
                  </a:lnTo>
                  <a:lnTo>
                    <a:pt x="21527" y="435672"/>
                  </a:lnTo>
                  <a:lnTo>
                    <a:pt x="44792" y="451413"/>
                  </a:lnTo>
                  <a:lnTo>
                    <a:pt x="73152" y="457200"/>
                  </a:lnTo>
                  <a:lnTo>
                    <a:pt x="2121408" y="457200"/>
                  </a:lnTo>
                  <a:lnTo>
                    <a:pt x="2149767" y="451413"/>
                  </a:lnTo>
                  <a:lnTo>
                    <a:pt x="2173032" y="435672"/>
                  </a:lnTo>
                  <a:lnTo>
                    <a:pt x="2188773" y="412407"/>
                  </a:lnTo>
                  <a:lnTo>
                    <a:pt x="2194560" y="384048"/>
                  </a:lnTo>
                  <a:lnTo>
                    <a:pt x="2194559" y="73151"/>
                  </a:lnTo>
                  <a:lnTo>
                    <a:pt x="2188773" y="44792"/>
                  </a:lnTo>
                  <a:lnTo>
                    <a:pt x="2173032" y="21527"/>
                  </a:lnTo>
                  <a:lnTo>
                    <a:pt x="2149767" y="5786"/>
                  </a:lnTo>
                  <a:lnTo>
                    <a:pt x="2121408" y="0"/>
                  </a:lnTo>
                  <a:close/>
                </a:path>
              </a:pathLst>
            </a:custGeom>
            <a:solidFill>
              <a:srgbClr val="C9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32520" y="3520440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59" h="4572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2121408" y="0"/>
                  </a:lnTo>
                  <a:lnTo>
                    <a:pt x="2149767" y="5786"/>
                  </a:lnTo>
                  <a:lnTo>
                    <a:pt x="2173032" y="21526"/>
                  </a:lnTo>
                  <a:lnTo>
                    <a:pt x="2188773" y="44791"/>
                  </a:lnTo>
                  <a:lnTo>
                    <a:pt x="2194559" y="73150"/>
                  </a:lnTo>
                  <a:lnTo>
                    <a:pt x="2194560" y="384048"/>
                  </a:lnTo>
                  <a:lnTo>
                    <a:pt x="2188773" y="412407"/>
                  </a:lnTo>
                  <a:lnTo>
                    <a:pt x="2173032" y="435672"/>
                  </a:lnTo>
                  <a:lnTo>
                    <a:pt x="2149767" y="451413"/>
                  </a:lnTo>
                  <a:lnTo>
                    <a:pt x="2121408" y="457200"/>
                  </a:lnTo>
                  <a:lnTo>
                    <a:pt x="73152" y="457200"/>
                  </a:lnTo>
                  <a:lnTo>
                    <a:pt x="44792" y="451413"/>
                  </a:lnTo>
                  <a:lnTo>
                    <a:pt x="21527" y="435672"/>
                  </a:lnTo>
                  <a:lnTo>
                    <a:pt x="5786" y="412407"/>
                  </a:lnTo>
                  <a:lnTo>
                    <a:pt x="0" y="3840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C98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394288" y="3630928"/>
            <a:ext cx="87058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FFFFFF"/>
                </a:solidFill>
                <a:latin typeface="Calibri"/>
                <a:cs typeface="Calibri"/>
              </a:rPr>
              <a:t>paced</a:t>
            </a:r>
            <a:r>
              <a:rPr sz="125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Calibri"/>
                <a:cs typeface="Calibri"/>
              </a:rPr>
              <a:t>waves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2290" y="4291329"/>
            <a:ext cx="11076940" cy="927100"/>
            <a:chOff x="542290" y="4291329"/>
            <a:chExt cx="11076940" cy="927100"/>
          </a:xfrm>
        </p:grpSpPr>
        <p:sp>
          <p:nvSpPr>
            <p:cNvPr id="37" name="object 37"/>
            <p:cNvSpPr/>
            <p:nvPr/>
          </p:nvSpPr>
          <p:spPr>
            <a:xfrm>
              <a:off x="548640" y="4297679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1099108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0991088" y="914400"/>
                  </a:lnTo>
                  <a:lnTo>
                    <a:pt x="11019448" y="908613"/>
                  </a:lnTo>
                  <a:lnTo>
                    <a:pt x="11042712" y="892872"/>
                  </a:lnTo>
                  <a:lnTo>
                    <a:pt x="11058453" y="869607"/>
                  </a:lnTo>
                  <a:lnTo>
                    <a:pt x="11064239" y="841248"/>
                  </a:lnTo>
                  <a:lnTo>
                    <a:pt x="11064239" y="73151"/>
                  </a:lnTo>
                  <a:lnTo>
                    <a:pt x="11058453" y="44792"/>
                  </a:lnTo>
                  <a:lnTo>
                    <a:pt x="11042712" y="21527"/>
                  </a:lnTo>
                  <a:lnTo>
                    <a:pt x="11019448" y="5786"/>
                  </a:lnTo>
                  <a:lnTo>
                    <a:pt x="10991088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8640" y="4297679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0991088" y="0"/>
                  </a:lnTo>
                  <a:lnTo>
                    <a:pt x="11019448" y="5786"/>
                  </a:lnTo>
                  <a:lnTo>
                    <a:pt x="11042712" y="21526"/>
                  </a:lnTo>
                  <a:lnTo>
                    <a:pt x="11058453" y="44791"/>
                  </a:lnTo>
                  <a:lnTo>
                    <a:pt x="11064239" y="73150"/>
                  </a:lnTo>
                  <a:lnTo>
                    <a:pt x="11064239" y="841248"/>
                  </a:lnTo>
                  <a:lnTo>
                    <a:pt x="11058453" y="869607"/>
                  </a:lnTo>
                  <a:lnTo>
                    <a:pt x="11042712" y="892872"/>
                  </a:lnTo>
                  <a:lnTo>
                    <a:pt x="11019448" y="908613"/>
                  </a:lnTo>
                  <a:lnTo>
                    <a:pt x="10991088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1520" y="45262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82771" y="4679"/>
                  </a:lnTo>
                  <a:lnTo>
                    <a:pt x="139975" y="18083"/>
                  </a:lnTo>
                  <a:lnTo>
                    <a:pt x="101159" y="39264"/>
                  </a:lnTo>
                  <a:lnTo>
                    <a:pt x="67272" y="67272"/>
                  </a:lnTo>
                  <a:lnTo>
                    <a:pt x="39264" y="101159"/>
                  </a:lnTo>
                  <a:lnTo>
                    <a:pt x="18083" y="139975"/>
                  </a:lnTo>
                  <a:lnTo>
                    <a:pt x="4679" y="182772"/>
                  </a:lnTo>
                  <a:lnTo>
                    <a:pt x="0" y="228600"/>
                  </a:lnTo>
                  <a:lnTo>
                    <a:pt x="4679" y="274427"/>
                  </a:lnTo>
                  <a:lnTo>
                    <a:pt x="18083" y="317224"/>
                  </a:lnTo>
                  <a:lnTo>
                    <a:pt x="39264" y="356040"/>
                  </a:lnTo>
                  <a:lnTo>
                    <a:pt x="67272" y="389927"/>
                  </a:lnTo>
                  <a:lnTo>
                    <a:pt x="101159" y="417935"/>
                  </a:lnTo>
                  <a:lnTo>
                    <a:pt x="139975" y="439116"/>
                  </a:lnTo>
                  <a:lnTo>
                    <a:pt x="182771" y="452520"/>
                  </a:lnTo>
                  <a:lnTo>
                    <a:pt x="228599" y="457199"/>
                  </a:lnTo>
                  <a:lnTo>
                    <a:pt x="274427" y="452520"/>
                  </a:lnTo>
                  <a:lnTo>
                    <a:pt x="317224" y="439116"/>
                  </a:lnTo>
                  <a:lnTo>
                    <a:pt x="356040" y="417935"/>
                  </a:lnTo>
                  <a:lnTo>
                    <a:pt x="389927" y="389927"/>
                  </a:lnTo>
                  <a:lnTo>
                    <a:pt x="417935" y="356040"/>
                  </a:lnTo>
                  <a:lnTo>
                    <a:pt x="439116" y="317224"/>
                  </a:lnTo>
                  <a:lnTo>
                    <a:pt x="452520" y="274427"/>
                  </a:lnTo>
                  <a:lnTo>
                    <a:pt x="457199" y="228600"/>
                  </a:lnTo>
                  <a:lnTo>
                    <a:pt x="452520" y="182772"/>
                  </a:lnTo>
                  <a:lnTo>
                    <a:pt x="439116" y="139975"/>
                  </a:lnTo>
                  <a:lnTo>
                    <a:pt x="417935" y="101159"/>
                  </a:lnTo>
                  <a:lnTo>
                    <a:pt x="389927" y="67272"/>
                  </a:lnTo>
                  <a:lnTo>
                    <a:pt x="356040" y="39264"/>
                  </a:lnTo>
                  <a:lnTo>
                    <a:pt x="317224" y="18083"/>
                  </a:lnTo>
                  <a:lnTo>
                    <a:pt x="274427" y="467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1520" y="45262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79" y="182772"/>
                  </a:lnTo>
                  <a:lnTo>
                    <a:pt x="18083" y="139975"/>
                  </a:lnTo>
                  <a:lnTo>
                    <a:pt x="39264" y="101159"/>
                  </a:lnTo>
                  <a:lnTo>
                    <a:pt x="67272" y="67272"/>
                  </a:lnTo>
                  <a:lnTo>
                    <a:pt x="101159" y="39264"/>
                  </a:lnTo>
                  <a:lnTo>
                    <a:pt x="139975" y="18083"/>
                  </a:lnTo>
                  <a:lnTo>
                    <a:pt x="182771" y="4679"/>
                  </a:lnTo>
                  <a:lnTo>
                    <a:pt x="228599" y="0"/>
                  </a:lnTo>
                  <a:lnTo>
                    <a:pt x="274427" y="4679"/>
                  </a:lnTo>
                  <a:lnTo>
                    <a:pt x="317224" y="18083"/>
                  </a:lnTo>
                  <a:lnTo>
                    <a:pt x="356040" y="39264"/>
                  </a:lnTo>
                  <a:lnTo>
                    <a:pt x="389927" y="67272"/>
                  </a:lnTo>
                  <a:lnTo>
                    <a:pt x="417935" y="101159"/>
                  </a:lnTo>
                  <a:lnTo>
                    <a:pt x="439116" y="139975"/>
                  </a:lnTo>
                  <a:lnTo>
                    <a:pt x="452520" y="182772"/>
                  </a:lnTo>
                  <a:lnTo>
                    <a:pt x="457199" y="228600"/>
                  </a:lnTo>
                  <a:lnTo>
                    <a:pt x="452520" y="274427"/>
                  </a:lnTo>
                  <a:lnTo>
                    <a:pt x="439116" y="317224"/>
                  </a:lnTo>
                  <a:lnTo>
                    <a:pt x="417935" y="356040"/>
                  </a:lnTo>
                  <a:lnTo>
                    <a:pt x="389927" y="389927"/>
                  </a:lnTo>
                  <a:lnTo>
                    <a:pt x="356040" y="417935"/>
                  </a:lnTo>
                  <a:lnTo>
                    <a:pt x="317224" y="439116"/>
                  </a:lnTo>
                  <a:lnTo>
                    <a:pt x="274427" y="452520"/>
                  </a:lnTo>
                  <a:lnTo>
                    <a:pt x="228599" y="457199"/>
                  </a:lnTo>
                  <a:lnTo>
                    <a:pt x="182771" y="452520"/>
                  </a:lnTo>
                  <a:lnTo>
                    <a:pt x="139975" y="439116"/>
                  </a:lnTo>
                  <a:lnTo>
                    <a:pt x="101159" y="417935"/>
                  </a:lnTo>
                  <a:lnTo>
                    <a:pt x="67272" y="389927"/>
                  </a:lnTo>
                  <a:lnTo>
                    <a:pt x="39264" y="356040"/>
                  </a:lnTo>
                  <a:lnTo>
                    <a:pt x="18083" y="317224"/>
                  </a:lnTo>
                  <a:lnTo>
                    <a:pt x="4679" y="274427"/>
                  </a:lnTo>
                  <a:lnTo>
                    <a:pt x="0" y="228600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99324" y="4615688"/>
            <a:ext cx="1225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04619" y="4381702"/>
            <a:ext cx="6248400" cy="462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11826"/>
                </a:solidFill>
                <a:latin typeface="Calibri"/>
                <a:cs typeface="Calibri"/>
              </a:rPr>
              <a:t>Redis</a:t>
            </a:r>
            <a:r>
              <a:rPr sz="1600" b="1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826"/>
                </a:solidFill>
                <a:latin typeface="Calibri"/>
                <a:cs typeface="Calibri"/>
              </a:rPr>
              <a:t>Lua</a:t>
            </a:r>
            <a:r>
              <a:rPr sz="1600" b="1" spc="-20" dirty="0">
                <a:solidFill>
                  <a:srgbClr val="111826"/>
                </a:solidFill>
                <a:latin typeface="Calibri"/>
                <a:cs typeface="Calibri"/>
              </a:rPr>
              <a:t> gate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Atomic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DECR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on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stock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+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SETNX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per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user: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first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100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win,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the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rest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get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409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SOLD_OUT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in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under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5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ms.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046209" y="4519930"/>
            <a:ext cx="1567180" cy="469900"/>
            <a:chOff x="9046209" y="4519930"/>
            <a:chExt cx="1567180" cy="469900"/>
          </a:xfrm>
        </p:grpSpPr>
        <p:sp>
          <p:nvSpPr>
            <p:cNvPr id="44" name="object 44"/>
            <p:cNvSpPr/>
            <p:nvPr/>
          </p:nvSpPr>
          <p:spPr>
            <a:xfrm>
              <a:off x="9052559" y="4526280"/>
              <a:ext cx="1554480" cy="457200"/>
            </a:xfrm>
            <a:custGeom>
              <a:avLst/>
              <a:gdLst/>
              <a:ahLst/>
              <a:cxnLst/>
              <a:rect l="l" t="t" r="r" b="b"/>
              <a:pathLst>
                <a:path w="1554479" h="457200">
                  <a:moveTo>
                    <a:pt x="1481327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384048"/>
                  </a:lnTo>
                  <a:lnTo>
                    <a:pt x="5786" y="412407"/>
                  </a:lnTo>
                  <a:lnTo>
                    <a:pt x="21527" y="435672"/>
                  </a:lnTo>
                  <a:lnTo>
                    <a:pt x="44792" y="451413"/>
                  </a:lnTo>
                  <a:lnTo>
                    <a:pt x="73152" y="457200"/>
                  </a:lnTo>
                  <a:lnTo>
                    <a:pt x="1481327" y="457200"/>
                  </a:lnTo>
                  <a:lnTo>
                    <a:pt x="1509687" y="451413"/>
                  </a:lnTo>
                  <a:lnTo>
                    <a:pt x="1532952" y="435672"/>
                  </a:lnTo>
                  <a:lnTo>
                    <a:pt x="1548692" y="412407"/>
                  </a:lnTo>
                  <a:lnTo>
                    <a:pt x="1554480" y="384048"/>
                  </a:lnTo>
                  <a:lnTo>
                    <a:pt x="1554479" y="73151"/>
                  </a:lnTo>
                  <a:lnTo>
                    <a:pt x="1548693" y="44792"/>
                  </a:lnTo>
                  <a:lnTo>
                    <a:pt x="1532952" y="21527"/>
                  </a:lnTo>
                  <a:lnTo>
                    <a:pt x="1509687" y="5786"/>
                  </a:lnTo>
                  <a:lnTo>
                    <a:pt x="1481327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052559" y="4526280"/>
              <a:ext cx="1554480" cy="457200"/>
            </a:xfrm>
            <a:custGeom>
              <a:avLst/>
              <a:gdLst/>
              <a:ahLst/>
              <a:cxnLst/>
              <a:rect l="l" t="t" r="r" b="b"/>
              <a:pathLst>
                <a:path w="1554479" h="4572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481327" y="0"/>
                  </a:lnTo>
                  <a:lnTo>
                    <a:pt x="1509687" y="5786"/>
                  </a:lnTo>
                  <a:lnTo>
                    <a:pt x="1532952" y="21526"/>
                  </a:lnTo>
                  <a:lnTo>
                    <a:pt x="1548692" y="44791"/>
                  </a:lnTo>
                  <a:lnTo>
                    <a:pt x="1554479" y="73150"/>
                  </a:lnTo>
                  <a:lnTo>
                    <a:pt x="1554480" y="384048"/>
                  </a:lnTo>
                  <a:lnTo>
                    <a:pt x="1548692" y="412407"/>
                  </a:lnTo>
                  <a:lnTo>
                    <a:pt x="1532952" y="435672"/>
                  </a:lnTo>
                  <a:lnTo>
                    <a:pt x="1509687" y="451413"/>
                  </a:lnTo>
                  <a:lnTo>
                    <a:pt x="1481327" y="457200"/>
                  </a:lnTo>
                  <a:lnTo>
                    <a:pt x="73152" y="457200"/>
                  </a:lnTo>
                  <a:lnTo>
                    <a:pt x="44792" y="451413"/>
                  </a:lnTo>
                  <a:lnTo>
                    <a:pt x="21527" y="435672"/>
                  </a:lnTo>
                  <a:lnTo>
                    <a:pt x="5786" y="412407"/>
                  </a:lnTo>
                  <a:lnTo>
                    <a:pt x="0" y="3840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533542" y="4636768"/>
            <a:ext cx="59309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r>
              <a:rPr sz="1250" b="1" spc="-20" dirty="0">
                <a:solidFill>
                  <a:srgbClr val="FFFFFF"/>
                </a:solidFill>
                <a:latin typeface="Calibri"/>
                <a:cs typeface="Calibri"/>
              </a:rPr>
              <a:t> pass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42290" y="5297170"/>
            <a:ext cx="11076940" cy="927100"/>
            <a:chOff x="542290" y="5297170"/>
            <a:chExt cx="11076940" cy="927100"/>
          </a:xfrm>
        </p:grpSpPr>
        <p:sp>
          <p:nvSpPr>
            <p:cNvPr id="48" name="object 48"/>
            <p:cNvSpPr/>
            <p:nvPr/>
          </p:nvSpPr>
          <p:spPr>
            <a:xfrm>
              <a:off x="548640" y="5303520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1099108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841248"/>
                  </a:lnTo>
                  <a:lnTo>
                    <a:pt x="5786" y="869607"/>
                  </a:lnTo>
                  <a:lnTo>
                    <a:pt x="21527" y="892872"/>
                  </a:lnTo>
                  <a:lnTo>
                    <a:pt x="44792" y="908613"/>
                  </a:lnTo>
                  <a:lnTo>
                    <a:pt x="73152" y="914400"/>
                  </a:lnTo>
                  <a:lnTo>
                    <a:pt x="10991088" y="914400"/>
                  </a:lnTo>
                  <a:lnTo>
                    <a:pt x="11019448" y="908613"/>
                  </a:lnTo>
                  <a:lnTo>
                    <a:pt x="11042712" y="892872"/>
                  </a:lnTo>
                  <a:lnTo>
                    <a:pt x="11058453" y="869607"/>
                  </a:lnTo>
                  <a:lnTo>
                    <a:pt x="11064239" y="841248"/>
                  </a:lnTo>
                  <a:lnTo>
                    <a:pt x="11064239" y="73151"/>
                  </a:lnTo>
                  <a:lnTo>
                    <a:pt x="11058453" y="44792"/>
                  </a:lnTo>
                  <a:lnTo>
                    <a:pt x="11042712" y="21527"/>
                  </a:lnTo>
                  <a:lnTo>
                    <a:pt x="11019448" y="5786"/>
                  </a:lnTo>
                  <a:lnTo>
                    <a:pt x="10991088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48640" y="5303520"/>
              <a:ext cx="11064240" cy="914400"/>
            </a:xfrm>
            <a:custGeom>
              <a:avLst/>
              <a:gdLst/>
              <a:ahLst/>
              <a:cxnLst/>
              <a:rect l="l" t="t" r="r" b="b"/>
              <a:pathLst>
                <a:path w="11064240" h="9144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0991088" y="0"/>
                  </a:lnTo>
                  <a:lnTo>
                    <a:pt x="11019448" y="5786"/>
                  </a:lnTo>
                  <a:lnTo>
                    <a:pt x="11042712" y="21526"/>
                  </a:lnTo>
                  <a:lnTo>
                    <a:pt x="11058453" y="44791"/>
                  </a:lnTo>
                  <a:lnTo>
                    <a:pt x="11064239" y="73150"/>
                  </a:lnTo>
                  <a:lnTo>
                    <a:pt x="11064239" y="841248"/>
                  </a:lnTo>
                  <a:lnTo>
                    <a:pt x="11058453" y="869607"/>
                  </a:lnTo>
                  <a:lnTo>
                    <a:pt x="11042712" y="892872"/>
                  </a:lnTo>
                  <a:lnTo>
                    <a:pt x="11019448" y="908613"/>
                  </a:lnTo>
                  <a:lnTo>
                    <a:pt x="10991088" y="914400"/>
                  </a:lnTo>
                  <a:lnTo>
                    <a:pt x="73152" y="914400"/>
                  </a:lnTo>
                  <a:lnTo>
                    <a:pt x="44792" y="908613"/>
                  </a:lnTo>
                  <a:lnTo>
                    <a:pt x="21527" y="892872"/>
                  </a:lnTo>
                  <a:lnTo>
                    <a:pt x="5786" y="869607"/>
                  </a:lnTo>
                  <a:lnTo>
                    <a:pt x="0" y="8412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1520" y="55321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82771" y="4679"/>
                  </a:lnTo>
                  <a:lnTo>
                    <a:pt x="139975" y="18083"/>
                  </a:lnTo>
                  <a:lnTo>
                    <a:pt x="101159" y="39264"/>
                  </a:lnTo>
                  <a:lnTo>
                    <a:pt x="67272" y="67272"/>
                  </a:lnTo>
                  <a:lnTo>
                    <a:pt x="39264" y="101159"/>
                  </a:lnTo>
                  <a:lnTo>
                    <a:pt x="18083" y="139975"/>
                  </a:lnTo>
                  <a:lnTo>
                    <a:pt x="4679" y="182772"/>
                  </a:lnTo>
                  <a:lnTo>
                    <a:pt x="0" y="228600"/>
                  </a:lnTo>
                  <a:lnTo>
                    <a:pt x="4679" y="274427"/>
                  </a:lnTo>
                  <a:lnTo>
                    <a:pt x="18083" y="317224"/>
                  </a:lnTo>
                  <a:lnTo>
                    <a:pt x="39264" y="356040"/>
                  </a:lnTo>
                  <a:lnTo>
                    <a:pt x="67272" y="389927"/>
                  </a:lnTo>
                  <a:lnTo>
                    <a:pt x="101159" y="417935"/>
                  </a:lnTo>
                  <a:lnTo>
                    <a:pt x="139975" y="439116"/>
                  </a:lnTo>
                  <a:lnTo>
                    <a:pt x="182771" y="452520"/>
                  </a:lnTo>
                  <a:lnTo>
                    <a:pt x="228599" y="457199"/>
                  </a:lnTo>
                  <a:lnTo>
                    <a:pt x="274427" y="452520"/>
                  </a:lnTo>
                  <a:lnTo>
                    <a:pt x="317224" y="439116"/>
                  </a:lnTo>
                  <a:lnTo>
                    <a:pt x="356040" y="417935"/>
                  </a:lnTo>
                  <a:lnTo>
                    <a:pt x="389927" y="389927"/>
                  </a:lnTo>
                  <a:lnTo>
                    <a:pt x="417935" y="356040"/>
                  </a:lnTo>
                  <a:lnTo>
                    <a:pt x="439116" y="317224"/>
                  </a:lnTo>
                  <a:lnTo>
                    <a:pt x="452520" y="274427"/>
                  </a:lnTo>
                  <a:lnTo>
                    <a:pt x="457199" y="228600"/>
                  </a:lnTo>
                  <a:lnTo>
                    <a:pt x="452520" y="182772"/>
                  </a:lnTo>
                  <a:lnTo>
                    <a:pt x="439116" y="139975"/>
                  </a:lnTo>
                  <a:lnTo>
                    <a:pt x="417935" y="101159"/>
                  </a:lnTo>
                  <a:lnTo>
                    <a:pt x="389927" y="67272"/>
                  </a:lnTo>
                  <a:lnTo>
                    <a:pt x="356040" y="39264"/>
                  </a:lnTo>
                  <a:lnTo>
                    <a:pt x="317224" y="18083"/>
                  </a:lnTo>
                  <a:lnTo>
                    <a:pt x="274427" y="467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0D8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31520" y="553211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79" y="182772"/>
                  </a:lnTo>
                  <a:lnTo>
                    <a:pt x="18083" y="139975"/>
                  </a:lnTo>
                  <a:lnTo>
                    <a:pt x="39264" y="101159"/>
                  </a:lnTo>
                  <a:lnTo>
                    <a:pt x="67272" y="67272"/>
                  </a:lnTo>
                  <a:lnTo>
                    <a:pt x="101159" y="39264"/>
                  </a:lnTo>
                  <a:lnTo>
                    <a:pt x="139975" y="18083"/>
                  </a:lnTo>
                  <a:lnTo>
                    <a:pt x="182771" y="4679"/>
                  </a:lnTo>
                  <a:lnTo>
                    <a:pt x="228599" y="0"/>
                  </a:lnTo>
                  <a:lnTo>
                    <a:pt x="274427" y="4679"/>
                  </a:lnTo>
                  <a:lnTo>
                    <a:pt x="317224" y="18083"/>
                  </a:lnTo>
                  <a:lnTo>
                    <a:pt x="356040" y="39264"/>
                  </a:lnTo>
                  <a:lnTo>
                    <a:pt x="389927" y="67272"/>
                  </a:lnTo>
                  <a:lnTo>
                    <a:pt x="417935" y="101159"/>
                  </a:lnTo>
                  <a:lnTo>
                    <a:pt x="439116" y="139975"/>
                  </a:lnTo>
                  <a:lnTo>
                    <a:pt x="452520" y="182772"/>
                  </a:lnTo>
                  <a:lnTo>
                    <a:pt x="457199" y="228600"/>
                  </a:lnTo>
                  <a:lnTo>
                    <a:pt x="452520" y="274427"/>
                  </a:lnTo>
                  <a:lnTo>
                    <a:pt x="439116" y="317224"/>
                  </a:lnTo>
                  <a:lnTo>
                    <a:pt x="417935" y="356040"/>
                  </a:lnTo>
                  <a:lnTo>
                    <a:pt x="389927" y="389927"/>
                  </a:lnTo>
                  <a:lnTo>
                    <a:pt x="356040" y="417935"/>
                  </a:lnTo>
                  <a:lnTo>
                    <a:pt x="317224" y="439116"/>
                  </a:lnTo>
                  <a:lnTo>
                    <a:pt x="274427" y="452520"/>
                  </a:lnTo>
                  <a:lnTo>
                    <a:pt x="228599" y="457199"/>
                  </a:lnTo>
                  <a:lnTo>
                    <a:pt x="182771" y="452520"/>
                  </a:lnTo>
                  <a:lnTo>
                    <a:pt x="139975" y="439116"/>
                  </a:lnTo>
                  <a:lnTo>
                    <a:pt x="101159" y="417935"/>
                  </a:lnTo>
                  <a:lnTo>
                    <a:pt x="67272" y="389927"/>
                  </a:lnTo>
                  <a:lnTo>
                    <a:pt x="39264" y="356040"/>
                  </a:lnTo>
                  <a:lnTo>
                    <a:pt x="18083" y="317224"/>
                  </a:lnTo>
                  <a:lnTo>
                    <a:pt x="4679" y="274427"/>
                  </a:lnTo>
                  <a:lnTo>
                    <a:pt x="0" y="228600"/>
                  </a:lnTo>
                  <a:close/>
                </a:path>
              </a:pathLst>
            </a:custGeom>
            <a:ln w="12699">
              <a:solidFill>
                <a:srgbClr val="0D8E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99324" y="5621527"/>
            <a:ext cx="1225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04619" y="5387542"/>
            <a:ext cx="63531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111826"/>
                </a:solidFill>
                <a:latin typeface="Calibri"/>
                <a:cs typeface="Calibri"/>
              </a:rPr>
              <a:t>PostgreSQL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Source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of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truth: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conditional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UPDATE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where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available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&gt;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0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UNIQUE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keys.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Correct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even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if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Redis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is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wrong.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9183370" y="5525770"/>
            <a:ext cx="1292860" cy="469900"/>
            <a:chOff x="9183370" y="5525770"/>
            <a:chExt cx="1292860" cy="469900"/>
          </a:xfrm>
        </p:grpSpPr>
        <p:sp>
          <p:nvSpPr>
            <p:cNvPr id="55" name="object 55"/>
            <p:cNvSpPr/>
            <p:nvPr/>
          </p:nvSpPr>
          <p:spPr>
            <a:xfrm>
              <a:off x="9189720" y="5532119"/>
              <a:ext cx="1280160" cy="457200"/>
            </a:xfrm>
            <a:custGeom>
              <a:avLst/>
              <a:gdLst/>
              <a:ahLst/>
              <a:cxnLst/>
              <a:rect l="l" t="t" r="r" b="b"/>
              <a:pathLst>
                <a:path w="1280159" h="457200">
                  <a:moveTo>
                    <a:pt x="120700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384048"/>
                  </a:lnTo>
                  <a:lnTo>
                    <a:pt x="5786" y="412407"/>
                  </a:lnTo>
                  <a:lnTo>
                    <a:pt x="21527" y="435672"/>
                  </a:lnTo>
                  <a:lnTo>
                    <a:pt x="44792" y="451413"/>
                  </a:lnTo>
                  <a:lnTo>
                    <a:pt x="73152" y="457200"/>
                  </a:lnTo>
                  <a:lnTo>
                    <a:pt x="1207008" y="457200"/>
                  </a:lnTo>
                  <a:lnTo>
                    <a:pt x="1235367" y="451413"/>
                  </a:lnTo>
                  <a:lnTo>
                    <a:pt x="1258632" y="435672"/>
                  </a:lnTo>
                  <a:lnTo>
                    <a:pt x="1274373" y="412407"/>
                  </a:lnTo>
                  <a:lnTo>
                    <a:pt x="1280160" y="384048"/>
                  </a:lnTo>
                  <a:lnTo>
                    <a:pt x="1280160" y="73151"/>
                  </a:lnTo>
                  <a:lnTo>
                    <a:pt x="1274373" y="44792"/>
                  </a:lnTo>
                  <a:lnTo>
                    <a:pt x="1258632" y="21527"/>
                  </a:lnTo>
                  <a:lnTo>
                    <a:pt x="1235367" y="5786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0D8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189720" y="5532119"/>
              <a:ext cx="1280160" cy="457200"/>
            </a:xfrm>
            <a:custGeom>
              <a:avLst/>
              <a:gdLst/>
              <a:ahLst/>
              <a:cxnLst/>
              <a:rect l="l" t="t" r="r" b="b"/>
              <a:pathLst>
                <a:path w="1280159" h="4572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207008" y="0"/>
                  </a:lnTo>
                  <a:lnTo>
                    <a:pt x="1235367" y="5786"/>
                  </a:lnTo>
                  <a:lnTo>
                    <a:pt x="1258632" y="21526"/>
                  </a:lnTo>
                  <a:lnTo>
                    <a:pt x="1274373" y="44791"/>
                  </a:lnTo>
                  <a:lnTo>
                    <a:pt x="1280160" y="73150"/>
                  </a:lnTo>
                  <a:lnTo>
                    <a:pt x="1280160" y="384048"/>
                  </a:lnTo>
                  <a:lnTo>
                    <a:pt x="1274373" y="412407"/>
                  </a:lnTo>
                  <a:lnTo>
                    <a:pt x="1258632" y="435672"/>
                  </a:lnTo>
                  <a:lnTo>
                    <a:pt x="1235367" y="451413"/>
                  </a:lnTo>
                  <a:lnTo>
                    <a:pt x="1207008" y="457200"/>
                  </a:lnTo>
                  <a:lnTo>
                    <a:pt x="73152" y="457200"/>
                  </a:lnTo>
                  <a:lnTo>
                    <a:pt x="44792" y="451413"/>
                  </a:lnTo>
                  <a:lnTo>
                    <a:pt x="21527" y="435672"/>
                  </a:lnTo>
                  <a:lnTo>
                    <a:pt x="5786" y="412407"/>
                  </a:lnTo>
                  <a:lnTo>
                    <a:pt x="0" y="3840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0D8E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9516954" y="5642609"/>
            <a:ext cx="62547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r>
              <a:rPr sz="1250" b="1" spc="-20" dirty="0">
                <a:solidFill>
                  <a:srgbClr val="FFFFFF"/>
                </a:solidFill>
                <a:latin typeface="Calibri"/>
                <a:cs typeface="Calibri"/>
              </a:rPr>
              <a:t> rows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Inventory</a:t>
            </a:r>
            <a:r>
              <a:rPr spc="-60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consistency:</a:t>
            </a:r>
            <a:r>
              <a:rPr spc="-5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why</a:t>
            </a:r>
            <a:r>
              <a:rPr spc="-5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atomic</a:t>
            </a:r>
            <a:r>
              <a:rPr spc="-5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conditional</a:t>
            </a:r>
            <a:r>
              <a:rPr spc="-55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update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45464" y="1276985"/>
          <a:ext cx="6857999" cy="1698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Behaviour</a:t>
                      </a:r>
                      <a:r>
                        <a:rPr sz="12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under</a:t>
                      </a:r>
                      <a:r>
                        <a:rPr sz="12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10,000</a:t>
                      </a:r>
                      <a:r>
                        <a:rPr sz="12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requests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Verdict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91440" marR="2222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Pessimistic</a:t>
                      </a:r>
                      <a:r>
                        <a:rPr sz="1250" b="1" spc="-1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lock</a:t>
                      </a:r>
                      <a:r>
                        <a:rPr sz="1250" b="1" spc="-1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(SELECT</a:t>
                      </a:r>
                      <a:r>
                        <a:rPr sz="1250" b="1" spc="-1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2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250" b="1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UPDATE)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28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Correct,</a:t>
                      </a:r>
                      <a:r>
                        <a:rPr sz="1250" spc="-3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but</a:t>
                      </a:r>
                      <a:r>
                        <a:rPr sz="1250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everyone</a:t>
                      </a:r>
                      <a:r>
                        <a:rPr sz="1250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queues</a:t>
                      </a:r>
                      <a:r>
                        <a:rPr sz="1250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250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250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row;</a:t>
                      </a:r>
                      <a:r>
                        <a:rPr sz="1250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long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waits,</a:t>
                      </a:r>
                      <a:r>
                        <a:rPr sz="1250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connection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pool</a:t>
                      </a:r>
                      <a:r>
                        <a:rPr sz="1250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exhausted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50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Rejected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91440" marR="3244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Optimistic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(version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+ </a:t>
                      </a:r>
                      <a:r>
                        <a:rPr sz="1250" b="1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retry)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971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Correct,</a:t>
                      </a:r>
                      <a:r>
                        <a:rPr sz="1250" spc="-4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but</a:t>
                      </a:r>
                      <a:r>
                        <a:rPr sz="1250" spc="-3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nearly</a:t>
                      </a:r>
                      <a:r>
                        <a:rPr sz="1250" spc="-4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1250" spc="-3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requests</a:t>
                      </a:r>
                      <a:r>
                        <a:rPr sz="1250" spc="-3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retry</a:t>
                      </a:r>
                      <a:r>
                        <a:rPr sz="1250" spc="-4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250" spc="-3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250" spc="-4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hot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row:</a:t>
                      </a:r>
                      <a:r>
                        <a:rPr sz="1250" spc="-1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retry</a:t>
                      </a:r>
                      <a:r>
                        <a:rPr sz="1250" spc="-1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storm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016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Rejected</a:t>
                      </a:r>
                      <a:r>
                        <a:rPr sz="1250" spc="-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2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hot</a:t>
                      </a:r>
                      <a:r>
                        <a:rPr sz="1250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91440" marR="5441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Redis</a:t>
                      </a:r>
                      <a:r>
                        <a:rPr sz="1250" b="1" spc="-2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Lua</a:t>
                      </a:r>
                      <a:r>
                        <a:rPr sz="1250" b="1" spc="-1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gate</a:t>
                      </a:r>
                      <a:r>
                        <a:rPr sz="1250" b="1" spc="-1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250" b="1" spc="-1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atomic conditional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UPDATE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191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Gate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rejects</a:t>
                      </a:r>
                      <a:r>
                        <a:rPr sz="1250" b="1" spc="-2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~9,900</a:t>
                      </a:r>
                      <a:r>
                        <a:rPr sz="1250" b="1" spc="-2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memory;</a:t>
                      </a:r>
                      <a:r>
                        <a:rPr sz="1250" b="1" spc="-2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1250" b="1" spc="-2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most</a:t>
                      </a:r>
                      <a:r>
                        <a:rPr sz="1250" b="1" spc="-2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~100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reach</a:t>
                      </a:r>
                      <a:r>
                        <a:rPr sz="1250" b="1" spc="-35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DB,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which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enforces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&gt;=</a:t>
                      </a:r>
                      <a:r>
                        <a:rPr sz="1250" b="1" spc="-3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50" dirty="0">
                          <a:solidFill>
                            <a:srgbClr val="111826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50" b="1" spc="-10" dirty="0">
                          <a:solidFill>
                            <a:srgbClr val="E75019"/>
                          </a:solidFill>
                          <a:latin typeface="Calibri"/>
                          <a:cs typeface="Calibri"/>
                        </a:rPr>
                        <a:t>SELECTED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FD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42289" y="4565650"/>
            <a:ext cx="6870700" cy="1658620"/>
            <a:chOff x="542289" y="4565650"/>
            <a:chExt cx="6870700" cy="1658620"/>
          </a:xfrm>
        </p:grpSpPr>
        <p:sp>
          <p:nvSpPr>
            <p:cNvPr id="5" name="object 5"/>
            <p:cNvSpPr/>
            <p:nvPr/>
          </p:nvSpPr>
          <p:spPr>
            <a:xfrm>
              <a:off x="548639" y="4571999"/>
              <a:ext cx="6858000" cy="1645920"/>
            </a:xfrm>
            <a:custGeom>
              <a:avLst/>
              <a:gdLst/>
              <a:ahLst/>
              <a:cxnLst/>
              <a:rect l="l" t="t" r="r" b="b"/>
              <a:pathLst>
                <a:path w="6858000" h="1645920">
                  <a:moveTo>
                    <a:pt x="6784855" y="0"/>
                  </a:moveTo>
                  <a:lnTo>
                    <a:pt x="73144" y="0"/>
                  </a:lnTo>
                  <a:lnTo>
                    <a:pt x="44787" y="5786"/>
                  </a:lnTo>
                  <a:lnTo>
                    <a:pt x="21524" y="21524"/>
                  </a:lnTo>
                  <a:lnTo>
                    <a:pt x="5786" y="44787"/>
                  </a:lnTo>
                  <a:lnTo>
                    <a:pt x="0" y="73144"/>
                  </a:lnTo>
                  <a:lnTo>
                    <a:pt x="0" y="1572775"/>
                  </a:lnTo>
                  <a:lnTo>
                    <a:pt x="5786" y="1601132"/>
                  </a:lnTo>
                  <a:lnTo>
                    <a:pt x="21524" y="1624394"/>
                  </a:lnTo>
                  <a:lnTo>
                    <a:pt x="44787" y="1640133"/>
                  </a:lnTo>
                  <a:lnTo>
                    <a:pt x="73144" y="1645920"/>
                  </a:lnTo>
                  <a:lnTo>
                    <a:pt x="6784855" y="1645920"/>
                  </a:lnTo>
                  <a:lnTo>
                    <a:pt x="6813212" y="1640133"/>
                  </a:lnTo>
                  <a:lnTo>
                    <a:pt x="6836474" y="1624394"/>
                  </a:lnTo>
                  <a:lnTo>
                    <a:pt x="6852213" y="1601132"/>
                  </a:lnTo>
                  <a:lnTo>
                    <a:pt x="6858000" y="1572775"/>
                  </a:lnTo>
                  <a:lnTo>
                    <a:pt x="6858000" y="73144"/>
                  </a:lnTo>
                  <a:lnTo>
                    <a:pt x="6852213" y="44787"/>
                  </a:lnTo>
                  <a:lnTo>
                    <a:pt x="6836474" y="21524"/>
                  </a:lnTo>
                  <a:lnTo>
                    <a:pt x="6813212" y="5786"/>
                  </a:lnTo>
                  <a:lnTo>
                    <a:pt x="678485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639" y="4571999"/>
              <a:ext cx="6858000" cy="1645920"/>
            </a:xfrm>
            <a:custGeom>
              <a:avLst/>
              <a:gdLst/>
              <a:ahLst/>
              <a:cxnLst/>
              <a:rect l="l" t="t" r="r" b="b"/>
              <a:pathLst>
                <a:path w="6858000" h="1645920">
                  <a:moveTo>
                    <a:pt x="0" y="73144"/>
                  </a:moveTo>
                  <a:lnTo>
                    <a:pt x="5786" y="44787"/>
                  </a:lnTo>
                  <a:lnTo>
                    <a:pt x="21524" y="21524"/>
                  </a:lnTo>
                  <a:lnTo>
                    <a:pt x="44787" y="5786"/>
                  </a:lnTo>
                  <a:lnTo>
                    <a:pt x="73144" y="0"/>
                  </a:lnTo>
                  <a:lnTo>
                    <a:pt x="6784855" y="0"/>
                  </a:lnTo>
                  <a:lnTo>
                    <a:pt x="6813212" y="5786"/>
                  </a:lnTo>
                  <a:lnTo>
                    <a:pt x="6836474" y="21524"/>
                  </a:lnTo>
                  <a:lnTo>
                    <a:pt x="6852213" y="44787"/>
                  </a:lnTo>
                  <a:lnTo>
                    <a:pt x="6858000" y="73144"/>
                  </a:lnTo>
                  <a:lnTo>
                    <a:pt x="6858000" y="1572775"/>
                  </a:lnTo>
                  <a:lnTo>
                    <a:pt x="6852213" y="1601132"/>
                  </a:lnTo>
                  <a:lnTo>
                    <a:pt x="6836474" y="1624394"/>
                  </a:lnTo>
                  <a:lnTo>
                    <a:pt x="6813212" y="1640133"/>
                  </a:lnTo>
                  <a:lnTo>
                    <a:pt x="6784855" y="1645920"/>
                  </a:lnTo>
                  <a:lnTo>
                    <a:pt x="73144" y="1645920"/>
                  </a:lnTo>
                  <a:lnTo>
                    <a:pt x="44787" y="1640133"/>
                  </a:lnTo>
                  <a:lnTo>
                    <a:pt x="21524" y="1624394"/>
                  </a:lnTo>
                  <a:lnTo>
                    <a:pt x="5786" y="1601132"/>
                  </a:lnTo>
                  <a:lnTo>
                    <a:pt x="0" y="1572775"/>
                  </a:lnTo>
                  <a:lnTo>
                    <a:pt x="0" y="73144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4540" y="4656835"/>
            <a:ext cx="13131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E75019"/>
                </a:solidFill>
                <a:latin typeface="Calibri"/>
                <a:cs typeface="Calibri"/>
              </a:rPr>
              <a:t>Why</a:t>
            </a:r>
            <a:r>
              <a:rPr sz="1500" b="1" spc="-2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E75019"/>
                </a:solidFill>
                <a:latin typeface="Calibri"/>
                <a:cs typeface="Calibri"/>
              </a:rPr>
              <a:t>it</a:t>
            </a:r>
            <a:r>
              <a:rPr sz="1500" b="1" spc="-1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E75019"/>
                </a:solidFill>
                <a:latin typeface="Calibri"/>
                <a:cs typeface="Calibri"/>
              </a:rPr>
              <a:t>is</a:t>
            </a:r>
            <a:r>
              <a:rPr sz="1500" b="1" spc="-1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E75019"/>
                </a:solidFill>
                <a:latin typeface="Calibri"/>
                <a:cs typeface="Calibri"/>
              </a:rPr>
              <a:t>correct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4887467"/>
            <a:ext cx="6419215" cy="91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Redis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admit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reject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wrongly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restart;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affects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stock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is 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(available_quantity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0)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defence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Invariant: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sold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74609" y="1273810"/>
            <a:ext cx="3944620" cy="4950460"/>
            <a:chOff x="7674609" y="1273810"/>
            <a:chExt cx="3944620" cy="4950460"/>
          </a:xfrm>
        </p:grpSpPr>
        <p:sp>
          <p:nvSpPr>
            <p:cNvPr id="10" name="object 10"/>
            <p:cNvSpPr/>
            <p:nvPr/>
          </p:nvSpPr>
          <p:spPr>
            <a:xfrm>
              <a:off x="7680959" y="1280160"/>
              <a:ext cx="3931920" cy="4937760"/>
            </a:xfrm>
            <a:custGeom>
              <a:avLst/>
              <a:gdLst/>
              <a:ahLst/>
              <a:cxnLst/>
              <a:rect l="l" t="t" r="r" b="b"/>
              <a:pathLst>
                <a:path w="3931920" h="4937760">
                  <a:moveTo>
                    <a:pt x="3858786" y="0"/>
                  </a:moveTo>
                  <a:lnTo>
                    <a:pt x="73133" y="0"/>
                  </a:lnTo>
                  <a:lnTo>
                    <a:pt x="44780" y="5785"/>
                  </a:lnTo>
                  <a:lnTo>
                    <a:pt x="21521" y="21521"/>
                  </a:lnTo>
                  <a:lnTo>
                    <a:pt x="5785" y="44780"/>
                  </a:lnTo>
                  <a:lnTo>
                    <a:pt x="0" y="73133"/>
                  </a:lnTo>
                  <a:lnTo>
                    <a:pt x="0" y="4864626"/>
                  </a:lnTo>
                  <a:lnTo>
                    <a:pt x="5785" y="4892978"/>
                  </a:lnTo>
                  <a:lnTo>
                    <a:pt x="21521" y="4916238"/>
                  </a:lnTo>
                  <a:lnTo>
                    <a:pt x="44780" y="4931974"/>
                  </a:lnTo>
                  <a:lnTo>
                    <a:pt x="73133" y="4937760"/>
                  </a:lnTo>
                  <a:lnTo>
                    <a:pt x="3858786" y="4937760"/>
                  </a:lnTo>
                  <a:lnTo>
                    <a:pt x="3887139" y="4931974"/>
                  </a:lnTo>
                  <a:lnTo>
                    <a:pt x="3910398" y="4916238"/>
                  </a:lnTo>
                  <a:lnTo>
                    <a:pt x="3926134" y="4892978"/>
                  </a:lnTo>
                  <a:lnTo>
                    <a:pt x="3931920" y="4864626"/>
                  </a:lnTo>
                  <a:lnTo>
                    <a:pt x="3931920" y="73133"/>
                  </a:lnTo>
                  <a:lnTo>
                    <a:pt x="3926134" y="44780"/>
                  </a:lnTo>
                  <a:lnTo>
                    <a:pt x="3910398" y="21521"/>
                  </a:lnTo>
                  <a:lnTo>
                    <a:pt x="3887139" y="5785"/>
                  </a:lnTo>
                  <a:lnTo>
                    <a:pt x="3858786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80959" y="1280160"/>
              <a:ext cx="3931920" cy="4937760"/>
            </a:xfrm>
            <a:custGeom>
              <a:avLst/>
              <a:gdLst/>
              <a:ahLst/>
              <a:cxnLst/>
              <a:rect l="l" t="t" r="r" b="b"/>
              <a:pathLst>
                <a:path w="3931920" h="4937760">
                  <a:moveTo>
                    <a:pt x="0" y="73133"/>
                  </a:moveTo>
                  <a:lnTo>
                    <a:pt x="5785" y="44780"/>
                  </a:lnTo>
                  <a:lnTo>
                    <a:pt x="21521" y="21521"/>
                  </a:lnTo>
                  <a:lnTo>
                    <a:pt x="44780" y="5785"/>
                  </a:lnTo>
                  <a:lnTo>
                    <a:pt x="73133" y="0"/>
                  </a:lnTo>
                  <a:lnTo>
                    <a:pt x="3858786" y="0"/>
                  </a:lnTo>
                  <a:lnTo>
                    <a:pt x="3887139" y="5785"/>
                  </a:lnTo>
                  <a:lnTo>
                    <a:pt x="3910398" y="21521"/>
                  </a:lnTo>
                  <a:lnTo>
                    <a:pt x="3926134" y="44780"/>
                  </a:lnTo>
                  <a:lnTo>
                    <a:pt x="3931920" y="73133"/>
                  </a:lnTo>
                  <a:lnTo>
                    <a:pt x="3931920" y="4864626"/>
                  </a:lnTo>
                  <a:lnTo>
                    <a:pt x="3926134" y="4892978"/>
                  </a:lnTo>
                  <a:lnTo>
                    <a:pt x="3910398" y="4916238"/>
                  </a:lnTo>
                  <a:lnTo>
                    <a:pt x="3887139" y="4931974"/>
                  </a:lnTo>
                  <a:lnTo>
                    <a:pt x="3858786" y="4937760"/>
                  </a:lnTo>
                  <a:lnTo>
                    <a:pt x="73133" y="4937760"/>
                  </a:lnTo>
                  <a:lnTo>
                    <a:pt x="44780" y="4931974"/>
                  </a:lnTo>
                  <a:lnTo>
                    <a:pt x="21521" y="4916238"/>
                  </a:lnTo>
                  <a:lnTo>
                    <a:pt x="5785" y="4892978"/>
                  </a:lnTo>
                  <a:lnTo>
                    <a:pt x="0" y="4864626"/>
                  </a:lnTo>
                  <a:lnTo>
                    <a:pt x="0" y="73133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51140" y="1392427"/>
            <a:ext cx="3531235" cy="293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D8E7F"/>
                </a:solidFill>
                <a:latin typeface="Calibri"/>
                <a:cs typeface="Calibri"/>
              </a:rPr>
              <a:t>One</a:t>
            </a:r>
            <a:r>
              <a:rPr sz="1500" b="1" spc="-25" dirty="0">
                <a:solidFill>
                  <a:srgbClr val="0D8E7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D8E7F"/>
                </a:solidFill>
                <a:latin typeface="Calibri"/>
                <a:cs typeface="Calibri"/>
              </a:rPr>
              <a:t>transaction</a:t>
            </a:r>
            <a:r>
              <a:rPr sz="1500" b="1" spc="-20" dirty="0">
                <a:solidFill>
                  <a:srgbClr val="0D8E7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D8E7F"/>
                </a:solidFill>
                <a:latin typeface="Calibri"/>
                <a:cs typeface="Calibri"/>
              </a:rPr>
              <a:t>per</a:t>
            </a:r>
            <a:r>
              <a:rPr sz="1500" b="1" spc="-20" dirty="0">
                <a:solidFill>
                  <a:srgbClr val="0D8E7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D8E7F"/>
                </a:solidFill>
                <a:latin typeface="Calibri"/>
                <a:cs typeface="Calibri"/>
              </a:rPr>
              <a:t>reservation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BEGIN;</a:t>
            </a: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UPDATE</a:t>
            </a:r>
            <a:r>
              <a:rPr sz="1150" spc="-3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inventory</a:t>
            </a:r>
            <a:r>
              <a:rPr sz="1150" spc="-30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111826"/>
                </a:solidFill>
                <a:latin typeface="Courier New"/>
                <a:cs typeface="Courier New"/>
              </a:rPr>
              <a:t>SET</a:t>
            </a:r>
            <a:endParaRPr sz="1150">
              <a:latin typeface="Courier New"/>
              <a:cs typeface="Courier New"/>
            </a:endParaRPr>
          </a:p>
          <a:p>
            <a:pPr marL="100330">
              <a:lnSpc>
                <a:spcPct val="100000"/>
              </a:lnSpc>
            </a:pP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available_quantity</a:t>
            </a:r>
            <a:r>
              <a:rPr sz="1150" spc="-4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=</a:t>
            </a:r>
            <a:r>
              <a:rPr sz="1150" spc="-40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available_quantity</a:t>
            </a: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- </a:t>
            </a:r>
            <a:r>
              <a:rPr sz="1150" spc="-25" dirty="0">
                <a:solidFill>
                  <a:srgbClr val="111826"/>
                </a:solidFill>
                <a:latin typeface="Courier New"/>
                <a:cs typeface="Courier New"/>
              </a:rPr>
              <a:t>1,</a:t>
            </a:r>
            <a:endParaRPr sz="1150">
              <a:latin typeface="Courier New"/>
              <a:cs typeface="Courier New"/>
            </a:endParaRPr>
          </a:p>
          <a:p>
            <a:pPr marL="12700" marR="5080" indent="87630">
              <a:lnSpc>
                <a:spcPct val="100000"/>
              </a:lnSpc>
            </a:pP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reserved_quantity</a:t>
            </a:r>
            <a:r>
              <a:rPr sz="1150" spc="-5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=</a:t>
            </a:r>
            <a:r>
              <a:rPr sz="1150" spc="-5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reserved_quantity</a:t>
            </a:r>
            <a:r>
              <a:rPr sz="1150" spc="-50" dirty="0">
                <a:solidFill>
                  <a:srgbClr val="111826"/>
                </a:solidFill>
                <a:latin typeface="Courier New"/>
                <a:cs typeface="Courier New"/>
              </a:rPr>
              <a:t> + </a:t>
            </a:r>
            <a:r>
              <a:rPr sz="1150" spc="-25" dirty="0">
                <a:solidFill>
                  <a:srgbClr val="111826"/>
                </a:solidFill>
                <a:latin typeface="Courier New"/>
                <a:cs typeface="Courier New"/>
              </a:rPr>
              <a:t>1,</a:t>
            </a:r>
            <a:endParaRPr sz="1150">
              <a:latin typeface="Courier New"/>
              <a:cs typeface="Courier New"/>
            </a:endParaRPr>
          </a:p>
          <a:p>
            <a:pPr marL="12700" marR="1581785" indent="87630">
              <a:lnSpc>
                <a:spcPct val="100000"/>
              </a:lnSpc>
            </a:pP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version</a:t>
            </a:r>
            <a:r>
              <a:rPr sz="1150" spc="-1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=</a:t>
            </a:r>
            <a:r>
              <a:rPr sz="1150" spc="-1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version</a:t>
            </a:r>
            <a:r>
              <a:rPr sz="1150" spc="-1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+</a:t>
            </a:r>
            <a:r>
              <a:rPr sz="1150" spc="-1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solidFill>
                  <a:srgbClr val="111826"/>
                </a:solidFill>
                <a:latin typeface="Courier New"/>
                <a:cs typeface="Courier New"/>
              </a:rPr>
              <a:t>1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WHERE</a:t>
            </a:r>
            <a:r>
              <a:rPr sz="1150" spc="-2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product_id</a:t>
            </a:r>
            <a:r>
              <a:rPr sz="1150" spc="-20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=</a:t>
            </a:r>
            <a:r>
              <a:rPr sz="1150" spc="-20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111826"/>
                </a:solidFill>
                <a:latin typeface="Courier New"/>
                <a:cs typeface="Courier New"/>
              </a:rPr>
              <a:t>:p</a:t>
            </a:r>
            <a:endParaRPr sz="1150">
              <a:latin typeface="Courier New"/>
              <a:cs typeface="Courier New"/>
            </a:endParaRPr>
          </a:p>
          <a:p>
            <a:pPr marL="100330">
              <a:lnSpc>
                <a:spcPct val="100000"/>
              </a:lnSpc>
            </a:pP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AND</a:t>
            </a:r>
            <a:r>
              <a:rPr sz="1150" spc="-3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available_quantity</a:t>
            </a:r>
            <a:r>
              <a:rPr sz="1150" spc="-30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&gt;</a:t>
            </a:r>
            <a:r>
              <a:rPr sz="1150" spc="-30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111826"/>
                </a:solidFill>
                <a:latin typeface="Courier New"/>
                <a:cs typeface="Courier New"/>
              </a:rPr>
              <a:t>0;</a:t>
            </a: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-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-</a:t>
            </a:r>
            <a:r>
              <a:rPr sz="1150" spc="-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0</a:t>
            </a:r>
            <a:r>
              <a:rPr sz="1150" spc="-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rows</a:t>
            </a:r>
            <a:r>
              <a:rPr sz="1150" spc="-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=&gt; </a:t>
            </a: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SOLD_OUT</a:t>
            </a:r>
            <a:endParaRPr sz="1150">
              <a:latin typeface="Courier New"/>
              <a:cs typeface="Courier New"/>
            </a:endParaRPr>
          </a:p>
          <a:p>
            <a:pPr marL="100330" marR="881380" indent="-88265">
              <a:lnSpc>
                <a:spcPct val="100000"/>
              </a:lnSpc>
            </a:pP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INSERT</a:t>
            </a:r>
            <a:r>
              <a:rPr sz="1150" spc="-2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reservation(...,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idempotency_key,</a:t>
            </a:r>
            <a:r>
              <a:rPr sz="1150" spc="-7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expires_at);</a:t>
            </a:r>
            <a:endParaRPr sz="1150">
              <a:latin typeface="Courier New"/>
              <a:cs typeface="Courier New"/>
            </a:endParaRPr>
          </a:p>
          <a:p>
            <a:pPr marL="12700" marR="1494790">
              <a:lnSpc>
                <a:spcPct val="100000"/>
              </a:lnSpc>
            </a:pP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-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-</a:t>
            </a:r>
            <a:r>
              <a:rPr sz="1150" spc="-20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UNIQUE</a:t>
            </a: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hit</a:t>
            </a: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111826"/>
                </a:solidFill>
                <a:latin typeface="Courier New"/>
                <a:cs typeface="Courier New"/>
              </a:rPr>
              <a:t>=&gt;</a:t>
            </a:r>
            <a:r>
              <a:rPr sz="1150" spc="-5" dirty="0">
                <a:solidFill>
                  <a:srgbClr val="111826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111826"/>
                </a:solidFill>
                <a:latin typeface="Courier New"/>
                <a:cs typeface="Courier New"/>
              </a:rPr>
              <a:t>replay COMMIT;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51140" y="4914899"/>
            <a:ext cx="353314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Last</a:t>
            </a:r>
            <a:r>
              <a:rPr sz="1250" b="1" spc="-3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unit,</a:t>
            </a:r>
            <a:r>
              <a:rPr sz="12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two</a:t>
            </a:r>
            <a:r>
              <a:rPr sz="12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E75019"/>
                </a:solidFill>
                <a:latin typeface="Calibri"/>
                <a:cs typeface="Calibri"/>
              </a:rPr>
              <a:t>requests:</a:t>
            </a:r>
            <a:r>
              <a:rPr sz="12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the</a:t>
            </a:r>
            <a:r>
              <a:rPr sz="12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row</a:t>
            </a:r>
            <a:r>
              <a:rPr sz="12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lock</a:t>
            </a:r>
            <a:r>
              <a:rPr sz="12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serialises</a:t>
            </a:r>
            <a:r>
              <a:rPr sz="12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E75019"/>
                </a:solidFill>
                <a:latin typeface="Calibri"/>
                <a:cs typeface="Calibri"/>
              </a:rPr>
              <a:t>them.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Winner</a:t>
            </a:r>
            <a:r>
              <a:rPr sz="12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E75019"/>
                </a:solidFill>
                <a:latin typeface="Calibri"/>
                <a:cs typeface="Calibri"/>
              </a:rPr>
              <a:t>updates</a:t>
            </a:r>
            <a:r>
              <a:rPr sz="1250" b="1" spc="-2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1</a:t>
            </a:r>
            <a:r>
              <a:rPr sz="1250" b="1" spc="-2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row;</a:t>
            </a:r>
            <a:r>
              <a:rPr sz="1250" b="1" spc="-2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loser</a:t>
            </a:r>
            <a:r>
              <a:rPr sz="1250" b="1" spc="-2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E75019"/>
                </a:solidFill>
                <a:latin typeface="Calibri"/>
                <a:cs typeface="Calibri"/>
              </a:rPr>
              <a:t>updates</a:t>
            </a:r>
            <a:r>
              <a:rPr sz="1250" b="1" spc="-2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0</a:t>
            </a:r>
            <a:r>
              <a:rPr sz="1250" b="1" spc="-2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rows</a:t>
            </a:r>
            <a:r>
              <a:rPr sz="1250" b="1" spc="-2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and</a:t>
            </a:r>
            <a:r>
              <a:rPr sz="1250" b="1" spc="-3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spc="-20" dirty="0">
                <a:solidFill>
                  <a:srgbClr val="E75019"/>
                </a:solidFill>
                <a:latin typeface="Calibri"/>
                <a:cs typeface="Calibri"/>
              </a:rPr>
              <a:t>gets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409</a:t>
            </a:r>
            <a:r>
              <a:rPr sz="1250" b="1" spc="-2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E75019"/>
                </a:solidFill>
                <a:latin typeface="Calibri"/>
                <a:cs typeface="Calibri"/>
              </a:rPr>
              <a:t>SOLD_OUT.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Reservation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lifecycle,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expiry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and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release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90" y="1273810"/>
            <a:ext cx="1795780" cy="698500"/>
            <a:chOff x="542290" y="1273810"/>
            <a:chExt cx="1795780" cy="698500"/>
          </a:xfrm>
        </p:grpSpPr>
        <p:sp>
          <p:nvSpPr>
            <p:cNvPr id="4" name="object 4"/>
            <p:cNvSpPr/>
            <p:nvPr/>
          </p:nvSpPr>
          <p:spPr>
            <a:xfrm>
              <a:off x="548640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80" h="685800">
                  <a:moveTo>
                    <a:pt x="170992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612645"/>
                  </a:lnTo>
                  <a:lnTo>
                    <a:pt x="5786" y="641006"/>
                  </a:lnTo>
                  <a:lnTo>
                    <a:pt x="21527" y="664271"/>
                  </a:lnTo>
                  <a:lnTo>
                    <a:pt x="44793" y="680013"/>
                  </a:lnTo>
                  <a:lnTo>
                    <a:pt x="73154" y="685800"/>
                  </a:lnTo>
                  <a:lnTo>
                    <a:pt x="1709925" y="685800"/>
                  </a:lnTo>
                  <a:lnTo>
                    <a:pt x="1738286" y="680013"/>
                  </a:lnTo>
                  <a:lnTo>
                    <a:pt x="1761551" y="664271"/>
                  </a:lnTo>
                  <a:lnTo>
                    <a:pt x="1777293" y="641006"/>
                  </a:lnTo>
                  <a:lnTo>
                    <a:pt x="1783080" y="612645"/>
                  </a:lnTo>
                  <a:lnTo>
                    <a:pt x="1783080" y="73154"/>
                  </a:lnTo>
                  <a:lnTo>
                    <a:pt x="1777293" y="44793"/>
                  </a:lnTo>
                  <a:lnTo>
                    <a:pt x="1761551" y="21527"/>
                  </a:lnTo>
                  <a:lnTo>
                    <a:pt x="1738286" y="5786"/>
                  </a:lnTo>
                  <a:lnTo>
                    <a:pt x="170992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40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80" h="685800">
                  <a:moveTo>
                    <a:pt x="0" y="73154"/>
                  </a:moveTo>
                  <a:lnTo>
                    <a:pt x="5786" y="44793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1709925" y="0"/>
                  </a:lnTo>
                  <a:lnTo>
                    <a:pt x="1738286" y="5786"/>
                  </a:lnTo>
                  <a:lnTo>
                    <a:pt x="1761551" y="21527"/>
                  </a:lnTo>
                  <a:lnTo>
                    <a:pt x="1777293" y="44793"/>
                  </a:lnTo>
                  <a:lnTo>
                    <a:pt x="1783080" y="73154"/>
                  </a:lnTo>
                  <a:lnTo>
                    <a:pt x="1783080" y="612645"/>
                  </a:lnTo>
                  <a:lnTo>
                    <a:pt x="1777293" y="641006"/>
                  </a:lnTo>
                  <a:lnTo>
                    <a:pt x="1761551" y="664271"/>
                  </a:lnTo>
                  <a:lnTo>
                    <a:pt x="1738286" y="680013"/>
                  </a:lnTo>
                  <a:lnTo>
                    <a:pt x="1709925" y="685800"/>
                  </a:lnTo>
                  <a:lnTo>
                    <a:pt x="73154" y="685800"/>
                  </a:lnTo>
                  <a:lnTo>
                    <a:pt x="44793" y="680013"/>
                  </a:lnTo>
                  <a:lnTo>
                    <a:pt x="21527" y="664271"/>
                  </a:lnTo>
                  <a:lnTo>
                    <a:pt x="5786" y="641006"/>
                  </a:lnTo>
                  <a:lnTo>
                    <a:pt x="0" y="612645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79444" y="1509166"/>
            <a:ext cx="721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20607" y="1273810"/>
            <a:ext cx="2303780" cy="698500"/>
            <a:chOff x="2320607" y="1273810"/>
            <a:chExt cx="2303780" cy="698500"/>
          </a:xfrm>
        </p:grpSpPr>
        <p:sp>
          <p:nvSpPr>
            <p:cNvPr id="8" name="object 8"/>
            <p:cNvSpPr/>
            <p:nvPr/>
          </p:nvSpPr>
          <p:spPr>
            <a:xfrm>
              <a:off x="2331720" y="1627632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19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2089" y="1580800"/>
              <a:ext cx="93662" cy="9366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34639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170992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612645"/>
                  </a:lnTo>
                  <a:lnTo>
                    <a:pt x="5786" y="641006"/>
                  </a:lnTo>
                  <a:lnTo>
                    <a:pt x="21527" y="664271"/>
                  </a:lnTo>
                  <a:lnTo>
                    <a:pt x="44793" y="680013"/>
                  </a:lnTo>
                  <a:lnTo>
                    <a:pt x="73154" y="685800"/>
                  </a:lnTo>
                  <a:lnTo>
                    <a:pt x="1709925" y="685800"/>
                  </a:lnTo>
                  <a:lnTo>
                    <a:pt x="1738286" y="680013"/>
                  </a:lnTo>
                  <a:lnTo>
                    <a:pt x="1761551" y="664271"/>
                  </a:lnTo>
                  <a:lnTo>
                    <a:pt x="1777293" y="641006"/>
                  </a:lnTo>
                  <a:lnTo>
                    <a:pt x="1783080" y="612645"/>
                  </a:lnTo>
                  <a:lnTo>
                    <a:pt x="1783080" y="73154"/>
                  </a:lnTo>
                  <a:lnTo>
                    <a:pt x="1777293" y="44793"/>
                  </a:lnTo>
                  <a:lnTo>
                    <a:pt x="1761551" y="21527"/>
                  </a:lnTo>
                  <a:lnTo>
                    <a:pt x="1738286" y="5786"/>
                  </a:lnTo>
                  <a:lnTo>
                    <a:pt x="170992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4639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0" y="73154"/>
                  </a:moveTo>
                  <a:lnTo>
                    <a:pt x="5786" y="44793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1709925" y="0"/>
                  </a:lnTo>
                  <a:lnTo>
                    <a:pt x="1738286" y="5786"/>
                  </a:lnTo>
                  <a:lnTo>
                    <a:pt x="1761551" y="21527"/>
                  </a:lnTo>
                  <a:lnTo>
                    <a:pt x="1777293" y="44793"/>
                  </a:lnTo>
                  <a:lnTo>
                    <a:pt x="1783080" y="73154"/>
                  </a:lnTo>
                  <a:lnTo>
                    <a:pt x="1783080" y="612645"/>
                  </a:lnTo>
                  <a:lnTo>
                    <a:pt x="1777293" y="641006"/>
                  </a:lnTo>
                  <a:lnTo>
                    <a:pt x="1761551" y="664271"/>
                  </a:lnTo>
                  <a:lnTo>
                    <a:pt x="1738286" y="680013"/>
                  </a:lnTo>
                  <a:lnTo>
                    <a:pt x="1709925" y="685800"/>
                  </a:lnTo>
                  <a:lnTo>
                    <a:pt x="73154" y="685800"/>
                  </a:lnTo>
                  <a:lnTo>
                    <a:pt x="44793" y="680013"/>
                  </a:lnTo>
                  <a:lnTo>
                    <a:pt x="21527" y="664271"/>
                  </a:lnTo>
                  <a:lnTo>
                    <a:pt x="5786" y="641006"/>
                  </a:lnTo>
                  <a:lnTo>
                    <a:pt x="0" y="612645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87247" y="1509166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RESERVED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06607" y="1273810"/>
            <a:ext cx="2303780" cy="698500"/>
            <a:chOff x="4606607" y="1273810"/>
            <a:chExt cx="2303780" cy="698500"/>
          </a:xfrm>
        </p:grpSpPr>
        <p:sp>
          <p:nvSpPr>
            <p:cNvPr id="14" name="object 14"/>
            <p:cNvSpPr/>
            <p:nvPr/>
          </p:nvSpPr>
          <p:spPr>
            <a:xfrm>
              <a:off x="4617720" y="1627632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20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8089" y="1580800"/>
              <a:ext cx="93662" cy="936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20640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170992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612645"/>
                  </a:lnTo>
                  <a:lnTo>
                    <a:pt x="5786" y="641006"/>
                  </a:lnTo>
                  <a:lnTo>
                    <a:pt x="21527" y="664271"/>
                  </a:lnTo>
                  <a:lnTo>
                    <a:pt x="44793" y="680013"/>
                  </a:lnTo>
                  <a:lnTo>
                    <a:pt x="73154" y="685800"/>
                  </a:lnTo>
                  <a:lnTo>
                    <a:pt x="1709925" y="685800"/>
                  </a:lnTo>
                  <a:lnTo>
                    <a:pt x="1738286" y="680013"/>
                  </a:lnTo>
                  <a:lnTo>
                    <a:pt x="1761551" y="664271"/>
                  </a:lnTo>
                  <a:lnTo>
                    <a:pt x="1777293" y="641006"/>
                  </a:lnTo>
                  <a:lnTo>
                    <a:pt x="1783080" y="612645"/>
                  </a:lnTo>
                  <a:lnTo>
                    <a:pt x="1783080" y="73154"/>
                  </a:lnTo>
                  <a:lnTo>
                    <a:pt x="1777293" y="44793"/>
                  </a:lnTo>
                  <a:lnTo>
                    <a:pt x="1761551" y="21527"/>
                  </a:lnTo>
                  <a:lnTo>
                    <a:pt x="1738286" y="5786"/>
                  </a:lnTo>
                  <a:lnTo>
                    <a:pt x="170992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20640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0" y="73154"/>
                  </a:moveTo>
                  <a:lnTo>
                    <a:pt x="5786" y="44793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1709925" y="0"/>
                  </a:lnTo>
                  <a:lnTo>
                    <a:pt x="1738286" y="5786"/>
                  </a:lnTo>
                  <a:lnTo>
                    <a:pt x="1761551" y="21527"/>
                  </a:lnTo>
                  <a:lnTo>
                    <a:pt x="1777293" y="44793"/>
                  </a:lnTo>
                  <a:lnTo>
                    <a:pt x="1783080" y="73154"/>
                  </a:lnTo>
                  <a:lnTo>
                    <a:pt x="1783080" y="612645"/>
                  </a:lnTo>
                  <a:lnTo>
                    <a:pt x="1777293" y="641006"/>
                  </a:lnTo>
                  <a:lnTo>
                    <a:pt x="1761551" y="664271"/>
                  </a:lnTo>
                  <a:lnTo>
                    <a:pt x="1738286" y="680013"/>
                  </a:lnTo>
                  <a:lnTo>
                    <a:pt x="1709925" y="685800"/>
                  </a:lnTo>
                  <a:lnTo>
                    <a:pt x="73154" y="685800"/>
                  </a:lnTo>
                  <a:lnTo>
                    <a:pt x="44793" y="680013"/>
                  </a:lnTo>
                  <a:lnTo>
                    <a:pt x="21527" y="664271"/>
                  </a:lnTo>
                  <a:lnTo>
                    <a:pt x="5786" y="641006"/>
                  </a:lnTo>
                  <a:lnTo>
                    <a:pt x="0" y="612645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48693" y="1509166"/>
            <a:ext cx="1327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PAYMENT_PENDING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92607" y="1273810"/>
            <a:ext cx="2303780" cy="698500"/>
            <a:chOff x="6892607" y="1273810"/>
            <a:chExt cx="2303780" cy="698500"/>
          </a:xfrm>
        </p:grpSpPr>
        <p:sp>
          <p:nvSpPr>
            <p:cNvPr id="20" name="object 20"/>
            <p:cNvSpPr/>
            <p:nvPr/>
          </p:nvSpPr>
          <p:spPr>
            <a:xfrm>
              <a:off x="6903719" y="1627632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20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4089" y="1580800"/>
              <a:ext cx="93662" cy="936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406639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170992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612645"/>
                  </a:lnTo>
                  <a:lnTo>
                    <a:pt x="5786" y="641006"/>
                  </a:lnTo>
                  <a:lnTo>
                    <a:pt x="21527" y="664271"/>
                  </a:lnTo>
                  <a:lnTo>
                    <a:pt x="44793" y="680013"/>
                  </a:lnTo>
                  <a:lnTo>
                    <a:pt x="73154" y="685800"/>
                  </a:lnTo>
                  <a:lnTo>
                    <a:pt x="1709925" y="685800"/>
                  </a:lnTo>
                  <a:lnTo>
                    <a:pt x="1738286" y="680013"/>
                  </a:lnTo>
                  <a:lnTo>
                    <a:pt x="1761551" y="664271"/>
                  </a:lnTo>
                  <a:lnTo>
                    <a:pt x="1777293" y="641006"/>
                  </a:lnTo>
                  <a:lnTo>
                    <a:pt x="1783080" y="612645"/>
                  </a:lnTo>
                  <a:lnTo>
                    <a:pt x="1783080" y="73154"/>
                  </a:lnTo>
                  <a:lnTo>
                    <a:pt x="1777293" y="44793"/>
                  </a:lnTo>
                  <a:lnTo>
                    <a:pt x="1761551" y="21527"/>
                  </a:lnTo>
                  <a:lnTo>
                    <a:pt x="1738286" y="5786"/>
                  </a:lnTo>
                  <a:lnTo>
                    <a:pt x="170992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06639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0" y="73154"/>
                  </a:moveTo>
                  <a:lnTo>
                    <a:pt x="5786" y="44793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1709925" y="0"/>
                  </a:lnTo>
                  <a:lnTo>
                    <a:pt x="1738286" y="5786"/>
                  </a:lnTo>
                  <a:lnTo>
                    <a:pt x="1761551" y="21527"/>
                  </a:lnTo>
                  <a:lnTo>
                    <a:pt x="1777293" y="44793"/>
                  </a:lnTo>
                  <a:lnTo>
                    <a:pt x="1783080" y="73154"/>
                  </a:lnTo>
                  <a:lnTo>
                    <a:pt x="1783080" y="612645"/>
                  </a:lnTo>
                  <a:lnTo>
                    <a:pt x="1777293" y="641006"/>
                  </a:lnTo>
                  <a:lnTo>
                    <a:pt x="1761551" y="664271"/>
                  </a:lnTo>
                  <a:lnTo>
                    <a:pt x="1738286" y="680013"/>
                  </a:lnTo>
                  <a:lnTo>
                    <a:pt x="1709925" y="685800"/>
                  </a:lnTo>
                  <a:lnTo>
                    <a:pt x="73154" y="685800"/>
                  </a:lnTo>
                  <a:lnTo>
                    <a:pt x="44793" y="680013"/>
                  </a:lnTo>
                  <a:lnTo>
                    <a:pt x="21527" y="664271"/>
                  </a:lnTo>
                  <a:lnTo>
                    <a:pt x="5786" y="641006"/>
                  </a:lnTo>
                  <a:lnTo>
                    <a:pt x="0" y="612645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893613" y="1509166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CONFIRMED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78607" y="1273810"/>
            <a:ext cx="2303780" cy="698500"/>
            <a:chOff x="9178607" y="1273810"/>
            <a:chExt cx="2303780" cy="698500"/>
          </a:xfrm>
        </p:grpSpPr>
        <p:sp>
          <p:nvSpPr>
            <p:cNvPr id="26" name="object 26"/>
            <p:cNvSpPr/>
            <p:nvPr/>
          </p:nvSpPr>
          <p:spPr>
            <a:xfrm>
              <a:off x="9189719" y="1627632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20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10089" y="1580800"/>
              <a:ext cx="93662" cy="9366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692639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170992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612645"/>
                  </a:lnTo>
                  <a:lnTo>
                    <a:pt x="5786" y="641006"/>
                  </a:lnTo>
                  <a:lnTo>
                    <a:pt x="21527" y="664271"/>
                  </a:lnTo>
                  <a:lnTo>
                    <a:pt x="44793" y="680013"/>
                  </a:lnTo>
                  <a:lnTo>
                    <a:pt x="73154" y="685800"/>
                  </a:lnTo>
                  <a:lnTo>
                    <a:pt x="1709925" y="685800"/>
                  </a:lnTo>
                  <a:lnTo>
                    <a:pt x="1738286" y="680013"/>
                  </a:lnTo>
                  <a:lnTo>
                    <a:pt x="1761551" y="664271"/>
                  </a:lnTo>
                  <a:lnTo>
                    <a:pt x="1777293" y="641006"/>
                  </a:lnTo>
                  <a:lnTo>
                    <a:pt x="1783080" y="612645"/>
                  </a:lnTo>
                  <a:lnTo>
                    <a:pt x="1783080" y="73154"/>
                  </a:lnTo>
                  <a:lnTo>
                    <a:pt x="1777293" y="44793"/>
                  </a:lnTo>
                  <a:lnTo>
                    <a:pt x="1761551" y="21527"/>
                  </a:lnTo>
                  <a:lnTo>
                    <a:pt x="1738286" y="5786"/>
                  </a:lnTo>
                  <a:lnTo>
                    <a:pt x="1709925" y="0"/>
                  </a:lnTo>
                  <a:close/>
                </a:path>
              </a:pathLst>
            </a:custGeom>
            <a:solidFill>
              <a:srgbClr val="0D8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92639" y="1280160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0" y="73154"/>
                  </a:moveTo>
                  <a:lnTo>
                    <a:pt x="5786" y="44793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1709925" y="0"/>
                  </a:lnTo>
                  <a:lnTo>
                    <a:pt x="1738286" y="5786"/>
                  </a:lnTo>
                  <a:lnTo>
                    <a:pt x="1761551" y="21527"/>
                  </a:lnTo>
                  <a:lnTo>
                    <a:pt x="1777293" y="44793"/>
                  </a:lnTo>
                  <a:lnTo>
                    <a:pt x="1783080" y="73154"/>
                  </a:lnTo>
                  <a:lnTo>
                    <a:pt x="1783080" y="612645"/>
                  </a:lnTo>
                  <a:lnTo>
                    <a:pt x="1777293" y="641006"/>
                  </a:lnTo>
                  <a:lnTo>
                    <a:pt x="1761551" y="664271"/>
                  </a:lnTo>
                  <a:lnTo>
                    <a:pt x="1738286" y="680013"/>
                  </a:lnTo>
                  <a:lnTo>
                    <a:pt x="1709925" y="685800"/>
                  </a:lnTo>
                  <a:lnTo>
                    <a:pt x="73154" y="685800"/>
                  </a:lnTo>
                  <a:lnTo>
                    <a:pt x="44793" y="680013"/>
                  </a:lnTo>
                  <a:lnTo>
                    <a:pt x="21527" y="664271"/>
                  </a:lnTo>
                  <a:lnTo>
                    <a:pt x="5786" y="641006"/>
                  </a:lnTo>
                  <a:lnTo>
                    <a:pt x="0" y="612645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0D8E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403858" y="1509166"/>
            <a:ext cx="3613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SOLD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828289" y="2919729"/>
            <a:ext cx="1795780" cy="698500"/>
            <a:chOff x="2828289" y="2919729"/>
            <a:chExt cx="1795780" cy="698500"/>
          </a:xfrm>
        </p:grpSpPr>
        <p:sp>
          <p:nvSpPr>
            <p:cNvPr id="32" name="object 32"/>
            <p:cNvSpPr/>
            <p:nvPr/>
          </p:nvSpPr>
          <p:spPr>
            <a:xfrm>
              <a:off x="2834639" y="2926079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170992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612645"/>
                  </a:lnTo>
                  <a:lnTo>
                    <a:pt x="5786" y="641006"/>
                  </a:lnTo>
                  <a:lnTo>
                    <a:pt x="21527" y="664271"/>
                  </a:lnTo>
                  <a:lnTo>
                    <a:pt x="44793" y="680013"/>
                  </a:lnTo>
                  <a:lnTo>
                    <a:pt x="73154" y="685800"/>
                  </a:lnTo>
                  <a:lnTo>
                    <a:pt x="1709925" y="685800"/>
                  </a:lnTo>
                  <a:lnTo>
                    <a:pt x="1738286" y="680013"/>
                  </a:lnTo>
                  <a:lnTo>
                    <a:pt x="1761551" y="664271"/>
                  </a:lnTo>
                  <a:lnTo>
                    <a:pt x="1777293" y="641006"/>
                  </a:lnTo>
                  <a:lnTo>
                    <a:pt x="1783080" y="612645"/>
                  </a:lnTo>
                  <a:lnTo>
                    <a:pt x="1783080" y="73154"/>
                  </a:lnTo>
                  <a:lnTo>
                    <a:pt x="1777293" y="44793"/>
                  </a:lnTo>
                  <a:lnTo>
                    <a:pt x="1761551" y="21527"/>
                  </a:lnTo>
                  <a:lnTo>
                    <a:pt x="1738286" y="5786"/>
                  </a:lnTo>
                  <a:lnTo>
                    <a:pt x="1709925" y="0"/>
                  </a:lnTo>
                  <a:close/>
                </a:path>
              </a:pathLst>
            </a:custGeom>
            <a:solidFill>
              <a:srgbClr val="C9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34639" y="2926079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0" y="73154"/>
                  </a:moveTo>
                  <a:lnTo>
                    <a:pt x="5786" y="44793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1709925" y="0"/>
                  </a:lnTo>
                  <a:lnTo>
                    <a:pt x="1738286" y="5786"/>
                  </a:lnTo>
                  <a:lnTo>
                    <a:pt x="1761551" y="21527"/>
                  </a:lnTo>
                  <a:lnTo>
                    <a:pt x="1777293" y="44793"/>
                  </a:lnTo>
                  <a:lnTo>
                    <a:pt x="1783080" y="73154"/>
                  </a:lnTo>
                  <a:lnTo>
                    <a:pt x="1783080" y="612645"/>
                  </a:lnTo>
                  <a:lnTo>
                    <a:pt x="1777293" y="641006"/>
                  </a:lnTo>
                  <a:lnTo>
                    <a:pt x="1761551" y="664271"/>
                  </a:lnTo>
                  <a:lnTo>
                    <a:pt x="1738286" y="680013"/>
                  </a:lnTo>
                  <a:lnTo>
                    <a:pt x="1709925" y="685800"/>
                  </a:lnTo>
                  <a:lnTo>
                    <a:pt x="73154" y="685800"/>
                  </a:lnTo>
                  <a:lnTo>
                    <a:pt x="44793" y="680013"/>
                  </a:lnTo>
                  <a:lnTo>
                    <a:pt x="21527" y="664271"/>
                  </a:lnTo>
                  <a:lnTo>
                    <a:pt x="5786" y="641006"/>
                  </a:lnTo>
                  <a:lnTo>
                    <a:pt x="0" y="612645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C98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412845" y="3155086"/>
            <a:ext cx="627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TIMEOUT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114290" y="2919729"/>
            <a:ext cx="1795780" cy="698500"/>
            <a:chOff x="5114290" y="2919729"/>
            <a:chExt cx="1795780" cy="698500"/>
          </a:xfrm>
        </p:grpSpPr>
        <p:sp>
          <p:nvSpPr>
            <p:cNvPr id="36" name="object 36"/>
            <p:cNvSpPr/>
            <p:nvPr/>
          </p:nvSpPr>
          <p:spPr>
            <a:xfrm>
              <a:off x="5120640" y="2926079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170992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612645"/>
                  </a:lnTo>
                  <a:lnTo>
                    <a:pt x="5786" y="641006"/>
                  </a:lnTo>
                  <a:lnTo>
                    <a:pt x="21527" y="664271"/>
                  </a:lnTo>
                  <a:lnTo>
                    <a:pt x="44793" y="680013"/>
                  </a:lnTo>
                  <a:lnTo>
                    <a:pt x="73154" y="685800"/>
                  </a:lnTo>
                  <a:lnTo>
                    <a:pt x="1709925" y="685800"/>
                  </a:lnTo>
                  <a:lnTo>
                    <a:pt x="1738286" y="680013"/>
                  </a:lnTo>
                  <a:lnTo>
                    <a:pt x="1761551" y="664271"/>
                  </a:lnTo>
                  <a:lnTo>
                    <a:pt x="1777293" y="641006"/>
                  </a:lnTo>
                  <a:lnTo>
                    <a:pt x="1783080" y="612645"/>
                  </a:lnTo>
                  <a:lnTo>
                    <a:pt x="1783080" y="73154"/>
                  </a:lnTo>
                  <a:lnTo>
                    <a:pt x="1777293" y="44793"/>
                  </a:lnTo>
                  <a:lnTo>
                    <a:pt x="1761551" y="21527"/>
                  </a:lnTo>
                  <a:lnTo>
                    <a:pt x="1738286" y="5786"/>
                  </a:lnTo>
                  <a:lnTo>
                    <a:pt x="1709925" y="0"/>
                  </a:lnTo>
                  <a:close/>
                </a:path>
              </a:pathLst>
            </a:custGeom>
            <a:solidFill>
              <a:srgbClr val="B02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20640" y="2926079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0" y="73154"/>
                  </a:moveTo>
                  <a:lnTo>
                    <a:pt x="5786" y="44793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1709925" y="0"/>
                  </a:lnTo>
                  <a:lnTo>
                    <a:pt x="1738286" y="5786"/>
                  </a:lnTo>
                  <a:lnTo>
                    <a:pt x="1761551" y="21527"/>
                  </a:lnTo>
                  <a:lnTo>
                    <a:pt x="1777293" y="44793"/>
                  </a:lnTo>
                  <a:lnTo>
                    <a:pt x="1783080" y="73154"/>
                  </a:lnTo>
                  <a:lnTo>
                    <a:pt x="1783080" y="612645"/>
                  </a:lnTo>
                  <a:lnTo>
                    <a:pt x="1777293" y="641006"/>
                  </a:lnTo>
                  <a:lnTo>
                    <a:pt x="1761551" y="664271"/>
                  </a:lnTo>
                  <a:lnTo>
                    <a:pt x="1738286" y="680013"/>
                  </a:lnTo>
                  <a:lnTo>
                    <a:pt x="1709925" y="685800"/>
                  </a:lnTo>
                  <a:lnTo>
                    <a:pt x="73154" y="685800"/>
                  </a:lnTo>
                  <a:lnTo>
                    <a:pt x="44793" y="680013"/>
                  </a:lnTo>
                  <a:lnTo>
                    <a:pt x="21527" y="664271"/>
                  </a:lnTo>
                  <a:lnTo>
                    <a:pt x="5786" y="641006"/>
                  </a:lnTo>
                  <a:lnTo>
                    <a:pt x="0" y="612645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B02A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424818" y="3155086"/>
            <a:ext cx="1174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PAYMENT_FAILED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828289" y="1954847"/>
            <a:ext cx="4081779" cy="3263900"/>
            <a:chOff x="2828289" y="1954847"/>
            <a:chExt cx="4081779" cy="3263900"/>
          </a:xfrm>
        </p:grpSpPr>
        <p:sp>
          <p:nvSpPr>
            <p:cNvPr id="40" name="object 40"/>
            <p:cNvSpPr/>
            <p:nvPr/>
          </p:nvSpPr>
          <p:spPr>
            <a:xfrm>
              <a:off x="3726179" y="1965959"/>
              <a:ext cx="0" cy="960119"/>
            </a:xfrm>
            <a:custGeom>
              <a:avLst/>
              <a:gdLst/>
              <a:ahLst/>
              <a:cxnLst/>
              <a:rect l="l" t="t" r="r" b="b"/>
              <a:pathLst>
                <a:path h="960119">
                  <a:moveTo>
                    <a:pt x="0" y="0"/>
                  </a:moveTo>
                  <a:lnTo>
                    <a:pt x="0" y="96012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9348" y="2843529"/>
              <a:ext cx="93661" cy="9366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012179" y="1965959"/>
              <a:ext cx="0" cy="960119"/>
            </a:xfrm>
            <a:custGeom>
              <a:avLst/>
              <a:gdLst/>
              <a:ahLst/>
              <a:cxnLst/>
              <a:rect l="l" t="t" r="r" b="b"/>
              <a:pathLst>
                <a:path h="960119">
                  <a:moveTo>
                    <a:pt x="0" y="0"/>
                  </a:moveTo>
                  <a:lnTo>
                    <a:pt x="0" y="96012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5348" y="2843529"/>
              <a:ext cx="93661" cy="9366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834639" y="4480559"/>
              <a:ext cx="4069079" cy="731520"/>
            </a:xfrm>
            <a:custGeom>
              <a:avLst/>
              <a:gdLst/>
              <a:ahLst/>
              <a:cxnLst/>
              <a:rect l="l" t="t" r="r" b="b"/>
              <a:pathLst>
                <a:path w="4069079" h="731520">
                  <a:moveTo>
                    <a:pt x="399592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86" y="686727"/>
                  </a:lnTo>
                  <a:lnTo>
                    <a:pt x="21527" y="709992"/>
                  </a:lnTo>
                  <a:lnTo>
                    <a:pt x="44792" y="725733"/>
                  </a:lnTo>
                  <a:lnTo>
                    <a:pt x="73152" y="731520"/>
                  </a:lnTo>
                  <a:lnTo>
                    <a:pt x="3995928" y="731520"/>
                  </a:lnTo>
                  <a:lnTo>
                    <a:pt x="4024287" y="725733"/>
                  </a:lnTo>
                  <a:lnTo>
                    <a:pt x="4047552" y="709992"/>
                  </a:lnTo>
                  <a:lnTo>
                    <a:pt x="4063293" y="686727"/>
                  </a:lnTo>
                  <a:lnTo>
                    <a:pt x="4069079" y="658367"/>
                  </a:lnTo>
                  <a:lnTo>
                    <a:pt x="4069079" y="73151"/>
                  </a:lnTo>
                  <a:lnTo>
                    <a:pt x="4063293" y="44792"/>
                  </a:lnTo>
                  <a:lnTo>
                    <a:pt x="4047552" y="21527"/>
                  </a:lnTo>
                  <a:lnTo>
                    <a:pt x="4024287" y="5786"/>
                  </a:lnTo>
                  <a:lnTo>
                    <a:pt x="3995928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34639" y="4480559"/>
              <a:ext cx="4069079" cy="731520"/>
            </a:xfrm>
            <a:custGeom>
              <a:avLst/>
              <a:gdLst/>
              <a:ahLst/>
              <a:cxnLst/>
              <a:rect l="l" t="t" r="r" b="b"/>
              <a:pathLst>
                <a:path w="4069079" h="73152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3995928" y="0"/>
                  </a:lnTo>
                  <a:lnTo>
                    <a:pt x="4024287" y="5786"/>
                  </a:lnTo>
                  <a:lnTo>
                    <a:pt x="4047552" y="21526"/>
                  </a:lnTo>
                  <a:lnTo>
                    <a:pt x="4063293" y="44791"/>
                  </a:lnTo>
                  <a:lnTo>
                    <a:pt x="4069079" y="73150"/>
                  </a:lnTo>
                  <a:lnTo>
                    <a:pt x="4069079" y="658367"/>
                  </a:lnTo>
                  <a:lnTo>
                    <a:pt x="4063293" y="686727"/>
                  </a:lnTo>
                  <a:lnTo>
                    <a:pt x="4047552" y="709992"/>
                  </a:lnTo>
                  <a:lnTo>
                    <a:pt x="4024287" y="725733"/>
                  </a:lnTo>
                  <a:lnTo>
                    <a:pt x="3995928" y="731520"/>
                  </a:lnTo>
                  <a:lnTo>
                    <a:pt x="73152" y="731520"/>
                  </a:lnTo>
                  <a:lnTo>
                    <a:pt x="44792" y="725733"/>
                  </a:lnTo>
                  <a:lnTo>
                    <a:pt x="21527" y="709992"/>
                  </a:lnTo>
                  <a:lnTo>
                    <a:pt x="5786" y="686727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062565" y="4732426"/>
            <a:ext cx="1612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RELEASED</a:t>
            </a:r>
            <a:r>
              <a:rPr sz="1200" b="1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(available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1)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679349" y="2736849"/>
            <a:ext cx="7940040" cy="3533140"/>
            <a:chOff x="3679349" y="2736849"/>
            <a:chExt cx="7940040" cy="3533140"/>
          </a:xfrm>
        </p:grpSpPr>
        <p:sp>
          <p:nvSpPr>
            <p:cNvPr id="48" name="object 48"/>
            <p:cNvSpPr/>
            <p:nvPr/>
          </p:nvSpPr>
          <p:spPr>
            <a:xfrm>
              <a:off x="3726180" y="3611880"/>
              <a:ext cx="0" cy="868680"/>
            </a:xfrm>
            <a:custGeom>
              <a:avLst/>
              <a:gdLst/>
              <a:ahLst/>
              <a:cxnLst/>
              <a:rect l="l" t="t" r="r" b="b"/>
              <a:pathLst>
                <a:path h="868679">
                  <a:moveTo>
                    <a:pt x="0" y="0"/>
                  </a:moveTo>
                  <a:lnTo>
                    <a:pt x="0" y="868679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9349" y="4398010"/>
              <a:ext cx="93661" cy="9366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012180" y="3611880"/>
              <a:ext cx="0" cy="868680"/>
            </a:xfrm>
            <a:custGeom>
              <a:avLst/>
              <a:gdLst/>
              <a:ahLst/>
              <a:cxnLst/>
              <a:rect l="l" t="t" r="r" b="b"/>
              <a:pathLst>
                <a:path h="868679">
                  <a:moveTo>
                    <a:pt x="0" y="0"/>
                  </a:moveTo>
                  <a:lnTo>
                    <a:pt x="0" y="868679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5349" y="4398010"/>
              <a:ext cx="93661" cy="9366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223760" y="2743199"/>
              <a:ext cx="4389120" cy="3520440"/>
            </a:xfrm>
            <a:custGeom>
              <a:avLst/>
              <a:gdLst/>
              <a:ahLst/>
              <a:cxnLst/>
              <a:rect l="l" t="t" r="r" b="b"/>
              <a:pathLst>
                <a:path w="4389120" h="3520440">
                  <a:moveTo>
                    <a:pt x="4315965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8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3447284"/>
                  </a:lnTo>
                  <a:lnTo>
                    <a:pt x="5786" y="3475645"/>
                  </a:lnTo>
                  <a:lnTo>
                    <a:pt x="21528" y="3498911"/>
                  </a:lnTo>
                  <a:lnTo>
                    <a:pt x="44793" y="3514653"/>
                  </a:lnTo>
                  <a:lnTo>
                    <a:pt x="73154" y="3520440"/>
                  </a:lnTo>
                  <a:lnTo>
                    <a:pt x="4315965" y="3520440"/>
                  </a:lnTo>
                  <a:lnTo>
                    <a:pt x="4344326" y="3514653"/>
                  </a:lnTo>
                  <a:lnTo>
                    <a:pt x="4367591" y="3498911"/>
                  </a:lnTo>
                  <a:lnTo>
                    <a:pt x="4383333" y="3475645"/>
                  </a:lnTo>
                  <a:lnTo>
                    <a:pt x="4389120" y="3447284"/>
                  </a:lnTo>
                  <a:lnTo>
                    <a:pt x="4389120" y="73154"/>
                  </a:lnTo>
                  <a:lnTo>
                    <a:pt x="4383333" y="44793"/>
                  </a:lnTo>
                  <a:lnTo>
                    <a:pt x="4367591" y="21527"/>
                  </a:lnTo>
                  <a:lnTo>
                    <a:pt x="4344326" y="5786"/>
                  </a:lnTo>
                  <a:lnTo>
                    <a:pt x="4315965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223760" y="2743199"/>
              <a:ext cx="4389120" cy="3520440"/>
            </a:xfrm>
            <a:custGeom>
              <a:avLst/>
              <a:gdLst/>
              <a:ahLst/>
              <a:cxnLst/>
              <a:rect l="l" t="t" r="r" b="b"/>
              <a:pathLst>
                <a:path w="4389120" h="3520440">
                  <a:moveTo>
                    <a:pt x="0" y="73154"/>
                  </a:moveTo>
                  <a:lnTo>
                    <a:pt x="5786" y="44793"/>
                  </a:lnTo>
                  <a:lnTo>
                    <a:pt x="21528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4315965" y="0"/>
                  </a:lnTo>
                  <a:lnTo>
                    <a:pt x="4344326" y="5786"/>
                  </a:lnTo>
                  <a:lnTo>
                    <a:pt x="4367591" y="21527"/>
                  </a:lnTo>
                  <a:lnTo>
                    <a:pt x="4383333" y="44793"/>
                  </a:lnTo>
                  <a:lnTo>
                    <a:pt x="4389120" y="73154"/>
                  </a:lnTo>
                  <a:lnTo>
                    <a:pt x="4389120" y="3447284"/>
                  </a:lnTo>
                  <a:lnTo>
                    <a:pt x="4383333" y="3475645"/>
                  </a:lnTo>
                  <a:lnTo>
                    <a:pt x="4367591" y="3498911"/>
                  </a:lnTo>
                  <a:lnTo>
                    <a:pt x="4344326" y="3514653"/>
                  </a:lnTo>
                  <a:lnTo>
                    <a:pt x="4315965" y="3520440"/>
                  </a:lnTo>
                  <a:lnTo>
                    <a:pt x="73154" y="3520440"/>
                  </a:lnTo>
                  <a:lnTo>
                    <a:pt x="44793" y="3514653"/>
                  </a:lnTo>
                  <a:lnTo>
                    <a:pt x="21528" y="3498911"/>
                  </a:lnTo>
                  <a:lnTo>
                    <a:pt x="5786" y="3475645"/>
                  </a:lnTo>
                  <a:lnTo>
                    <a:pt x="0" y="3447284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439659" y="2861764"/>
            <a:ext cx="1868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0D8E7F"/>
                </a:solidFill>
                <a:latin typeface="Cambria"/>
                <a:cs typeface="Cambria"/>
              </a:rPr>
              <a:t>Expiry</a:t>
            </a:r>
            <a:r>
              <a:rPr sz="1700" b="1" spc="-35" dirty="0">
                <a:solidFill>
                  <a:srgbClr val="0D8E7F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0D8E7F"/>
                </a:solidFill>
                <a:latin typeface="Cambria"/>
                <a:cs typeface="Cambria"/>
              </a:rPr>
              <a:t>and</a:t>
            </a:r>
            <a:r>
              <a:rPr sz="1700" b="1" spc="-30" dirty="0">
                <a:solidFill>
                  <a:srgbClr val="0D8E7F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0D8E7F"/>
                </a:solidFill>
                <a:latin typeface="Cambria"/>
                <a:cs typeface="Cambria"/>
              </a:rPr>
              <a:t>release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439659" y="3251606"/>
            <a:ext cx="3940175" cy="174243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expires_at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=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now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10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min</a:t>
            </a:r>
            <a:endParaRPr sz="1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Sweeper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every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10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(index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on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status,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expires_at)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releases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restocks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in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one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transaction;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status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guard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makes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it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idempotent</a:t>
            </a:r>
            <a:endParaRPr sz="1200">
              <a:latin typeface="Calibri"/>
              <a:cs typeface="Calibri"/>
            </a:endParaRPr>
          </a:p>
          <a:p>
            <a:pPr marL="355600" marR="21590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Paid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reservations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become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CONFIRMED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first,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so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paid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stock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never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freed</a:t>
            </a:r>
            <a:endParaRPr sz="1200">
              <a:latin typeface="Calibri"/>
              <a:cs typeface="Calibri"/>
            </a:endParaRPr>
          </a:p>
          <a:p>
            <a:pPr marL="355600" marR="175895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5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units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from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failed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payments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re-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enter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gate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and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are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resold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to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waiting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room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5939" y="5417818"/>
            <a:ext cx="57759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RESERVED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can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end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in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TIMEOUT;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failed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payment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ends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in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PAYMENT_FAILED.</a:t>
            </a:r>
            <a:r>
              <a:rPr sz="125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Both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flow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to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RELEASED</a:t>
            </a:r>
            <a:r>
              <a:rPr sz="125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and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the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unit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returns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to</a:t>
            </a:r>
            <a:r>
              <a:rPr sz="1250" spc="-2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AVAILABLE.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Payment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reliability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90" y="1273810"/>
            <a:ext cx="4493260" cy="4950460"/>
            <a:chOff x="542290" y="1273810"/>
            <a:chExt cx="4493260" cy="4950460"/>
          </a:xfrm>
        </p:grpSpPr>
        <p:sp>
          <p:nvSpPr>
            <p:cNvPr id="4" name="object 4"/>
            <p:cNvSpPr/>
            <p:nvPr/>
          </p:nvSpPr>
          <p:spPr>
            <a:xfrm>
              <a:off x="548639" y="1280160"/>
              <a:ext cx="4480560" cy="4937760"/>
            </a:xfrm>
            <a:custGeom>
              <a:avLst/>
              <a:gdLst/>
              <a:ahLst/>
              <a:cxnLst/>
              <a:rect l="l" t="t" r="r" b="b"/>
              <a:pathLst>
                <a:path w="4480560" h="4937760">
                  <a:moveTo>
                    <a:pt x="4407392" y="0"/>
                  </a:moveTo>
                  <a:lnTo>
                    <a:pt x="73167" y="0"/>
                  </a:lnTo>
                  <a:lnTo>
                    <a:pt x="44801" y="5787"/>
                  </a:lnTo>
                  <a:lnTo>
                    <a:pt x="21531" y="21531"/>
                  </a:lnTo>
                  <a:lnTo>
                    <a:pt x="5787" y="44801"/>
                  </a:lnTo>
                  <a:lnTo>
                    <a:pt x="0" y="73167"/>
                  </a:lnTo>
                  <a:lnTo>
                    <a:pt x="0" y="4864592"/>
                  </a:lnTo>
                  <a:lnTo>
                    <a:pt x="5787" y="4892958"/>
                  </a:lnTo>
                  <a:lnTo>
                    <a:pt x="21531" y="4916227"/>
                  </a:lnTo>
                  <a:lnTo>
                    <a:pt x="44801" y="4931971"/>
                  </a:lnTo>
                  <a:lnTo>
                    <a:pt x="73167" y="4937760"/>
                  </a:lnTo>
                  <a:lnTo>
                    <a:pt x="4407392" y="4937760"/>
                  </a:lnTo>
                  <a:lnTo>
                    <a:pt x="4435758" y="4931971"/>
                  </a:lnTo>
                  <a:lnTo>
                    <a:pt x="4459028" y="4916227"/>
                  </a:lnTo>
                  <a:lnTo>
                    <a:pt x="4474772" y="4892958"/>
                  </a:lnTo>
                  <a:lnTo>
                    <a:pt x="4480560" y="4864592"/>
                  </a:lnTo>
                  <a:lnTo>
                    <a:pt x="4480560" y="73167"/>
                  </a:lnTo>
                  <a:lnTo>
                    <a:pt x="4474772" y="44801"/>
                  </a:lnTo>
                  <a:lnTo>
                    <a:pt x="4459028" y="21531"/>
                  </a:lnTo>
                  <a:lnTo>
                    <a:pt x="4435758" y="5787"/>
                  </a:lnTo>
                  <a:lnTo>
                    <a:pt x="4407392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39" y="1280160"/>
              <a:ext cx="4480560" cy="4937760"/>
            </a:xfrm>
            <a:custGeom>
              <a:avLst/>
              <a:gdLst/>
              <a:ahLst/>
              <a:cxnLst/>
              <a:rect l="l" t="t" r="r" b="b"/>
              <a:pathLst>
                <a:path w="4480560" h="4937760">
                  <a:moveTo>
                    <a:pt x="0" y="73167"/>
                  </a:moveTo>
                  <a:lnTo>
                    <a:pt x="5787" y="44801"/>
                  </a:lnTo>
                  <a:lnTo>
                    <a:pt x="21531" y="21531"/>
                  </a:lnTo>
                  <a:lnTo>
                    <a:pt x="44801" y="5787"/>
                  </a:lnTo>
                  <a:lnTo>
                    <a:pt x="73167" y="0"/>
                  </a:lnTo>
                  <a:lnTo>
                    <a:pt x="4407392" y="0"/>
                  </a:lnTo>
                  <a:lnTo>
                    <a:pt x="4435758" y="5787"/>
                  </a:lnTo>
                  <a:lnTo>
                    <a:pt x="4459028" y="21531"/>
                  </a:lnTo>
                  <a:lnTo>
                    <a:pt x="4474772" y="44801"/>
                  </a:lnTo>
                  <a:lnTo>
                    <a:pt x="4480560" y="73167"/>
                  </a:lnTo>
                  <a:lnTo>
                    <a:pt x="4480560" y="4864592"/>
                  </a:lnTo>
                  <a:lnTo>
                    <a:pt x="4474772" y="4892958"/>
                  </a:lnTo>
                  <a:lnTo>
                    <a:pt x="4459028" y="4916227"/>
                  </a:lnTo>
                  <a:lnTo>
                    <a:pt x="4435758" y="4931971"/>
                  </a:lnTo>
                  <a:lnTo>
                    <a:pt x="4407392" y="4937760"/>
                  </a:lnTo>
                  <a:lnTo>
                    <a:pt x="73167" y="4937760"/>
                  </a:lnTo>
                  <a:lnTo>
                    <a:pt x="44801" y="4931971"/>
                  </a:lnTo>
                  <a:lnTo>
                    <a:pt x="21531" y="4916227"/>
                  </a:lnTo>
                  <a:lnTo>
                    <a:pt x="5787" y="4892958"/>
                  </a:lnTo>
                  <a:lnTo>
                    <a:pt x="0" y="4864592"/>
                  </a:lnTo>
                  <a:lnTo>
                    <a:pt x="0" y="73167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4539" y="1398724"/>
            <a:ext cx="3874770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Design</a:t>
            </a:r>
            <a:r>
              <a:rPr sz="1700" b="1" spc="-5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E75019"/>
                </a:solidFill>
                <a:latin typeface="Cambria"/>
                <a:cs typeface="Cambria"/>
              </a:rPr>
              <a:t>rules</a:t>
            </a:r>
            <a:endParaRPr sz="1700">
              <a:latin typeface="Cambria"/>
              <a:cs typeface="Cambria"/>
            </a:endParaRPr>
          </a:p>
          <a:p>
            <a:pPr marL="355600" marR="55880" indent="-342900">
              <a:lnSpc>
                <a:spcPct val="100000"/>
              </a:lnSpc>
              <a:spcBef>
                <a:spcPts val="1525"/>
              </a:spcBef>
              <a:buChar char="•"/>
              <a:tabLst>
                <a:tab pos="355600" algn="l"/>
              </a:tabLst>
            </a:pP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payment_ref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derived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from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reservation_id,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sent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as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the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gateway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idempotency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key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Timeout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5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s;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3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retries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with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backoff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jitter,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same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key</a:t>
            </a:r>
            <a:endParaRPr sz="1250">
              <a:latin typeface="Calibri"/>
              <a:cs typeface="Calibri"/>
            </a:endParaRPr>
          </a:p>
          <a:p>
            <a:pPr marL="355600" marR="154305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Circuit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breaker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opens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at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50%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errors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in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10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s: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fail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fast,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extend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reservation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TTL,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route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to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secondary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provider</a:t>
            </a:r>
            <a:endParaRPr sz="125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Signed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webhook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is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the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source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of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truth;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reconciler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polls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gateway</a:t>
            </a:r>
            <a:r>
              <a:rPr sz="125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for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 PENDING</a:t>
            </a:r>
            <a:r>
              <a:rPr sz="125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&gt;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2</a:t>
            </a:r>
            <a:r>
              <a:rPr sz="125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min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Hosted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fields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/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tokens</a:t>
            </a:r>
            <a:r>
              <a:rPr sz="125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11826"/>
                </a:solidFill>
                <a:latin typeface="Calibri"/>
                <a:cs typeface="Calibri"/>
              </a:rPr>
              <a:t>only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300345" y="1276985"/>
          <a:ext cx="6309360" cy="2642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Scenario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50" b="1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2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latin typeface="Calibri"/>
                          <a:cs typeface="Calibri"/>
                        </a:rPr>
                        <a:t>succeeds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644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dirty="0">
                          <a:latin typeface="Calibri"/>
                          <a:cs typeface="Calibri"/>
                        </a:rPr>
                        <a:t>Mark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PAYMENT=SUCCESS</a:t>
                      </a:r>
                      <a:r>
                        <a:rPr sz="12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2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outbox</a:t>
                      </a:r>
                      <a:r>
                        <a:rPr sz="12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event</a:t>
                      </a:r>
                      <a:r>
                        <a:rPr sz="12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50" spc="-25" dirty="0">
                          <a:latin typeface="Calibri"/>
                          <a:cs typeface="Calibri"/>
                        </a:rPr>
                        <a:t> one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transaction;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reservation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moves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CONFIRMED;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created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50" b="1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25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latin typeface="Calibri"/>
                          <a:cs typeface="Calibri"/>
                        </a:rPr>
                        <a:t>fails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85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dirty="0">
                          <a:latin typeface="Calibri"/>
                          <a:cs typeface="Calibri"/>
                        </a:rPr>
                        <a:t>Mark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PAYMENT_FAILED,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release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reservation,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notify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customer;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unit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offered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queue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50" b="1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2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times</a:t>
                      </a:r>
                      <a:r>
                        <a:rPr sz="12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25" dirty="0">
                          <a:latin typeface="Calibri"/>
                          <a:cs typeface="Calibri"/>
                        </a:rPr>
                        <a:t>out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181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dirty="0">
                          <a:latin typeface="Calibri"/>
                          <a:cs typeface="Calibri"/>
                        </a:rPr>
                        <a:t>Never</a:t>
                      </a:r>
                      <a:r>
                        <a:rPr sz="12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re-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charge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blindly: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retry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key,</a:t>
                      </a:r>
                      <a:r>
                        <a:rPr sz="12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then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reconcile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against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gateway</a:t>
                      </a:r>
                      <a:r>
                        <a:rPr sz="12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releasing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250" b="1" spc="-10" dirty="0">
                          <a:latin typeface="Calibri"/>
                          <a:cs typeface="Calibri"/>
                        </a:rPr>
                        <a:t>Duplicate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latin typeface="Calibri"/>
                          <a:cs typeface="Calibri"/>
                        </a:rPr>
                        <a:t>request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3081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779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payment_ref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result;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second transaction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90805" marR="3594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25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OK,</a:t>
                      </a:r>
                      <a:r>
                        <a:rPr sz="125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latin typeface="Calibri"/>
                          <a:cs typeface="Calibri"/>
                        </a:rPr>
                        <a:t>Order </a:t>
                      </a:r>
                      <a:r>
                        <a:rPr sz="1250" b="1" spc="-20" dirty="0">
                          <a:latin typeface="Calibri"/>
                          <a:cs typeface="Calibri"/>
                        </a:rPr>
                        <a:t>down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708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dirty="0">
                          <a:latin typeface="Calibri"/>
                          <a:cs typeface="Calibri"/>
                        </a:rPr>
                        <a:t>Event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waits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outbox/Kafka;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retry,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DLQ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reconciliation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latin typeface="Calibri"/>
                          <a:cs typeface="Calibri"/>
                        </a:rPr>
                        <a:t>(next slide)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Payment</a:t>
            </a:r>
            <a:r>
              <a:rPr spc="-3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succeeded,</a:t>
            </a:r>
            <a:r>
              <a:rPr spc="-3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Order</a:t>
            </a:r>
            <a:r>
              <a:rPr spc="-3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Service</a:t>
            </a:r>
            <a:r>
              <a:rPr spc="-30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down</a:t>
            </a:r>
            <a:r>
              <a:rPr spc="-3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for</a:t>
            </a:r>
            <a:r>
              <a:rPr spc="-3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30</a:t>
            </a:r>
            <a:r>
              <a:rPr spc="-35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seconds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90" y="1273810"/>
            <a:ext cx="1932939" cy="1109980"/>
            <a:chOff x="542290" y="1273810"/>
            <a:chExt cx="1932939" cy="1109980"/>
          </a:xfrm>
        </p:grpSpPr>
        <p:sp>
          <p:nvSpPr>
            <p:cNvPr id="4" name="object 4"/>
            <p:cNvSpPr/>
            <p:nvPr/>
          </p:nvSpPr>
          <p:spPr>
            <a:xfrm>
              <a:off x="548640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39" h="1097280">
                  <a:moveTo>
                    <a:pt x="1847084" y="0"/>
                  </a:moveTo>
                  <a:lnTo>
                    <a:pt x="73155" y="0"/>
                  </a:lnTo>
                  <a:lnTo>
                    <a:pt x="44794" y="5787"/>
                  </a:lnTo>
                  <a:lnTo>
                    <a:pt x="21528" y="21528"/>
                  </a:lnTo>
                  <a:lnTo>
                    <a:pt x="5786" y="44794"/>
                  </a:lnTo>
                  <a:lnTo>
                    <a:pt x="0" y="73154"/>
                  </a:lnTo>
                  <a:lnTo>
                    <a:pt x="0" y="1024123"/>
                  </a:lnTo>
                  <a:lnTo>
                    <a:pt x="5786" y="1052485"/>
                  </a:lnTo>
                  <a:lnTo>
                    <a:pt x="21528" y="1075751"/>
                  </a:lnTo>
                  <a:lnTo>
                    <a:pt x="44794" y="1091492"/>
                  </a:lnTo>
                  <a:lnTo>
                    <a:pt x="73155" y="1097279"/>
                  </a:lnTo>
                  <a:lnTo>
                    <a:pt x="1847084" y="1097279"/>
                  </a:lnTo>
                  <a:lnTo>
                    <a:pt x="1875445" y="1091492"/>
                  </a:lnTo>
                  <a:lnTo>
                    <a:pt x="1898711" y="1075751"/>
                  </a:lnTo>
                  <a:lnTo>
                    <a:pt x="1914452" y="1052485"/>
                  </a:lnTo>
                  <a:lnTo>
                    <a:pt x="1920239" y="1024123"/>
                  </a:lnTo>
                  <a:lnTo>
                    <a:pt x="1920239" y="73154"/>
                  </a:lnTo>
                  <a:lnTo>
                    <a:pt x="1914452" y="44794"/>
                  </a:lnTo>
                  <a:lnTo>
                    <a:pt x="1898711" y="21528"/>
                  </a:lnTo>
                  <a:lnTo>
                    <a:pt x="1875445" y="5787"/>
                  </a:lnTo>
                  <a:lnTo>
                    <a:pt x="1847084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40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39" h="1097280">
                  <a:moveTo>
                    <a:pt x="0" y="73154"/>
                  </a:moveTo>
                  <a:lnTo>
                    <a:pt x="5786" y="44794"/>
                  </a:lnTo>
                  <a:lnTo>
                    <a:pt x="21528" y="21528"/>
                  </a:lnTo>
                  <a:lnTo>
                    <a:pt x="44794" y="5787"/>
                  </a:lnTo>
                  <a:lnTo>
                    <a:pt x="73155" y="0"/>
                  </a:lnTo>
                  <a:lnTo>
                    <a:pt x="1847084" y="0"/>
                  </a:lnTo>
                  <a:lnTo>
                    <a:pt x="1875445" y="5787"/>
                  </a:lnTo>
                  <a:lnTo>
                    <a:pt x="1898711" y="21528"/>
                  </a:lnTo>
                  <a:lnTo>
                    <a:pt x="1914452" y="44794"/>
                  </a:lnTo>
                  <a:lnTo>
                    <a:pt x="1920239" y="73154"/>
                  </a:lnTo>
                  <a:lnTo>
                    <a:pt x="1920239" y="1024123"/>
                  </a:lnTo>
                  <a:lnTo>
                    <a:pt x="1914452" y="1052485"/>
                  </a:lnTo>
                  <a:lnTo>
                    <a:pt x="1898711" y="1075751"/>
                  </a:lnTo>
                  <a:lnTo>
                    <a:pt x="1875445" y="1091492"/>
                  </a:lnTo>
                  <a:lnTo>
                    <a:pt x="1847084" y="1097279"/>
                  </a:lnTo>
                  <a:lnTo>
                    <a:pt x="73155" y="1097279"/>
                  </a:lnTo>
                  <a:lnTo>
                    <a:pt x="44794" y="1091492"/>
                  </a:lnTo>
                  <a:lnTo>
                    <a:pt x="21528" y="1075751"/>
                  </a:lnTo>
                  <a:lnTo>
                    <a:pt x="5786" y="1052485"/>
                  </a:lnTo>
                  <a:lnTo>
                    <a:pt x="0" y="1024123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02163" y="1623466"/>
            <a:ext cx="1212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Gateway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webhook (signed)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57767" y="1273810"/>
            <a:ext cx="2303780" cy="1109980"/>
            <a:chOff x="2457767" y="1273810"/>
            <a:chExt cx="2303780" cy="1109980"/>
          </a:xfrm>
        </p:grpSpPr>
        <p:sp>
          <p:nvSpPr>
            <p:cNvPr id="8" name="object 8"/>
            <p:cNvSpPr/>
            <p:nvPr/>
          </p:nvSpPr>
          <p:spPr>
            <a:xfrm>
              <a:off x="2468879" y="1828800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2089" y="1781968"/>
              <a:ext cx="93662" cy="9366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34639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39" h="1097280">
                  <a:moveTo>
                    <a:pt x="1847084" y="0"/>
                  </a:moveTo>
                  <a:lnTo>
                    <a:pt x="73155" y="0"/>
                  </a:lnTo>
                  <a:lnTo>
                    <a:pt x="44794" y="5787"/>
                  </a:lnTo>
                  <a:lnTo>
                    <a:pt x="21528" y="21528"/>
                  </a:lnTo>
                  <a:lnTo>
                    <a:pt x="5786" y="44794"/>
                  </a:lnTo>
                  <a:lnTo>
                    <a:pt x="0" y="73154"/>
                  </a:lnTo>
                  <a:lnTo>
                    <a:pt x="0" y="1024123"/>
                  </a:lnTo>
                  <a:lnTo>
                    <a:pt x="5786" y="1052485"/>
                  </a:lnTo>
                  <a:lnTo>
                    <a:pt x="21528" y="1075751"/>
                  </a:lnTo>
                  <a:lnTo>
                    <a:pt x="44794" y="1091492"/>
                  </a:lnTo>
                  <a:lnTo>
                    <a:pt x="73155" y="1097279"/>
                  </a:lnTo>
                  <a:lnTo>
                    <a:pt x="1847084" y="1097279"/>
                  </a:lnTo>
                  <a:lnTo>
                    <a:pt x="1875445" y="1091492"/>
                  </a:lnTo>
                  <a:lnTo>
                    <a:pt x="1898711" y="1075751"/>
                  </a:lnTo>
                  <a:lnTo>
                    <a:pt x="1914452" y="1052485"/>
                  </a:lnTo>
                  <a:lnTo>
                    <a:pt x="1920239" y="1024123"/>
                  </a:lnTo>
                  <a:lnTo>
                    <a:pt x="1920239" y="73154"/>
                  </a:lnTo>
                  <a:lnTo>
                    <a:pt x="1914452" y="44794"/>
                  </a:lnTo>
                  <a:lnTo>
                    <a:pt x="1898711" y="21528"/>
                  </a:lnTo>
                  <a:lnTo>
                    <a:pt x="1875445" y="5787"/>
                  </a:lnTo>
                  <a:lnTo>
                    <a:pt x="1847084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4639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39" h="1097280">
                  <a:moveTo>
                    <a:pt x="0" y="73154"/>
                  </a:moveTo>
                  <a:lnTo>
                    <a:pt x="5786" y="44794"/>
                  </a:lnTo>
                  <a:lnTo>
                    <a:pt x="21528" y="21528"/>
                  </a:lnTo>
                  <a:lnTo>
                    <a:pt x="44794" y="5787"/>
                  </a:lnTo>
                  <a:lnTo>
                    <a:pt x="73155" y="0"/>
                  </a:lnTo>
                  <a:lnTo>
                    <a:pt x="1847084" y="0"/>
                  </a:lnTo>
                  <a:lnTo>
                    <a:pt x="1875445" y="5787"/>
                  </a:lnTo>
                  <a:lnTo>
                    <a:pt x="1898711" y="21528"/>
                  </a:lnTo>
                  <a:lnTo>
                    <a:pt x="1914452" y="44794"/>
                  </a:lnTo>
                  <a:lnTo>
                    <a:pt x="1920239" y="73154"/>
                  </a:lnTo>
                  <a:lnTo>
                    <a:pt x="1920239" y="1024123"/>
                  </a:lnTo>
                  <a:lnTo>
                    <a:pt x="1914452" y="1052485"/>
                  </a:lnTo>
                  <a:lnTo>
                    <a:pt x="1898711" y="1075751"/>
                  </a:lnTo>
                  <a:lnTo>
                    <a:pt x="1875445" y="1091492"/>
                  </a:lnTo>
                  <a:lnTo>
                    <a:pt x="1847084" y="1097279"/>
                  </a:lnTo>
                  <a:lnTo>
                    <a:pt x="73155" y="1097279"/>
                  </a:lnTo>
                  <a:lnTo>
                    <a:pt x="44794" y="1091492"/>
                  </a:lnTo>
                  <a:lnTo>
                    <a:pt x="21528" y="1075751"/>
                  </a:lnTo>
                  <a:lnTo>
                    <a:pt x="5786" y="1052485"/>
                  </a:lnTo>
                  <a:lnTo>
                    <a:pt x="0" y="1024123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50660" y="1532026"/>
            <a:ext cx="1287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Payment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Service PAYMENT=SUCCESS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outbox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row,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txn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43767" y="1273810"/>
            <a:ext cx="2303780" cy="1109980"/>
            <a:chOff x="4743767" y="1273810"/>
            <a:chExt cx="2303780" cy="1109980"/>
          </a:xfrm>
        </p:grpSpPr>
        <p:sp>
          <p:nvSpPr>
            <p:cNvPr id="14" name="object 14"/>
            <p:cNvSpPr/>
            <p:nvPr/>
          </p:nvSpPr>
          <p:spPr>
            <a:xfrm>
              <a:off x="4754879" y="1828800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8089" y="1781968"/>
              <a:ext cx="93662" cy="936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20639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40" h="1097280">
                  <a:moveTo>
                    <a:pt x="1847084" y="0"/>
                  </a:moveTo>
                  <a:lnTo>
                    <a:pt x="73155" y="0"/>
                  </a:lnTo>
                  <a:lnTo>
                    <a:pt x="44794" y="5787"/>
                  </a:lnTo>
                  <a:lnTo>
                    <a:pt x="21528" y="21528"/>
                  </a:lnTo>
                  <a:lnTo>
                    <a:pt x="5786" y="44794"/>
                  </a:lnTo>
                  <a:lnTo>
                    <a:pt x="0" y="73154"/>
                  </a:lnTo>
                  <a:lnTo>
                    <a:pt x="0" y="1024123"/>
                  </a:lnTo>
                  <a:lnTo>
                    <a:pt x="5786" y="1052485"/>
                  </a:lnTo>
                  <a:lnTo>
                    <a:pt x="21528" y="1075751"/>
                  </a:lnTo>
                  <a:lnTo>
                    <a:pt x="44794" y="1091492"/>
                  </a:lnTo>
                  <a:lnTo>
                    <a:pt x="73155" y="1097279"/>
                  </a:lnTo>
                  <a:lnTo>
                    <a:pt x="1847084" y="1097279"/>
                  </a:lnTo>
                  <a:lnTo>
                    <a:pt x="1875445" y="1091492"/>
                  </a:lnTo>
                  <a:lnTo>
                    <a:pt x="1898711" y="1075751"/>
                  </a:lnTo>
                  <a:lnTo>
                    <a:pt x="1914452" y="1052485"/>
                  </a:lnTo>
                  <a:lnTo>
                    <a:pt x="1920239" y="1024123"/>
                  </a:lnTo>
                  <a:lnTo>
                    <a:pt x="1920239" y="73154"/>
                  </a:lnTo>
                  <a:lnTo>
                    <a:pt x="1914452" y="44794"/>
                  </a:lnTo>
                  <a:lnTo>
                    <a:pt x="1898711" y="21528"/>
                  </a:lnTo>
                  <a:lnTo>
                    <a:pt x="1875445" y="5787"/>
                  </a:lnTo>
                  <a:lnTo>
                    <a:pt x="1847084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20639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40" h="1097280">
                  <a:moveTo>
                    <a:pt x="0" y="73154"/>
                  </a:moveTo>
                  <a:lnTo>
                    <a:pt x="5786" y="44794"/>
                  </a:lnTo>
                  <a:lnTo>
                    <a:pt x="21528" y="21528"/>
                  </a:lnTo>
                  <a:lnTo>
                    <a:pt x="44794" y="5787"/>
                  </a:lnTo>
                  <a:lnTo>
                    <a:pt x="73155" y="0"/>
                  </a:lnTo>
                  <a:lnTo>
                    <a:pt x="1847084" y="0"/>
                  </a:lnTo>
                  <a:lnTo>
                    <a:pt x="1875445" y="5787"/>
                  </a:lnTo>
                  <a:lnTo>
                    <a:pt x="1898711" y="21528"/>
                  </a:lnTo>
                  <a:lnTo>
                    <a:pt x="1914452" y="44794"/>
                  </a:lnTo>
                  <a:lnTo>
                    <a:pt x="1920239" y="73154"/>
                  </a:lnTo>
                  <a:lnTo>
                    <a:pt x="1920239" y="1024123"/>
                  </a:lnTo>
                  <a:lnTo>
                    <a:pt x="1914452" y="1052485"/>
                  </a:lnTo>
                  <a:lnTo>
                    <a:pt x="1898711" y="1075751"/>
                  </a:lnTo>
                  <a:lnTo>
                    <a:pt x="1875445" y="1091492"/>
                  </a:lnTo>
                  <a:lnTo>
                    <a:pt x="1847084" y="1097279"/>
                  </a:lnTo>
                  <a:lnTo>
                    <a:pt x="73155" y="1097279"/>
                  </a:lnTo>
                  <a:lnTo>
                    <a:pt x="44794" y="1091492"/>
                  </a:lnTo>
                  <a:lnTo>
                    <a:pt x="21528" y="1075751"/>
                  </a:lnTo>
                  <a:lnTo>
                    <a:pt x="5786" y="1052485"/>
                  </a:lnTo>
                  <a:lnTo>
                    <a:pt x="0" y="1024123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48789" y="1623466"/>
            <a:ext cx="1263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132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Kafka PaymentSucceeded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29767" y="1273810"/>
            <a:ext cx="2303780" cy="1109980"/>
            <a:chOff x="7029767" y="1273810"/>
            <a:chExt cx="2303780" cy="1109980"/>
          </a:xfrm>
        </p:grpSpPr>
        <p:sp>
          <p:nvSpPr>
            <p:cNvPr id="20" name="object 20"/>
            <p:cNvSpPr/>
            <p:nvPr/>
          </p:nvSpPr>
          <p:spPr>
            <a:xfrm>
              <a:off x="7040880" y="1828800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59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4090" y="1781968"/>
              <a:ext cx="93662" cy="936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406640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40" h="1097280">
                  <a:moveTo>
                    <a:pt x="1847084" y="0"/>
                  </a:moveTo>
                  <a:lnTo>
                    <a:pt x="73155" y="0"/>
                  </a:lnTo>
                  <a:lnTo>
                    <a:pt x="44794" y="5787"/>
                  </a:lnTo>
                  <a:lnTo>
                    <a:pt x="21528" y="21528"/>
                  </a:lnTo>
                  <a:lnTo>
                    <a:pt x="5786" y="44794"/>
                  </a:lnTo>
                  <a:lnTo>
                    <a:pt x="0" y="73154"/>
                  </a:lnTo>
                  <a:lnTo>
                    <a:pt x="0" y="1024123"/>
                  </a:lnTo>
                  <a:lnTo>
                    <a:pt x="5786" y="1052485"/>
                  </a:lnTo>
                  <a:lnTo>
                    <a:pt x="21528" y="1075751"/>
                  </a:lnTo>
                  <a:lnTo>
                    <a:pt x="44794" y="1091492"/>
                  </a:lnTo>
                  <a:lnTo>
                    <a:pt x="73155" y="1097279"/>
                  </a:lnTo>
                  <a:lnTo>
                    <a:pt x="1847084" y="1097279"/>
                  </a:lnTo>
                  <a:lnTo>
                    <a:pt x="1875445" y="1091492"/>
                  </a:lnTo>
                  <a:lnTo>
                    <a:pt x="1898711" y="1075751"/>
                  </a:lnTo>
                  <a:lnTo>
                    <a:pt x="1914452" y="1052485"/>
                  </a:lnTo>
                  <a:lnTo>
                    <a:pt x="1920239" y="1024123"/>
                  </a:lnTo>
                  <a:lnTo>
                    <a:pt x="1920239" y="73154"/>
                  </a:lnTo>
                  <a:lnTo>
                    <a:pt x="1914452" y="44794"/>
                  </a:lnTo>
                  <a:lnTo>
                    <a:pt x="1898711" y="21528"/>
                  </a:lnTo>
                  <a:lnTo>
                    <a:pt x="1875445" y="5787"/>
                  </a:lnTo>
                  <a:lnTo>
                    <a:pt x="1847084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06640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40" h="1097280">
                  <a:moveTo>
                    <a:pt x="0" y="73154"/>
                  </a:moveTo>
                  <a:lnTo>
                    <a:pt x="5786" y="44794"/>
                  </a:lnTo>
                  <a:lnTo>
                    <a:pt x="21528" y="21528"/>
                  </a:lnTo>
                  <a:lnTo>
                    <a:pt x="44794" y="5787"/>
                  </a:lnTo>
                  <a:lnTo>
                    <a:pt x="73155" y="0"/>
                  </a:lnTo>
                  <a:lnTo>
                    <a:pt x="1847084" y="0"/>
                  </a:lnTo>
                  <a:lnTo>
                    <a:pt x="1875445" y="5787"/>
                  </a:lnTo>
                  <a:lnTo>
                    <a:pt x="1898711" y="21528"/>
                  </a:lnTo>
                  <a:lnTo>
                    <a:pt x="1914452" y="44794"/>
                  </a:lnTo>
                  <a:lnTo>
                    <a:pt x="1920239" y="73154"/>
                  </a:lnTo>
                  <a:lnTo>
                    <a:pt x="1920239" y="1024123"/>
                  </a:lnTo>
                  <a:lnTo>
                    <a:pt x="1914452" y="1052485"/>
                  </a:lnTo>
                  <a:lnTo>
                    <a:pt x="1898711" y="1075751"/>
                  </a:lnTo>
                  <a:lnTo>
                    <a:pt x="1875445" y="1091492"/>
                  </a:lnTo>
                  <a:lnTo>
                    <a:pt x="1847084" y="1097279"/>
                  </a:lnTo>
                  <a:lnTo>
                    <a:pt x="73155" y="1097279"/>
                  </a:lnTo>
                  <a:lnTo>
                    <a:pt x="44794" y="1091492"/>
                  </a:lnTo>
                  <a:lnTo>
                    <a:pt x="21528" y="1075751"/>
                  </a:lnTo>
                  <a:lnTo>
                    <a:pt x="5786" y="1052485"/>
                  </a:lnTo>
                  <a:lnTo>
                    <a:pt x="0" y="1024123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839601" y="1532026"/>
            <a:ext cx="1054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975" marR="5080" indent="-41910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consumer idempotent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payment_ref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326880" y="1273810"/>
            <a:ext cx="2292350" cy="1109980"/>
            <a:chOff x="9326880" y="1273810"/>
            <a:chExt cx="2292350" cy="1109980"/>
          </a:xfrm>
        </p:grpSpPr>
        <p:sp>
          <p:nvSpPr>
            <p:cNvPr id="26" name="object 26"/>
            <p:cNvSpPr/>
            <p:nvPr/>
          </p:nvSpPr>
          <p:spPr>
            <a:xfrm>
              <a:off x="9326880" y="1828800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59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ln w="22225">
              <a:solidFill>
                <a:srgbClr val="5A65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10090" y="1781968"/>
              <a:ext cx="93662" cy="9366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692640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40" h="1097280">
                  <a:moveTo>
                    <a:pt x="1847084" y="0"/>
                  </a:moveTo>
                  <a:lnTo>
                    <a:pt x="73155" y="0"/>
                  </a:lnTo>
                  <a:lnTo>
                    <a:pt x="44794" y="5787"/>
                  </a:lnTo>
                  <a:lnTo>
                    <a:pt x="21528" y="21528"/>
                  </a:lnTo>
                  <a:lnTo>
                    <a:pt x="5786" y="44794"/>
                  </a:lnTo>
                  <a:lnTo>
                    <a:pt x="0" y="73154"/>
                  </a:lnTo>
                  <a:lnTo>
                    <a:pt x="0" y="1024123"/>
                  </a:lnTo>
                  <a:lnTo>
                    <a:pt x="5786" y="1052485"/>
                  </a:lnTo>
                  <a:lnTo>
                    <a:pt x="21528" y="1075751"/>
                  </a:lnTo>
                  <a:lnTo>
                    <a:pt x="44794" y="1091492"/>
                  </a:lnTo>
                  <a:lnTo>
                    <a:pt x="73155" y="1097279"/>
                  </a:lnTo>
                  <a:lnTo>
                    <a:pt x="1847084" y="1097279"/>
                  </a:lnTo>
                  <a:lnTo>
                    <a:pt x="1875445" y="1091492"/>
                  </a:lnTo>
                  <a:lnTo>
                    <a:pt x="1898711" y="1075751"/>
                  </a:lnTo>
                  <a:lnTo>
                    <a:pt x="1914452" y="1052485"/>
                  </a:lnTo>
                  <a:lnTo>
                    <a:pt x="1920239" y="1024123"/>
                  </a:lnTo>
                  <a:lnTo>
                    <a:pt x="1920239" y="73154"/>
                  </a:lnTo>
                  <a:lnTo>
                    <a:pt x="1914452" y="44794"/>
                  </a:lnTo>
                  <a:lnTo>
                    <a:pt x="1898711" y="21528"/>
                  </a:lnTo>
                  <a:lnTo>
                    <a:pt x="1875445" y="5787"/>
                  </a:lnTo>
                  <a:lnTo>
                    <a:pt x="1847084" y="0"/>
                  </a:lnTo>
                  <a:close/>
                </a:path>
              </a:pathLst>
            </a:custGeom>
            <a:solidFill>
              <a:srgbClr val="0D8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92640" y="1280160"/>
              <a:ext cx="1920239" cy="1097280"/>
            </a:xfrm>
            <a:custGeom>
              <a:avLst/>
              <a:gdLst/>
              <a:ahLst/>
              <a:cxnLst/>
              <a:rect l="l" t="t" r="r" b="b"/>
              <a:pathLst>
                <a:path w="1920240" h="1097280">
                  <a:moveTo>
                    <a:pt x="0" y="73154"/>
                  </a:moveTo>
                  <a:lnTo>
                    <a:pt x="5786" y="44794"/>
                  </a:lnTo>
                  <a:lnTo>
                    <a:pt x="21528" y="21528"/>
                  </a:lnTo>
                  <a:lnTo>
                    <a:pt x="44794" y="5787"/>
                  </a:lnTo>
                  <a:lnTo>
                    <a:pt x="73155" y="0"/>
                  </a:lnTo>
                  <a:lnTo>
                    <a:pt x="1847084" y="0"/>
                  </a:lnTo>
                  <a:lnTo>
                    <a:pt x="1875445" y="5787"/>
                  </a:lnTo>
                  <a:lnTo>
                    <a:pt x="1898711" y="21528"/>
                  </a:lnTo>
                  <a:lnTo>
                    <a:pt x="1914452" y="44794"/>
                  </a:lnTo>
                  <a:lnTo>
                    <a:pt x="1920239" y="73154"/>
                  </a:lnTo>
                  <a:lnTo>
                    <a:pt x="1920239" y="1024123"/>
                  </a:lnTo>
                  <a:lnTo>
                    <a:pt x="1914452" y="1052485"/>
                  </a:lnTo>
                  <a:lnTo>
                    <a:pt x="1898711" y="1075751"/>
                  </a:lnTo>
                  <a:lnTo>
                    <a:pt x="1875445" y="1091492"/>
                  </a:lnTo>
                  <a:lnTo>
                    <a:pt x="1847084" y="1097279"/>
                  </a:lnTo>
                  <a:lnTo>
                    <a:pt x="73155" y="1097279"/>
                  </a:lnTo>
                  <a:lnTo>
                    <a:pt x="44794" y="1091492"/>
                  </a:lnTo>
                  <a:lnTo>
                    <a:pt x="21528" y="1075751"/>
                  </a:lnTo>
                  <a:lnTo>
                    <a:pt x="5786" y="1052485"/>
                  </a:lnTo>
                  <a:lnTo>
                    <a:pt x="0" y="1024123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0D8E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990837" y="1623466"/>
            <a:ext cx="1323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CONFIRMED</a:t>
            </a:r>
            <a:endParaRPr sz="120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Reservation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SOLD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2289" y="2691130"/>
            <a:ext cx="5453380" cy="2024380"/>
            <a:chOff x="542289" y="2691130"/>
            <a:chExt cx="5453380" cy="2024380"/>
          </a:xfrm>
        </p:grpSpPr>
        <p:sp>
          <p:nvSpPr>
            <p:cNvPr id="32" name="object 32"/>
            <p:cNvSpPr/>
            <p:nvPr/>
          </p:nvSpPr>
          <p:spPr>
            <a:xfrm>
              <a:off x="548639" y="2697479"/>
              <a:ext cx="5440680" cy="2011680"/>
            </a:xfrm>
            <a:custGeom>
              <a:avLst/>
              <a:gdLst/>
              <a:ahLst/>
              <a:cxnLst/>
              <a:rect l="l" t="t" r="r" b="b"/>
              <a:pathLst>
                <a:path w="5440680" h="2011679">
                  <a:moveTo>
                    <a:pt x="5367535" y="0"/>
                  </a:moveTo>
                  <a:lnTo>
                    <a:pt x="73144" y="0"/>
                  </a:lnTo>
                  <a:lnTo>
                    <a:pt x="44787" y="5786"/>
                  </a:lnTo>
                  <a:lnTo>
                    <a:pt x="21524" y="21524"/>
                  </a:lnTo>
                  <a:lnTo>
                    <a:pt x="5786" y="44787"/>
                  </a:lnTo>
                  <a:lnTo>
                    <a:pt x="0" y="73144"/>
                  </a:lnTo>
                  <a:lnTo>
                    <a:pt x="0" y="1938534"/>
                  </a:lnTo>
                  <a:lnTo>
                    <a:pt x="5786" y="1966892"/>
                  </a:lnTo>
                  <a:lnTo>
                    <a:pt x="21524" y="1990154"/>
                  </a:lnTo>
                  <a:lnTo>
                    <a:pt x="44787" y="2005893"/>
                  </a:lnTo>
                  <a:lnTo>
                    <a:pt x="73144" y="2011679"/>
                  </a:lnTo>
                  <a:lnTo>
                    <a:pt x="5367535" y="2011679"/>
                  </a:lnTo>
                  <a:lnTo>
                    <a:pt x="5395892" y="2005893"/>
                  </a:lnTo>
                  <a:lnTo>
                    <a:pt x="5419154" y="1990154"/>
                  </a:lnTo>
                  <a:lnTo>
                    <a:pt x="5434893" y="1966892"/>
                  </a:lnTo>
                  <a:lnTo>
                    <a:pt x="5440680" y="1938534"/>
                  </a:lnTo>
                  <a:lnTo>
                    <a:pt x="5440680" y="73144"/>
                  </a:lnTo>
                  <a:lnTo>
                    <a:pt x="5434893" y="44787"/>
                  </a:lnTo>
                  <a:lnTo>
                    <a:pt x="5419154" y="21524"/>
                  </a:lnTo>
                  <a:lnTo>
                    <a:pt x="5395892" y="5786"/>
                  </a:lnTo>
                  <a:lnTo>
                    <a:pt x="5367535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8639" y="2697479"/>
              <a:ext cx="5440680" cy="2011680"/>
            </a:xfrm>
            <a:custGeom>
              <a:avLst/>
              <a:gdLst/>
              <a:ahLst/>
              <a:cxnLst/>
              <a:rect l="l" t="t" r="r" b="b"/>
              <a:pathLst>
                <a:path w="5440680" h="2011679">
                  <a:moveTo>
                    <a:pt x="0" y="73144"/>
                  </a:moveTo>
                  <a:lnTo>
                    <a:pt x="5786" y="44787"/>
                  </a:lnTo>
                  <a:lnTo>
                    <a:pt x="21524" y="21524"/>
                  </a:lnTo>
                  <a:lnTo>
                    <a:pt x="44787" y="5786"/>
                  </a:lnTo>
                  <a:lnTo>
                    <a:pt x="73144" y="0"/>
                  </a:lnTo>
                  <a:lnTo>
                    <a:pt x="5367535" y="0"/>
                  </a:lnTo>
                  <a:lnTo>
                    <a:pt x="5395892" y="5786"/>
                  </a:lnTo>
                  <a:lnTo>
                    <a:pt x="5419154" y="21524"/>
                  </a:lnTo>
                  <a:lnTo>
                    <a:pt x="5434893" y="44787"/>
                  </a:lnTo>
                  <a:lnTo>
                    <a:pt x="5440680" y="73144"/>
                  </a:lnTo>
                  <a:lnTo>
                    <a:pt x="5440680" y="1938534"/>
                  </a:lnTo>
                  <a:lnTo>
                    <a:pt x="5434893" y="1966892"/>
                  </a:lnTo>
                  <a:lnTo>
                    <a:pt x="5419154" y="1990154"/>
                  </a:lnTo>
                  <a:lnTo>
                    <a:pt x="5395892" y="2005893"/>
                  </a:lnTo>
                  <a:lnTo>
                    <a:pt x="5367535" y="2011679"/>
                  </a:lnTo>
                  <a:lnTo>
                    <a:pt x="73144" y="2011679"/>
                  </a:lnTo>
                  <a:lnTo>
                    <a:pt x="44787" y="2005893"/>
                  </a:lnTo>
                  <a:lnTo>
                    <a:pt x="21524" y="1990154"/>
                  </a:lnTo>
                  <a:lnTo>
                    <a:pt x="5786" y="1966892"/>
                  </a:lnTo>
                  <a:lnTo>
                    <a:pt x="0" y="1938534"/>
                  </a:lnTo>
                  <a:lnTo>
                    <a:pt x="0" y="73144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64540" y="2816044"/>
            <a:ext cx="18072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During</a:t>
            </a:r>
            <a:r>
              <a:rPr sz="1700" b="1" spc="-35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the</a:t>
            </a:r>
            <a:r>
              <a:rPr sz="1700" b="1" spc="-30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E75019"/>
                </a:solidFill>
                <a:latin typeface="Cambria"/>
                <a:cs typeface="Cambria"/>
              </a:rPr>
              <a:t>outage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4540" y="3205886"/>
            <a:ext cx="4950460" cy="94741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Payment</a:t>
            </a:r>
            <a:r>
              <a:rPr sz="120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is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durable;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customer</a:t>
            </a:r>
            <a:r>
              <a:rPr sz="120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sees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"Payment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received,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confirming</a:t>
            </a:r>
            <a:r>
              <a:rPr sz="120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order"</a:t>
            </a:r>
            <a:endParaRPr sz="1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Event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waits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in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Kafka;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consumer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retries,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then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creates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order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(unique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per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payment_ref)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Reservation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is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already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CONFIRMED,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so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stock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stays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held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65850" y="2691130"/>
            <a:ext cx="5453380" cy="2024380"/>
            <a:chOff x="6165850" y="2691130"/>
            <a:chExt cx="5453380" cy="2024380"/>
          </a:xfrm>
        </p:grpSpPr>
        <p:sp>
          <p:nvSpPr>
            <p:cNvPr id="37" name="object 37"/>
            <p:cNvSpPr/>
            <p:nvPr/>
          </p:nvSpPr>
          <p:spPr>
            <a:xfrm>
              <a:off x="6172199" y="2697479"/>
              <a:ext cx="5440680" cy="2011680"/>
            </a:xfrm>
            <a:custGeom>
              <a:avLst/>
              <a:gdLst/>
              <a:ahLst/>
              <a:cxnLst/>
              <a:rect l="l" t="t" r="r" b="b"/>
              <a:pathLst>
                <a:path w="5440680" h="2011679">
                  <a:moveTo>
                    <a:pt x="5367535" y="0"/>
                  </a:moveTo>
                  <a:lnTo>
                    <a:pt x="73144" y="0"/>
                  </a:lnTo>
                  <a:lnTo>
                    <a:pt x="44787" y="5786"/>
                  </a:lnTo>
                  <a:lnTo>
                    <a:pt x="21524" y="21524"/>
                  </a:lnTo>
                  <a:lnTo>
                    <a:pt x="5786" y="44787"/>
                  </a:lnTo>
                  <a:lnTo>
                    <a:pt x="0" y="73144"/>
                  </a:lnTo>
                  <a:lnTo>
                    <a:pt x="0" y="1938534"/>
                  </a:lnTo>
                  <a:lnTo>
                    <a:pt x="5786" y="1966892"/>
                  </a:lnTo>
                  <a:lnTo>
                    <a:pt x="21524" y="1990154"/>
                  </a:lnTo>
                  <a:lnTo>
                    <a:pt x="44787" y="2005893"/>
                  </a:lnTo>
                  <a:lnTo>
                    <a:pt x="73144" y="2011679"/>
                  </a:lnTo>
                  <a:lnTo>
                    <a:pt x="5367535" y="2011679"/>
                  </a:lnTo>
                  <a:lnTo>
                    <a:pt x="5395892" y="2005893"/>
                  </a:lnTo>
                  <a:lnTo>
                    <a:pt x="5419154" y="1990154"/>
                  </a:lnTo>
                  <a:lnTo>
                    <a:pt x="5434893" y="1966892"/>
                  </a:lnTo>
                  <a:lnTo>
                    <a:pt x="5440680" y="1938534"/>
                  </a:lnTo>
                  <a:lnTo>
                    <a:pt x="5440680" y="73144"/>
                  </a:lnTo>
                  <a:lnTo>
                    <a:pt x="5434893" y="44787"/>
                  </a:lnTo>
                  <a:lnTo>
                    <a:pt x="5419154" y="21524"/>
                  </a:lnTo>
                  <a:lnTo>
                    <a:pt x="5395892" y="5786"/>
                  </a:lnTo>
                  <a:lnTo>
                    <a:pt x="5367535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72199" y="2697479"/>
              <a:ext cx="5440680" cy="2011680"/>
            </a:xfrm>
            <a:custGeom>
              <a:avLst/>
              <a:gdLst/>
              <a:ahLst/>
              <a:cxnLst/>
              <a:rect l="l" t="t" r="r" b="b"/>
              <a:pathLst>
                <a:path w="5440680" h="2011679">
                  <a:moveTo>
                    <a:pt x="0" y="73144"/>
                  </a:moveTo>
                  <a:lnTo>
                    <a:pt x="5786" y="44787"/>
                  </a:lnTo>
                  <a:lnTo>
                    <a:pt x="21524" y="21524"/>
                  </a:lnTo>
                  <a:lnTo>
                    <a:pt x="44787" y="5786"/>
                  </a:lnTo>
                  <a:lnTo>
                    <a:pt x="73144" y="0"/>
                  </a:lnTo>
                  <a:lnTo>
                    <a:pt x="5367535" y="0"/>
                  </a:lnTo>
                  <a:lnTo>
                    <a:pt x="5395892" y="5786"/>
                  </a:lnTo>
                  <a:lnTo>
                    <a:pt x="5419154" y="21524"/>
                  </a:lnTo>
                  <a:lnTo>
                    <a:pt x="5434893" y="44787"/>
                  </a:lnTo>
                  <a:lnTo>
                    <a:pt x="5440680" y="73144"/>
                  </a:lnTo>
                  <a:lnTo>
                    <a:pt x="5440680" y="1938534"/>
                  </a:lnTo>
                  <a:lnTo>
                    <a:pt x="5434893" y="1966892"/>
                  </a:lnTo>
                  <a:lnTo>
                    <a:pt x="5419154" y="1990154"/>
                  </a:lnTo>
                  <a:lnTo>
                    <a:pt x="5395892" y="2005893"/>
                  </a:lnTo>
                  <a:lnTo>
                    <a:pt x="5367535" y="2011679"/>
                  </a:lnTo>
                  <a:lnTo>
                    <a:pt x="73144" y="2011679"/>
                  </a:lnTo>
                  <a:lnTo>
                    <a:pt x="44787" y="2005893"/>
                  </a:lnTo>
                  <a:lnTo>
                    <a:pt x="21524" y="1990154"/>
                  </a:lnTo>
                  <a:lnTo>
                    <a:pt x="5786" y="1966892"/>
                  </a:lnTo>
                  <a:lnTo>
                    <a:pt x="0" y="1938534"/>
                  </a:lnTo>
                  <a:lnTo>
                    <a:pt x="0" y="73144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388100" y="2816044"/>
            <a:ext cx="23406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B02A5A"/>
                </a:solidFill>
                <a:latin typeface="Cambria"/>
                <a:cs typeface="Cambria"/>
              </a:rPr>
              <a:t>If</a:t>
            </a:r>
            <a:r>
              <a:rPr sz="1700" b="1" spc="-40" dirty="0">
                <a:solidFill>
                  <a:srgbClr val="B02A5A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B02A5A"/>
                </a:solidFill>
                <a:latin typeface="Cambria"/>
                <a:cs typeface="Cambria"/>
              </a:rPr>
              <a:t>retries</a:t>
            </a:r>
            <a:r>
              <a:rPr sz="1700" b="1" spc="-35" dirty="0">
                <a:solidFill>
                  <a:srgbClr val="B02A5A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B02A5A"/>
                </a:solidFill>
                <a:latin typeface="Cambria"/>
                <a:cs typeface="Cambria"/>
              </a:rPr>
              <a:t>are</a:t>
            </a:r>
            <a:r>
              <a:rPr sz="1700" b="1" spc="-35" dirty="0">
                <a:solidFill>
                  <a:srgbClr val="B02A5A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B02A5A"/>
                </a:solidFill>
                <a:latin typeface="Cambria"/>
                <a:cs typeface="Cambria"/>
              </a:rPr>
              <a:t>exhausted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88100" y="3205886"/>
            <a:ext cx="4842510" cy="94741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After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3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failures: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dead-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letter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queue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alert</a:t>
            </a:r>
            <a:endParaRPr sz="1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Reconciler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every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minute: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payment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SUCCESS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without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order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&gt;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60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gets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an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order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Unrecoverable:</a:t>
            </a:r>
            <a:r>
              <a:rPr sz="1200" spc="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refund</a:t>
            </a:r>
            <a:r>
              <a:rPr sz="1200" spc="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(compensation)</a:t>
            </a:r>
            <a:r>
              <a:rPr sz="1200" spc="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notification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42289" y="5022849"/>
            <a:ext cx="1430020" cy="607060"/>
            <a:chOff x="542289" y="5022849"/>
            <a:chExt cx="1430020" cy="607060"/>
          </a:xfrm>
        </p:grpSpPr>
        <p:sp>
          <p:nvSpPr>
            <p:cNvPr id="42" name="object 42"/>
            <p:cNvSpPr/>
            <p:nvPr/>
          </p:nvSpPr>
          <p:spPr>
            <a:xfrm>
              <a:off x="548639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134416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521205"/>
                  </a:lnTo>
                  <a:lnTo>
                    <a:pt x="5786" y="549566"/>
                  </a:lnTo>
                  <a:lnTo>
                    <a:pt x="21527" y="572831"/>
                  </a:lnTo>
                  <a:lnTo>
                    <a:pt x="44793" y="588573"/>
                  </a:lnTo>
                  <a:lnTo>
                    <a:pt x="73153" y="594360"/>
                  </a:lnTo>
                  <a:lnTo>
                    <a:pt x="1344165" y="594360"/>
                  </a:lnTo>
                  <a:lnTo>
                    <a:pt x="1372526" y="588573"/>
                  </a:lnTo>
                  <a:lnTo>
                    <a:pt x="1395791" y="572831"/>
                  </a:lnTo>
                  <a:lnTo>
                    <a:pt x="1411532" y="549566"/>
                  </a:lnTo>
                  <a:lnTo>
                    <a:pt x="1417319" y="521205"/>
                  </a:lnTo>
                  <a:lnTo>
                    <a:pt x="1417319" y="73153"/>
                  </a:lnTo>
                  <a:lnTo>
                    <a:pt x="1411532" y="44792"/>
                  </a:lnTo>
                  <a:lnTo>
                    <a:pt x="1395791" y="21527"/>
                  </a:lnTo>
                  <a:lnTo>
                    <a:pt x="1372526" y="5786"/>
                  </a:lnTo>
                  <a:lnTo>
                    <a:pt x="134416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8639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1344165" y="0"/>
                  </a:lnTo>
                  <a:lnTo>
                    <a:pt x="1372526" y="5786"/>
                  </a:lnTo>
                  <a:lnTo>
                    <a:pt x="1395791" y="21527"/>
                  </a:lnTo>
                  <a:lnTo>
                    <a:pt x="1411532" y="44792"/>
                  </a:lnTo>
                  <a:lnTo>
                    <a:pt x="1417319" y="73153"/>
                  </a:lnTo>
                  <a:lnTo>
                    <a:pt x="1417319" y="521205"/>
                  </a:lnTo>
                  <a:lnTo>
                    <a:pt x="1411532" y="549566"/>
                  </a:lnTo>
                  <a:lnTo>
                    <a:pt x="1395791" y="572831"/>
                  </a:lnTo>
                  <a:lnTo>
                    <a:pt x="1372526" y="588573"/>
                  </a:lnTo>
                  <a:lnTo>
                    <a:pt x="1344165" y="594360"/>
                  </a:lnTo>
                  <a:lnTo>
                    <a:pt x="73153" y="594360"/>
                  </a:lnTo>
                  <a:lnTo>
                    <a:pt x="44793" y="588573"/>
                  </a:lnTo>
                  <a:lnTo>
                    <a:pt x="21527" y="572831"/>
                  </a:lnTo>
                  <a:lnTo>
                    <a:pt x="5786" y="549566"/>
                  </a:lnTo>
                  <a:lnTo>
                    <a:pt x="0" y="52120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91464" y="5225134"/>
            <a:ext cx="5321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965960" y="5022849"/>
            <a:ext cx="1616075" cy="607060"/>
            <a:chOff x="1965960" y="5022849"/>
            <a:chExt cx="1616075" cy="607060"/>
          </a:xfrm>
        </p:grpSpPr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5960" y="5274976"/>
              <a:ext cx="203136" cy="9366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157984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134416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521205"/>
                  </a:lnTo>
                  <a:lnTo>
                    <a:pt x="5786" y="549566"/>
                  </a:lnTo>
                  <a:lnTo>
                    <a:pt x="21527" y="572831"/>
                  </a:lnTo>
                  <a:lnTo>
                    <a:pt x="44793" y="588573"/>
                  </a:lnTo>
                  <a:lnTo>
                    <a:pt x="73153" y="594360"/>
                  </a:lnTo>
                  <a:lnTo>
                    <a:pt x="1344165" y="594360"/>
                  </a:lnTo>
                  <a:lnTo>
                    <a:pt x="1372526" y="588573"/>
                  </a:lnTo>
                  <a:lnTo>
                    <a:pt x="1395791" y="572831"/>
                  </a:lnTo>
                  <a:lnTo>
                    <a:pt x="1411532" y="549566"/>
                  </a:lnTo>
                  <a:lnTo>
                    <a:pt x="1417319" y="521205"/>
                  </a:lnTo>
                  <a:lnTo>
                    <a:pt x="1417319" y="73153"/>
                  </a:lnTo>
                  <a:lnTo>
                    <a:pt x="1411532" y="44792"/>
                  </a:lnTo>
                  <a:lnTo>
                    <a:pt x="1395791" y="21527"/>
                  </a:lnTo>
                  <a:lnTo>
                    <a:pt x="1372526" y="5786"/>
                  </a:lnTo>
                  <a:lnTo>
                    <a:pt x="134416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157984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1344165" y="0"/>
                  </a:lnTo>
                  <a:lnTo>
                    <a:pt x="1372526" y="5786"/>
                  </a:lnTo>
                  <a:lnTo>
                    <a:pt x="1395791" y="21527"/>
                  </a:lnTo>
                  <a:lnTo>
                    <a:pt x="1411532" y="44792"/>
                  </a:lnTo>
                  <a:lnTo>
                    <a:pt x="1417319" y="73153"/>
                  </a:lnTo>
                  <a:lnTo>
                    <a:pt x="1417319" y="521205"/>
                  </a:lnTo>
                  <a:lnTo>
                    <a:pt x="1411532" y="549566"/>
                  </a:lnTo>
                  <a:lnTo>
                    <a:pt x="1395791" y="572831"/>
                  </a:lnTo>
                  <a:lnTo>
                    <a:pt x="1372526" y="588573"/>
                  </a:lnTo>
                  <a:lnTo>
                    <a:pt x="1344165" y="594360"/>
                  </a:lnTo>
                  <a:lnTo>
                    <a:pt x="73153" y="594360"/>
                  </a:lnTo>
                  <a:lnTo>
                    <a:pt x="44793" y="588573"/>
                  </a:lnTo>
                  <a:lnTo>
                    <a:pt x="21527" y="572831"/>
                  </a:lnTo>
                  <a:lnTo>
                    <a:pt x="5786" y="549566"/>
                  </a:lnTo>
                  <a:lnTo>
                    <a:pt x="0" y="52120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284529" y="5225134"/>
            <a:ext cx="11645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PAYMENT_PENDING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575303" y="5022849"/>
            <a:ext cx="1616075" cy="607060"/>
            <a:chOff x="3575303" y="5022849"/>
            <a:chExt cx="1616075" cy="607060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75303" y="5274976"/>
              <a:ext cx="203136" cy="9366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767327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134416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521205"/>
                  </a:lnTo>
                  <a:lnTo>
                    <a:pt x="5786" y="549566"/>
                  </a:lnTo>
                  <a:lnTo>
                    <a:pt x="21527" y="572831"/>
                  </a:lnTo>
                  <a:lnTo>
                    <a:pt x="44793" y="588573"/>
                  </a:lnTo>
                  <a:lnTo>
                    <a:pt x="73153" y="594360"/>
                  </a:lnTo>
                  <a:lnTo>
                    <a:pt x="1344165" y="594360"/>
                  </a:lnTo>
                  <a:lnTo>
                    <a:pt x="1372526" y="588573"/>
                  </a:lnTo>
                  <a:lnTo>
                    <a:pt x="1395791" y="572831"/>
                  </a:lnTo>
                  <a:lnTo>
                    <a:pt x="1411532" y="549566"/>
                  </a:lnTo>
                  <a:lnTo>
                    <a:pt x="1417319" y="521205"/>
                  </a:lnTo>
                  <a:lnTo>
                    <a:pt x="1417319" y="73153"/>
                  </a:lnTo>
                  <a:lnTo>
                    <a:pt x="1411532" y="44792"/>
                  </a:lnTo>
                  <a:lnTo>
                    <a:pt x="1395791" y="21527"/>
                  </a:lnTo>
                  <a:lnTo>
                    <a:pt x="1372526" y="5786"/>
                  </a:lnTo>
                  <a:lnTo>
                    <a:pt x="1344165" y="0"/>
                  </a:lnTo>
                  <a:close/>
                </a:path>
              </a:pathLst>
            </a:custGeom>
            <a:solidFill>
              <a:srgbClr val="0D8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67327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1344165" y="0"/>
                  </a:lnTo>
                  <a:lnTo>
                    <a:pt x="1372526" y="5786"/>
                  </a:lnTo>
                  <a:lnTo>
                    <a:pt x="1395791" y="21527"/>
                  </a:lnTo>
                  <a:lnTo>
                    <a:pt x="1411532" y="44792"/>
                  </a:lnTo>
                  <a:lnTo>
                    <a:pt x="1417319" y="73153"/>
                  </a:lnTo>
                  <a:lnTo>
                    <a:pt x="1417319" y="521205"/>
                  </a:lnTo>
                  <a:lnTo>
                    <a:pt x="1411532" y="549566"/>
                  </a:lnTo>
                  <a:lnTo>
                    <a:pt x="1395791" y="572831"/>
                  </a:lnTo>
                  <a:lnTo>
                    <a:pt x="1372526" y="588573"/>
                  </a:lnTo>
                  <a:lnTo>
                    <a:pt x="1344165" y="594360"/>
                  </a:lnTo>
                  <a:lnTo>
                    <a:pt x="73153" y="594360"/>
                  </a:lnTo>
                  <a:lnTo>
                    <a:pt x="44793" y="588573"/>
                  </a:lnTo>
                  <a:lnTo>
                    <a:pt x="21527" y="572831"/>
                  </a:lnTo>
                  <a:lnTo>
                    <a:pt x="5786" y="549566"/>
                  </a:lnTo>
                  <a:lnTo>
                    <a:pt x="0" y="52120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0D8E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120428" y="5225134"/>
            <a:ext cx="7112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CONFIRMED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184647" y="5022849"/>
            <a:ext cx="1616075" cy="607060"/>
            <a:chOff x="5184647" y="5022849"/>
            <a:chExt cx="1616075" cy="607060"/>
          </a:xfrm>
        </p:grpSpPr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4647" y="5274976"/>
              <a:ext cx="203136" cy="9366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376671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134416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521205"/>
                  </a:lnTo>
                  <a:lnTo>
                    <a:pt x="5786" y="549566"/>
                  </a:lnTo>
                  <a:lnTo>
                    <a:pt x="21527" y="572831"/>
                  </a:lnTo>
                  <a:lnTo>
                    <a:pt x="44793" y="588573"/>
                  </a:lnTo>
                  <a:lnTo>
                    <a:pt x="73153" y="594360"/>
                  </a:lnTo>
                  <a:lnTo>
                    <a:pt x="1344165" y="594360"/>
                  </a:lnTo>
                  <a:lnTo>
                    <a:pt x="1372526" y="588573"/>
                  </a:lnTo>
                  <a:lnTo>
                    <a:pt x="1395791" y="572831"/>
                  </a:lnTo>
                  <a:lnTo>
                    <a:pt x="1411532" y="549566"/>
                  </a:lnTo>
                  <a:lnTo>
                    <a:pt x="1417319" y="521205"/>
                  </a:lnTo>
                  <a:lnTo>
                    <a:pt x="1417319" y="73153"/>
                  </a:lnTo>
                  <a:lnTo>
                    <a:pt x="1411532" y="44792"/>
                  </a:lnTo>
                  <a:lnTo>
                    <a:pt x="1395791" y="21527"/>
                  </a:lnTo>
                  <a:lnTo>
                    <a:pt x="1372526" y="5786"/>
                  </a:lnTo>
                  <a:lnTo>
                    <a:pt x="134416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376671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1344165" y="0"/>
                  </a:lnTo>
                  <a:lnTo>
                    <a:pt x="1372526" y="5786"/>
                  </a:lnTo>
                  <a:lnTo>
                    <a:pt x="1395791" y="21527"/>
                  </a:lnTo>
                  <a:lnTo>
                    <a:pt x="1411532" y="44792"/>
                  </a:lnTo>
                  <a:lnTo>
                    <a:pt x="1417319" y="73153"/>
                  </a:lnTo>
                  <a:lnTo>
                    <a:pt x="1417319" y="521205"/>
                  </a:lnTo>
                  <a:lnTo>
                    <a:pt x="1411532" y="549566"/>
                  </a:lnTo>
                  <a:lnTo>
                    <a:pt x="1395791" y="572831"/>
                  </a:lnTo>
                  <a:lnTo>
                    <a:pt x="1372526" y="588573"/>
                  </a:lnTo>
                  <a:lnTo>
                    <a:pt x="1344165" y="594360"/>
                  </a:lnTo>
                  <a:lnTo>
                    <a:pt x="73153" y="594360"/>
                  </a:lnTo>
                  <a:lnTo>
                    <a:pt x="44793" y="588573"/>
                  </a:lnTo>
                  <a:lnTo>
                    <a:pt x="21527" y="572831"/>
                  </a:lnTo>
                  <a:lnTo>
                    <a:pt x="5786" y="549566"/>
                  </a:lnTo>
                  <a:lnTo>
                    <a:pt x="0" y="52120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719678" y="5225134"/>
            <a:ext cx="7315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793992" y="5022849"/>
            <a:ext cx="1616075" cy="607060"/>
            <a:chOff x="6793992" y="5022849"/>
            <a:chExt cx="1616075" cy="607060"/>
          </a:xfrm>
        </p:grpSpPr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3992" y="5274976"/>
              <a:ext cx="203136" cy="9366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986016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134416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521205"/>
                  </a:lnTo>
                  <a:lnTo>
                    <a:pt x="5786" y="549566"/>
                  </a:lnTo>
                  <a:lnTo>
                    <a:pt x="21527" y="572831"/>
                  </a:lnTo>
                  <a:lnTo>
                    <a:pt x="44793" y="588573"/>
                  </a:lnTo>
                  <a:lnTo>
                    <a:pt x="73153" y="594360"/>
                  </a:lnTo>
                  <a:lnTo>
                    <a:pt x="1344165" y="594360"/>
                  </a:lnTo>
                  <a:lnTo>
                    <a:pt x="1372526" y="588573"/>
                  </a:lnTo>
                  <a:lnTo>
                    <a:pt x="1395791" y="572831"/>
                  </a:lnTo>
                  <a:lnTo>
                    <a:pt x="1411532" y="549566"/>
                  </a:lnTo>
                  <a:lnTo>
                    <a:pt x="1417319" y="521205"/>
                  </a:lnTo>
                  <a:lnTo>
                    <a:pt x="1417319" y="73153"/>
                  </a:lnTo>
                  <a:lnTo>
                    <a:pt x="1411532" y="44792"/>
                  </a:lnTo>
                  <a:lnTo>
                    <a:pt x="1395791" y="21527"/>
                  </a:lnTo>
                  <a:lnTo>
                    <a:pt x="1372526" y="5786"/>
                  </a:lnTo>
                  <a:lnTo>
                    <a:pt x="134416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986016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1344165" y="0"/>
                  </a:lnTo>
                  <a:lnTo>
                    <a:pt x="1372526" y="5786"/>
                  </a:lnTo>
                  <a:lnTo>
                    <a:pt x="1395791" y="21527"/>
                  </a:lnTo>
                  <a:lnTo>
                    <a:pt x="1411532" y="44792"/>
                  </a:lnTo>
                  <a:lnTo>
                    <a:pt x="1417319" y="73153"/>
                  </a:lnTo>
                  <a:lnTo>
                    <a:pt x="1417319" y="521205"/>
                  </a:lnTo>
                  <a:lnTo>
                    <a:pt x="1411532" y="549566"/>
                  </a:lnTo>
                  <a:lnTo>
                    <a:pt x="1395791" y="572831"/>
                  </a:lnTo>
                  <a:lnTo>
                    <a:pt x="1372526" y="588573"/>
                  </a:lnTo>
                  <a:lnTo>
                    <a:pt x="1344165" y="594360"/>
                  </a:lnTo>
                  <a:lnTo>
                    <a:pt x="73153" y="594360"/>
                  </a:lnTo>
                  <a:lnTo>
                    <a:pt x="44793" y="588573"/>
                  </a:lnTo>
                  <a:lnTo>
                    <a:pt x="21527" y="572831"/>
                  </a:lnTo>
                  <a:lnTo>
                    <a:pt x="5786" y="549566"/>
                  </a:lnTo>
                  <a:lnTo>
                    <a:pt x="0" y="52120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445280" y="5225134"/>
            <a:ext cx="49910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SHIPPED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403335" y="5022849"/>
            <a:ext cx="1616075" cy="607060"/>
            <a:chOff x="8403335" y="5022849"/>
            <a:chExt cx="1616075" cy="607060"/>
          </a:xfrm>
        </p:grpSpPr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03335" y="5274976"/>
              <a:ext cx="203136" cy="93662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8595359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134416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521205"/>
                  </a:lnTo>
                  <a:lnTo>
                    <a:pt x="5786" y="549566"/>
                  </a:lnTo>
                  <a:lnTo>
                    <a:pt x="21527" y="572831"/>
                  </a:lnTo>
                  <a:lnTo>
                    <a:pt x="44793" y="588573"/>
                  </a:lnTo>
                  <a:lnTo>
                    <a:pt x="73153" y="594360"/>
                  </a:lnTo>
                  <a:lnTo>
                    <a:pt x="1344165" y="594360"/>
                  </a:lnTo>
                  <a:lnTo>
                    <a:pt x="1372526" y="588573"/>
                  </a:lnTo>
                  <a:lnTo>
                    <a:pt x="1395791" y="572831"/>
                  </a:lnTo>
                  <a:lnTo>
                    <a:pt x="1411532" y="549566"/>
                  </a:lnTo>
                  <a:lnTo>
                    <a:pt x="1417319" y="521205"/>
                  </a:lnTo>
                  <a:lnTo>
                    <a:pt x="1417319" y="73153"/>
                  </a:lnTo>
                  <a:lnTo>
                    <a:pt x="1411532" y="44792"/>
                  </a:lnTo>
                  <a:lnTo>
                    <a:pt x="1395791" y="21527"/>
                  </a:lnTo>
                  <a:lnTo>
                    <a:pt x="1372526" y="5786"/>
                  </a:lnTo>
                  <a:lnTo>
                    <a:pt x="134416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595359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1344165" y="0"/>
                  </a:lnTo>
                  <a:lnTo>
                    <a:pt x="1372526" y="5786"/>
                  </a:lnTo>
                  <a:lnTo>
                    <a:pt x="1395791" y="21527"/>
                  </a:lnTo>
                  <a:lnTo>
                    <a:pt x="1411532" y="44792"/>
                  </a:lnTo>
                  <a:lnTo>
                    <a:pt x="1417319" y="73153"/>
                  </a:lnTo>
                  <a:lnTo>
                    <a:pt x="1417319" y="521205"/>
                  </a:lnTo>
                  <a:lnTo>
                    <a:pt x="1411532" y="549566"/>
                  </a:lnTo>
                  <a:lnTo>
                    <a:pt x="1395791" y="572831"/>
                  </a:lnTo>
                  <a:lnTo>
                    <a:pt x="1372526" y="588573"/>
                  </a:lnTo>
                  <a:lnTo>
                    <a:pt x="1344165" y="594360"/>
                  </a:lnTo>
                  <a:lnTo>
                    <a:pt x="73153" y="594360"/>
                  </a:lnTo>
                  <a:lnTo>
                    <a:pt x="44793" y="588573"/>
                  </a:lnTo>
                  <a:lnTo>
                    <a:pt x="21527" y="572831"/>
                  </a:lnTo>
                  <a:lnTo>
                    <a:pt x="5786" y="549566"/>
                  </a:lnTo>
                  <a:lnTo>
                    <a:pt x="0" y="52120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725584" y="5225134"/>
            <a:ext cx="11557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OUT_FOR_DELIVERY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0012680" y="5022850"/>
            <a:ext cx="1616075" cy="607060"/>
            <a:chOff x="10012680" y="5022850"/>
            <a:chExt cx="1616075" cy="607060"/>
          </a:xfrm>
        </p:grpSpPr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12680" y="5274976"/>
              <a:ext cx="203136" cy="9366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0204704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134416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521205"/>
                  </a:lnTo>
                  <a:lnTo>
                    <a:pt x="5786" y="549566"/>
                  </a:lnTo>
                  <a:lnTo>
                    <a:pt x="21527" y="572831"/>
                  </a:lnTo>
                  <a:lnTo>
                    <a:pt x="44793" y="588573"/>
                  </a:lnTo>
                  <a:lnTo>
                    <a:pt x="73153" y="594360"/>
                  </a:lnTo>
                  <a:lnTo>
                    <a:pt x="1344165" y="594360"/>
                  </a:lnTo>
                  <a:lnTo>
                    <a:pt x="1372526" y="588573"/>
                  </a:lnTo>
                  <a:lnTo>
                    <a:pt x="1395791" y="572831"/>
                  </a:lnTo>
                  <a:lnTo>
                    <a:pt x="1411532" y="549566"/>
                  </a:lnTo>
                  <a:lnTo>
                    <a:pt x="1417319" y="521205"/>
                  </a:lnTo>
                  <a:lnTo>
                    <a:pt x="1417319" y="73153"/>
                  </a:lnTo>
                  <a:lnTo>
                    <a:pt x="1411532" y="44792"/>
                  </a:lnTo>
                  <a:lnTo>
                    <a:pt x="1395791" y="21527"/>
                  </a:lnTo>
                  <a:lnTo>
                    <a:pt x="1372526" y="5786"/>
                  </a:lnTo>
                  <a:lnTo>
                    <a:pt x="134416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204704" y="5029199"/>
              <a:ext cx="1417320" cy="594360"/>
            </a:xfrm>
            <a:custGeom>
              <a:avLst/>
              <a:gdLst/>
              <a:ahLst/>
              <a:cxnLst/>
              <a:rect l="l" t="t" r="r" b="b"/>
              <a:pathLst>
                <a:path w="1417320" h="594360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1344165" y="0"/>
                  </a:lnTo>
                  <a:lnTo>
                    <a:pt x="1372526" y="5786"/>
                  </a:lnTo>
                  <a:lnTo>
                    <a:pt x="1395791" y="21527"/>
                  </a:lnTo>
                  <a:lnTo>
                    <a:pt x="1411532" y="44792"/>
                  </a:lnTo>
                  <a:lnTo>
                    <a:pt x="1417319" y="73153"/>
                  </a:lnTo>
                  <a:lnTo>
                    <a:pt x="1417319" y="521205"/>
                  </a:lnTo>
                  <a:lnTo>
                    <a:pt x="1411532" y="549566"/>
                  </a:lnTo>
                  <a:lnTo>
                    <a:pt x="1395791" y="572831"/>
                  </a:lnTo>
                  <a:lnTo>
                    <a:pt x="1372526" y="588573"/>
                  </a:lnTo>
                  <a:lnTo>
                    <a:pt x="1344165" y="594360"/>
                  </a:lnTo>
                  <a:lnTo>
                    <a:pt x="73153" y="594360"/>
                  </a:lnTo>
                  <a:lnTo>
                    <a:pt x="44793" y="588573"/>
                  </a:lnTo>
                  <a:lnTo>
                    <a:pt x="21527" y="572831"/>
                  </a:lnTo>
                  <a:lnTo>
                    <a:pt x="5786" y="549566"/>
                  </a:lnTo>
                  <a:lnTo>
                    <a:pt x="0" y="52120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0596287" y="5225134"/>
            <a:ext cx="6337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DELIVERED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5940" y="5783579"/>
            <a:ext cx="805307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CANCELLED</a:t>
            </a:r>
            <a:r>
              <a:rPr sz="1250" spc="-4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is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allowed</a:t>
            </a:r>
            <a:r>
              <a:rPr sz="1250" spc="-4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before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SHIPPED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(refund</a:t>
            </a:r>
            <a:r>
              <a:rPr sz="1250" spc="-4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+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restock).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The</a:t>
            </a:r>
            <a:r>
              <a:rPr sz="1250" spc="-4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State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pattern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rejects</a:t>
            </a:r>
            <a:r>
              <a:rPr sz="1250" spc="-4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invalid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jumps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and</a:t>
            </a:r>
            <a:r>
              <a:rPr sz="1250" spc="-4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audits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A6578"/>
                </a:solidFill>
                <a:latin typeface="Calibri"/>
                <a:cs typeface="Calibri"/>
              </a:rPr>
              <a:t>every</a:t>
            </a:r>
            <a:r>
              <a:rPr sz="1250" spc="-3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5A6578"/>
                </a:solidFill>
                <a:latin typeface="Calibri"/>
                <a:cs typeface="Calibri"/>
              </a:rPr>
              <a:t>transition.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Database,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API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and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event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design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45464" y="1276985"/>
          <a:ext cx="5394960" cy="24904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Keys</a:t>
                      </a:r>
                      <a:r>
                        <a:rPr sz="12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constraints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50" b="1" spc="-10" dirty="0">
                          <a:latin typeface="Calibri"/>
                          <a:cs typeface="Calibri"/>
                        </a:rPr>
                        <a:t>INVENTORY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060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latin typeface="Calibri"/>
                          <a:cs typeface="Calibri"/>
                        </a:rPr>
                        <a:t>PK</a:t>
                      </a:r>
                      <a:r>
                        <a:rPr sz="11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inventory_id;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product_id;</a:t>
                      </a:r>
                      <a:r>
                        <a:rPr sz="11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CHECK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&gt;=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0;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version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50" b="1" spc="-10" dirty="0">
                          <a:latin typeface="Calibri"/>
                          <a:cs typeface="Calibri"/>
                        </a:rPr>
                        <a:t>RESERVATION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200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latin typeface="Calibri"/>
                          <a:cs typeface="Calibri"/>
                        </a:rPr>
                        <a:t>PK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reservation_id;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FK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inventory,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customer;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 UNIQUE idempotency_key;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(sale,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 customer);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INDEX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 (status, expires_at)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50" b="1" spc="-10" dirty="0">
                          <a:latin typeface="Calibri"/>
                          <a:cs typeface="Calibri"/>
                        </a:rPr>
                        <a:t>PAYMENT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1595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latin typeface="Calibri"/>
                          <a:cs typeface="Calibri"/>
                        </a:rPr>
                        <a:t>PK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payment_id;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FK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reservation;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payment_ref; gateway_txn_id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b="1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15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150" b="1" spc="-20" dirty="0">
                          <a:latin typeface="Calibri"/>
                          <a:cs typeface="Calibri"/>
                        </a:rPr>
                        <a:t> ITEM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latin typeface="Calibri"/>
                          <a:cs typeface="Calibri"/>
                        </a:rPr>
                        <a:t>PK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order_id;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UNIQUE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reservation_id;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FK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customer;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status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50" b="1" spc="-10" dirty="0">
                          <a:latin typeface="Calibri"/>
                          <a:cs typeface="Calibri"/>
                        </a:rPr>
                        <a:t>OUTBOX </a:t>
                      </a:r>
                      <a:r>
                        <a:rPr sz="115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150" b="1" spc="-10" dirty="0">
                          <a:latin typeface="Calibri"/>
                          <a:cs typeface="Calibri"/>
                        </a:rPr>
                        <a:t> AUDIT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4146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spc="-10" dirty="0">
                          <a:latin typeface="Calibri"/>
                          <a:cs typeface="Calibri"/>
                        </a:rPr>
                        <a:t>Append-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only;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written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transaction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state change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14745" y="1276985"/>
          <a:ext cx="5394960" cy="19653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Endpoint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Contract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50" b="1" dirty="0">
                          <a:latin typeface="Calibri"/>
                          <a:cs typeface="Calibri"/>
                        </a:rPr>
                        <a:t>POST</a:t>
                      </a:r>
                      <a:r>
                        <a:rPr sz="115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latin typeface="Calibri"/>
                          <a:cs typeface="Calibri"/>
                        </a:rPr>
                        <a:t>/v1/sales/{id}/reservations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spc="-10" dirty="0">
                          <a:latin typeface="Calibri"/>
                          <a:cs typeface="Calibri"/>
                        </a:rPr>
                        <a:t>Idempotency-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JWT.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201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created,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200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150" dirty="0">
                          <a:latin typeface="Calibri"/>
                          <a:cs typeface="Calibri"/>
                        </a:rPr>
                        <a:t>replay,</a:t>
                      </a:r>
                      <a:r>
                        <a:rPr sz="11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409</a:t>
                      </a:r>
                      <a:r>
                        <a:rPr sz="11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SOLD_OUT,</a:t>
                      </a:r>
                      <a:r>
                        <a:rPr sz="11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429</a:t>
                      </a:r>
                      <a:r>
                        <a:rPr sz="11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throttled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b="1" spc="-20" dirty="0">
                          <a:latin typeface="Calibri"/>
                          <a:cs typeface="Calibri"/>
                        </a:rPr>
                        <a:t>POST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150" b="1" spc="-10" dirty="0">
                          <a:latin typeface="Calibri"/>
                          <a:cs typeface="Calibri"/>
                        </a:rPr>
                        <a:t>/v1/reservations/{id}/payments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6083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latin typeface="Calibri"/>
                          <a:cs typeface="Calibri"/>
                        </a:rPr>
                        <a:t>202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pending;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409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expired;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retry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reuses payment_ref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b="1" dirty="0">
                          <a:latin typeface="Calibri"/>
                          <a:cs typeface="Calibri"/>
                        </a:rPr>
                        <a:t>POST</a:t>
                      </a:r>
                      <a:r>
                        <a:rPr sz="115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latin typeface="Calibri"/>
                          <a:cs typeface="Calibri"/>
                        </a:rPr>
                        <a:t>/v1/webhooks/payment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spc="-10" dirty="0">
                          <a:latin typeface="Calibri"/>
                          <a:cs typeface="Calibri"/>
                        </a:rPr>
                        <a:t>HMAC-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verified,</a:t>
                      </a:r>
                      <a:r>
                        <a:rPr sz="11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deduplicated,</a:t>
                      </a:r>
                      <a:r>
                        <a:rPr sz="11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200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b="1" dirty="0">
                          <a:latin typeface="Calibri"/>
                          <a:cs typeface="Calibri"/>
                        </a:rPr>
                        <a:t>GET</a:t>
                      </a:r>
                      <a:r>
                        <a:rPr sz="115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latin typeface="Calibri"/>
                          <a:cs typeface="Calibri"/>
                        </a:rPr>
                        <a:t>/v1/orders/{id}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1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latin typeface="Calibri"/>
                          <a:cs typeface="Calibri"/>
                        </a:rPr>
                        <a:t>timeline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b="1" dirty="0">
                          <a:latin typeface="Calibri"/>
                          <a:cs typeface="Calibri"/>
                        </a:rPr>
                        <a:t>POST</a:t>
                      </a:r>
                      <a:r>
                        <a:rPr sz="115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latin typeface="Calibri"/>
                          <a:cs typeface="Calibri"/>
                        </a:rPr>
                        <a:t>/v1/orders/{id}/cancel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latin typeface="Calibri"/>
                          <a:cs typeface="Calibri"/>
                        </a:rPr>
                        <a:t>200</a:t>
                      </a:r>
                      <a:r>
                        <a:rPr sz="11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1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SHIPPED,</a:t>
                      </a:r>
                      <a:r>
                        <a:rPr sz="11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latin typeface="Calibri"/>
                          <a:cs typeface="Calibri"/>
                        </a:rPr>
                        <a:t>else</a:t>
                      </a:r>
                      <a:r>
                        <a:rPr sz="11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5" dirty="0">
                          <a:latin typeface="Calibri"/>
                          <a:cs typeface="Calibri"/>
                        </a:rPr>
                        <a:t>409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42290" y="5068570"/>
            <a:ext cx="11076940" cy="1201420"/>
            <a:chOff x="542290" y="5068570"/>
            <a:chExt cx="11076940" cy="1201420"/>
          </a:xfrm>
        </p:grpSpPr>
        <p:sp>
          <p:nvSpPr>
            <p:cNvPr id="6" name="object 6"/>
            <p:cNvSpPr/>
            <p:nvPr/>
          </p:nvSpPr>
          <p:spPr>
            <a:xfrm>
              <a:off x="548639" y="5074919"/>
              <a:ext cx="11064240" cy="1188720"/>
            </a:xfrm>
            <a:custGeom>
              <a:avLst/>
              <a:gdLst/>
              <a:ahLst/>
              <a:cxnLst/>
              <a:rect l="l" t="t" r="r" b="b"/>
              <a:pathLst>
                <a:path w="11064240" h="1188720">
                  <a:moveTo>
                    <a:pt x="10991085" y="0"/>
                  </a:moveTo>
                  <a:lnTo>
                    <a:pt x="73153" y="0"/>
                  </a:lnTo>
                  <a:lnTo>
                    <a:pt x="44793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1115565"/>
                  </a:lnTo>
                  <a:lnTo>
                    <a:pt x="5786" y="1143926"/>
                  </a:lnTo>
                  <a:lnTo>
                    <a:pt x="21527" y="1167192"/>
                  </a:lnTo>
                  <a:lnTo>
                    <a:pt x="44793" y="1182933"/>
                  </a:lnTo>
                  <a:lnTo>
                    <a:pt x="73153" y="1188720"/>
                  </a:lnTo>
                  <a:lnTo>
                    <a:pt x="10991085" y="1188720"/>
                  </a:lnTo>
                  <a:lnTo>
                    <a:pt x="11019446" y="1182933"/>
                  </a:lnTo>
                  <a:lnTo>
                    <a:pt x="11042711" y="1167192"/>
                  </a:lnTo>
                  <a:lnTo>
                    <a:pt x="11058452" y="1143926"/>
                  </a:lnTo>
                  <a:lnTo>
                    <a:pt x="11064239" y="1115565"/>
                  </a:lnTo>
                  <a:lnTo>
                    <a:pt x="11064239" y="73153"/>
                  </a:lnTo>
                  <a:lnTo>
                    <a:pt x="11058452" y="44792"/>
                  </a:lnTo>
                  <a:lnTo>
                    <a:pt x="11042711" y="21527"/>
                  </a:lnTo>
                  <a:lnTo>
                    <a:pt x="11019446" y="5786"/>
                  </a:lnTo>
                  <a:lnTo>
                    <a:pt x="1099108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39" y="5074919"/>
              <a:ext cx="11064240" cy="1188720"/>
            </a:xfrm>
            <a:custGeom>
              <a:avLst/>
              <a:gdLst/>
              <a:ahLst/>
              <a:cxnLst/>
              <a:rect l="l" t="t" r="r" b="b"/>
              <a:pathLst>
                <a:path w="11064240" h="1188720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3" y="5786"/>
                  </a:lnTo>
                  <a:lnTo>
                    <a:pt x="73153" y="0"/>
                  </a:lnTo>
                  <a:lnTo>
                    <a:pt x="10991085" y="0"/>
                  </a:lnTo>
                  <a:lnTo>
                    <a:pt x="11019446" y="5786"/>
                  </a:lnTo>
                  <a:lnTo>
                    <a:pt x="11042711" y="21527"/>
                  </a:lnTo>
                  <a:lnTo>
                    <a:pt x="11058452" y="44792"/>
                  </a:lnTo>
                  <a:lnTo>
                    <a:pt x="11064239" y="73153"/>
                  </a:lnTo>
                  <a:lnTo>
                    <a:pt x="11064239" y="1115565"/>
                  </a:lnTo>
                  <a:lnTo>
                    <a:pt x="11058452" y="1143926"/>
                  </a:lnTo>
                  <a:lnTo>
                    <a:pt x="11042711" y="1167192"/>
                  </a:lnTo>
                  <a:lnTo>
                    <a:pt x="11019446" y="1182933"/>
                  </a:lnTo>
                  <a:lnTo>
                    <a:pt x="10991085" y="1188720"/>
                  </a:lnTo>
                  <a:lnTo>
                    <a:pt x="73153" y="1188720"/>
                  </a:lnTo>
                  <a:lnTo>
                    <a:pt x="44793" y="1182933"/>
                  </a:lnTo>
                  <a:lnTo>
                    <a:pt x="21527" y="1167192"/>
                  </a:lnTo>
                  <a:lnTo>
                    <a:pt x="5786" y="1143926"/>
                  </a:lnTo>
                  <a:lnTo>
                    <a:pt x="0" y="1115565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4540" y="5138418"/>
            <a:ext cx="10278110" cy="5080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Events</a:t>
            </a:r>
            <a:r>
              <a:rPr sz="1250" b="1" spc="-2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and</a:t>
            </a:r>
            <a:r>
              <a:rPr sz="1250" b="1" spc="-2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owners:</a:t>
            </a:r>
            <a:r>
              <a:rPr sz="1250" b="1" spc="-15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Inventory: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ReservationCreated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Expired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Released.</a:t>
            </a:r>
            <a:r>
              <a:rPr sz="1250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Payment: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PaymentSucceeded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Failed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Refunded.</a:t>
            </a:r>
            <a:r>
              <a:rPr sz="1250" spc="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Order: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OrderConfirmed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Shipped.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50" b="1" spc="-10" dirty="0">
                <a:solidFill>
                  <a:srgbClr val="E75019"/>
                </a:solidFill>
                <a:latin typeface="Calibri"/>
                <a:cs typeface="Calibri"/>
              </a:rPr>
              <a:t>Consumers</a:t>
            </a:r>
            <a:r>
              <a:rPr sz="1250" b="1" spc="-20" dirty="0">
                <a:solidFill>
                  <a:srgbClr val="E7501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(Order,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Shipment,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Notification)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idempotent,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retry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backoff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DLQ.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Errors: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{code,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message,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trace_id}.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Low-level</a:t>
            </a:r>
            <a:r>
              <a:rPr spc="-1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design,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SOLID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and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patterns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90" y="1228090"/>
            <a:ext cx="11076940" cy="469900"/>
            <a:chOff x="542290" y="1228090"/>
            <a:chExt cx="11076940" cy="469900"/>
          </a:xfrm>
        </p:grpSpPr>
        <p:sp>
          <p:nvSpPr>
            <p:cNvPr id="4" name="object 4"/>
            <p:cNvSpPr/>
            <p:nvPr/>
          </p:nvSpPr>
          <p:spPr>
            <a:xfrm>
              <a:off x="548639" y="1234440"/>
              <a:ext cx="11064240" cy="457200"/>
            </a:xfrm>
            <a:custGeom>
              <a:avLst/>
              <a:gdLst/>
              <a:ahLst/>
              <a:cxnLst/>
              <a:rect l="l" t="t" r="r" b="b"/>
              <a:pathLst>
                <a:path w="11064240" h="457200">
                  <a:moveTo>
                    <a:pt x="10991088" y="0"/>
                  </a:moveTo>
                  <a:lnTo>
                    <a:pt x="73151" y="0"/>
                  </a:lnTo>
                  <a:lnTo>
                    <a:pt x="44791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1"/>
                  </a:lnTo>
                  <a:lnTo>
                    <a:pt x="0" y="384048"/>
                  </a:lnTo>
                  <a:lnTo>
                    <a:pt x="5786" y="412407"/>
                  </a:lnTo>
                  <a:lnTo>
                    <a:pt x="21527" y="435672"/>
                  </a:lnTo>
                  <a:lnTo>
                    <a:pt x="44792" y="451413"/>
                  </a:lnTo>
                  <a:lnTo>
                    <a:pt x="73152" y="457200"/>
                  </a:lnTo>
                  <a:lnTo>
                    <a:pt x="10991088" y="457200"/>
                  </a:lnTo>
                  <a:lnTo>
                    <a:pt x="11019448" y="451413"/>
                  </a:lnTo>
                  <a:lnTo>
                    <a:pt x="11042712" y="435672"/>
                  </a:lnTo>
                  <a:lnTo>
                    <a:pt x="11058453" y="412407"/>
                  </a:lnTo>
                  <a:lnTo>
                    <a:pt x="11064239" y="384048"/>
                  </a:lnTo>
                  <a:lnTo>
                    <a:pt x="11064239" y="73151"/>
                  </a:lnTo>
                  <a:lnTo>
                    <a:pt x="11058453" y="44792"/>
                  </a:lnTo>
                  <a:lnTo>
                    <a:pt x="11042712" y="21527"/>
                  </a:lnTo>
                  <a:lnTo>
                    <a:pt x="11019448" y="5786"/>
                  </a:lnTo>
                  <a:lnTo>
                    <a:pt x="10991088" y="0"/>
                  </a:lnTo>
                  <a:close/>
                </a:path>
              </a:pathLst>
            </a:custGeom>
            <a:solidFill>
              <a:srgbClr val="3A66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39" y="1234440"/>
              <a:ext cx="11064240" cy="457200"/>
            </a:xfrm>
            <a:custGeom>
              <a:avLst/>
              <a:gdLst/>
              <a:ahLst/>
              <a:cxnLst/>
              <a:rect l="l" t="t" r="r" b="b"/>
              <a:pathLst>
                <a:path w="11064240" h="457200">
                  <a:moveTo>
                    <a:pt x="0" y="73151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1" y="5786"/>
                  </a:lnTo>
                  <a:lnTo>
                    <a:pt x="73151" y="0"/>
                  </a:lnTo>
                  <a:lnTo>
                    <a:pt x="10991088" y="0"/>
                  </a:lnTo>
                  <a:lnTo>
                    <a:pt x="11019448" y="5786"/>
                  </a:lnTo>
                  <a:lnTo>
                    <a:pt x="11042712" y="21526"/>
                  </a:lnTo>
                  <a:lnTo>
                    <a:pt x="11058453" y="44791"/>
                  </a:lnTo>
                  <a:lnTo>
                    <a:pt x="11064239" y="73150"/>
                  </a:lnTo>
                  <a:lnTo>
                    <a:pt x="11064239" y="384048"/>
                  </a:lnTo>
                  <a:lnTo>
                    <a:pt x="11058453" y="412407"/>
                  </a:lnTo>
                  <a:lnTo>
                    <a:pt x="11042712" y="435672"/>
                  </a:lnTo>
                  <a:lnTo>
                    <a:pt x="11019448" y="451413"/>
                  </a:lnTo>
                  <a:lnTo>
                    <a:pt x="10991088" y="457200"/>
                  </a:lnTo>
                  <a:lnTo>
                    <a:pt x="73152" y="457200"/>
                  </a:lnTo>
                  <a:lnTo>
                    <a:pt x="44792" y="451413"/>
                  </a:lnTo>
                  <a:lnTo>
                    <a:pt x="21527" y="435672"/>
                  </a:lnTo>
                  <a:lnTo>
                    <a:pt x="5786" y="412407"/>
                  </a:lnTo>
                  <a:lnTo>
                    <a:pt x="0" y="3840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3A66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83316" y="1340712"/>
            <a:ext cx="41903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CheckoutFacade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(Facade):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orchestrates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reserve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pay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2289" y="1868170"/>
            <a:ext cx="3578860" cy="1795780"/>
            <a:chOff x="542289" y="1868170"/>
            <a:chExt cx="3578860" cy="1795780"/>
          </a:xfrm>
        </p:grpSpPr>
        <p:sp>
          <p:nvSpPr>
            <p:cNvPr id="8" name="object 8"/>
            <p:cNvSpPr/>
            <p:nvPr/>
          </p:nvSpPr>
          <p:spPr>
            <a:xfrm>
              <a:off x="548639" y="1874519"/>
              <a:ext cx="3566160" cy="1783080"/>
            </a:xfrm>
            <a:custGeom>
              <a:avLst/>
              <a:gdLst/>
              <a:ahLst/>
              <a:cxnLst/>
              <a:rect l="l" t="t" r="r" b="b"/>
              <a:pathLst>
                <a:path w="3566160" h="1783079">
                  <a:moveTo>
                    <a:pt x="3493000" y="0"/>
                  </a:moveTo>
                  <a:lnTo>
                    <a:pt x="73159" y="0"/>
                  </a:lnTo>
                  <a:lnTo>
                    <a:pt x="44796" y="5787"/>
                  </a:lnTo>
                  <a:lnTo>
                    <a:pt x="21529" y="21529"/>
                  </a:lnTo>
                  <a:lnTo>
                    <a:pt x="5787" y="44796"/>
                  </a:lnTo>
                  <a:lnTo>
                    <a:pt x="0" y="73159"/>
                  </a:lnTo>
                  <a:lnTo>
                    <a:pt x="0" y="1709919"/>
                  </a:lnTo>
                  <a:lnTo>
                    <a:pt x="5787" y="1738282"/>
                  </a:lnTo>
                  <a:lnTo>
                    <a:pt x="21529" y="1761550"/>
                  </a:lnTo>
                  <a:lnTo>
                    <a:pt x="44796" y="1777292"/>
                  </a:lnTo>
                  <a:lnTo>
                    <a:pt x="73159" y="1783079"/>
                  </a:lnTo>
                  <a:lnTo>
                    <a:pt x="3493000" y="1783079"/>
                  </a:lnTo>
                  <a:lnTo>
                    <a:pt x="3521363" y="1777292"/>
                  </a:lnTo>
                  <a:lnTo>
                    <a:pt x="3544630" y="1761550"/>
                  </a:lnTo>
                  <a:lnTo>
                    <a:pt x="3560372" y="1738282"/>
                  </a:lnTo>
                  <a:lnTo>
                    <a:pt x="3566160" y="1709919"/>
                  </a:lnTo>
                  <a:lnTo>
                    <a:pt x="3566160" y="73159"/>
                  </a:lnTo>
                  <a:lnTo>
                    <a:pt x="3560372" y="44796"/>
                  </a:lnTo>
                  <a:lnTo>
                    <a:pt x="3544630" y="21529"/>
                  </a:lnTo>
                  <a:lnTo>
                    <a:pt x="3521363" y="5787"/>
                  </a:lnTo>
                  <a:lnTo>
                    <a:pt x="3493000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639" y="1874519"/>
              <a:ext cx="3566160" cy="1783080"/>
            </a:xfrm>
            <a:custGeom>
              <a:avLst/>
              <a:gdLst/>
              <a:ahLst/>
              <a:cxnLst/>
              <a:rect l="l" t="t" r="r" b="b"/>
              <a:pathLst>
                <a:path w="3566160" h="1783079">
                  <a:moveTo>
                    <a:pt x="0" y="73159"/>
                  </a:moveTo>
                  <a:lnTo>
                    <a:pt x="5787" y="44796"/>
                  </a:lnTo>
                  <a:lnTo>
                    <a:pt x="21529" y="21529"/>
                  </a:lnTo>
                  <a:lnTo>
                    <a:pt x="44796" y="5787"/>
                  </a:lnTo>
                  <a:lnTo>
                    <a:pt x="73159" y="0"/>
                  </a:lnTo>
                  <a:lnTo>
                    <a:pt x="3493000" y="0"/>
                  </a:lnTo>
                  <a:lnTo>
                    <a:pt x="3521363" y="5787"/>
                  </a:lnTo>
                  <a:lnTo>
                    <a:pt x="3544630" y="21529"/>
                  </a:lnTo>
                  <a:lnTo>
                    <a:pt x="3560372" y="44796"/>
                  </a:lnTo>
                  <a:lnTo>
                    <a:pt x="3566160" y="73159"/>
                  </a:lnTo>
                  <a:lnTo>
                    <a:pt x="3566160" y="1709919"/>
                  </a:lnTo>
                  <a:lnTo>
                    <a:pt x="3560372" y="1738282"/>
                  </a:lnTo>
                  <a:lnTo>
                    <a:pt x="3544630" y="1761550"/>
                  </a:lnTo>
                  <a:lnTo>
                    <a:pt x="3521363" y="1777292"/>
                  </a:lnTo>
                  <a:lnTo>
                    <a:pt x="3493000" y="1783079"/>
                  </a:lnTo>
                  <a:lnTo>
                    <a:pt x="73159" y="1783079"/>
                  </a:lnTo>
                  <a:lnTo>
                    <a:pt x="44796" y="1777292"/>
                  </a:lnTo>
                  <a:lnTo>
                    <a:pt x="21529" y="1761550"/>
                  </a:lnTo>
                  <a:lnTo>
                    <a:pt x="5787" y="1738282"/>
                  </a:lnTo>
                  <a:lnTo>
                    <a:pt x="0" y="1709919"/>
                  </a:lnTo>
                  <a:lnTo>
                    <a:pt x="0" y="73159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8819" y="1947711"/>
            <a:ext cx="2583815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E75019"/>
                </a:solidFill>
                <a:latin typeface="Cambria"/>
                <a:cs typeface="Cambria"/>
              </a:rPr>
              <a:t>Inventory</a:t>
            </a:r>
            <a:endParaRPr sz="1600">
              <a:latin typeface="Cambria"/>
              <a:cs typeface="Cambria"/>
            </a:endParaRPr>
          </a:p>
          <a:p>
            <a:pPr marL="12700" marR="384175">
              <a:lnSpc>
                <a:spcPct val="100000"/>
              </a:lnSpc>
              <a:spcBef>
                <a:spcPts val="1285"/>
              </a:spcBef>
            </a:pP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ReservationService</a:t>
            </a:r>
            <a:r>
              <a:rPr sz="1200" spc="4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&gt;</a:t>
            </a:r>
            <a:r>
              <a:rPr sz="1200" spc="5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&lt;&lt;interface&gt;&gt; InventoryRepository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&lt;</a:t>
            </a:r>
            <a:r>
              <a:rPr sz="1200" spc="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PgInventoryRepository,</a:t>
            </a:r>
            <a:r>
              <a:rPr sz="1200" spc="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RedisStockGate ExpiryPolicy</a:t>
            </a:r>
            <a:r>
              <a:rPr sz="1200" spc="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(Strategy)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91330" y="1868170"/>
            <a:ext cx="3578860" cy="1795780"/>
            <a:chOff x="4291330" y="1868170"/>
            <a:chExt cx="3578860" cy="1795780"/>
          </a:xfrm>
        </p:grpSpPr>
        <p:sp>
          <p:nvSpPr>
            <p:cNvPr id="12" name="object 12"/>
            <p:cNvSpPr/>
            <p:nvPr/>
          </p:nvSpPr>
          <p:spPr>
            <a:xfrm>
              <a:off x="4297680" y="1874519"/>
              <a:ext cx="3566160" cy="1783080"/>
            </a:xfrm>
            <a:custGeom>
              <a:avLst/>
              <a:gdLst/>
              <a:ahLst/>
              <a:cxnLst/>
              <a:rect l="l" t="t" r="r" b="b"/>
              <a:pathLst>
                <a:path w="3566159" h="1783079">
                  <a:moveTo>
                    <a:pt x="3493000" y="0"/>
                  </a:moveTo>
                  <a:lnTo>
                    <a:pt x="73159" y="0"/>
                  </a:lnTo>
                  <a:lnTo>
                    <a:pt x="44796" y="5787"/>
                  </a:lnTo>
                  <a:lnTo>
                    <a:pt x="21529" y="21529"/>
                  </a:lnTo>
                  <a:lnTo>
                    <a:pt x="5787" y="44796"/>
                  </a:lnTo>
                  <a:lnTo>
                    <a:pt x="0" y="73159"/>
                  </a:lnTo>
                  <a:lnTo>
                    <a:pt x="0" y="1709919"/>
                  </a:lnTo>
                  <a:lnTo>
                    <a:pt x="5787" y="1738282"/>
                  </a:lnTo>
                  <a:lnTo>
                    <a:pt x="21529" y="1761550"/>
                  </a:lnTo>
                  <a:lnTo>
                    <a:pt x="44796" y="1777292"/>
                  </a:lnTo>
                  <a:lnTo>
                    <a:pt x="73159" y="1783079"/>
                  </a:lnTo>
                  <a:lnTo>
                    <a:pt x="3493000" y="1783079"/>
                  </a:lnTo>
                  <a:lnTo>
                    <a:pt x="3521363" y="1777292"/>
                  </a:lnTo>
                  <a:lnTo>
                    <a:pt x="3544630" y="1761550"/>
                  </a:lnTo>
                  <a:lnTo>
                    <a:pt x="3560372" y="1738282"/>
                  </a:lnTo>
                  <a:lnTo>
                    <a:pt x="3566160" y="1709919"/>
                  </a:lnTo>
                  <a:lnTo>
                    <a:pt x="3566160" y="73159"/>
                  </a:lnTo>
                  <a:lnTo>
                    <a:pt x="3560372" y="44796"/>
                  </a:lnTo>
                  <a:lnTo>
                    <a:pt x="3544630" y="21529"/>
                  </a:lnTo>
                  <a:lnTo>
                    <a:pt x="3521363" y="5787"/>
                  </a:lnTo>
                  <a:lnTo>
                    <a:pt x="3493000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7680" y="1874519"/>
              <a:ext cx="3566160" cy="1783080"/>
            </a:xfrm>
            <a:custGeom>
              <a:avLst/>
              <a:gdLst/>
              <a:ahLst/>
              <a:cxnLst/>
              <a:rect l="l" t="t" r="r" b="b"/>
              <a:pathLst>
                <a:path w="3566159" h="1783079">
                  <a:moveTo>
                    <a:pt x="0" y="73159"/>
                  </a:moveTo>
                  <a:lnTo>
                    <a:pt x="5787" y="44796"/>
                  </a:lnTo>
                  <a:lnTo>
                    <a:pt x="21529" y="21529"/>
                  </a:lnTo>
                  <a:lnTo>
                    <a:pt x="44796" y="5787"/>
                  </a:lnTo>
                  <a:lnTo>
                    <a:pt x="73159" y="0"/>
                  </a:lnTo>
                  <a:lnTo>
                    <a:pt x="3493000" y="0"/>
                  </a:lnTo>
                  <a:lnTo>
                    <a:pt x="3521363" y="5787"/>
                  </a:lnTo>
                  <a:lnTo>
                    <a:pt x="3544630" y="21529"/>
                  </a:lnTo>
                  <a:lnTo>
                    <a:pt x="3560372" y="44796"/>
                  </a:lnTo>
                  <a:lnTo>
                    <a:pt x="3566160" y="73159"/>
                  </a:lnTo>
                  <a:lnTo>
                    <a:pt x="3566160" y="1709919"/>
                  </a:lnTo>
                  <a:lnTo>
                    <a:pt x="3560372" y="1738282"/>
                  </a:lnTo>
                  <a:lnTo>
                    <a:pt x="3544630" y="1761550"/>
                  </a:lnTo>
                  <a:lnTo>
                    <a:pt x="3521363" y="1777292"/>
                  </a:lnTo>
                  <a:lnTo>
                    <a:pt x="3493000" y="1783079"/>
                  </a:lnTo>
                  <a:lnTo>
                    <a:pt x="73159" y="1783079"/>
                  </a:lnTo>
                  <a:lnTo>
                    <a:pt x="44796" y="1777292"/>
                  </a:lnTo>
                  <a:lnTo>
                    <a:pt x="21529" y="1761550"/>
                  </a:lnTo>
                  <a:lnTo>
                    <a:pt x="5787" y="1738282"/>
                  </a:lnTo>
                  <a:lnTo>
                    <a:pt x="0" y="1709919"/>
                  </a:lnTo>
                  <a:lnTo>
                    <a:pt x="0" y="73159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67859" y="1947711"/>
            <a:ext cx="3126105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D8E7F"/>
                </a:solidFill>
                <a:latin typeface="Cambria"/>
                <a:cs typeface="Cambria"/>
              </a:rPr>
              <a:t>Payment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PaymentService</a:t>
            </a:r>
            <a:r>
              <a:rPr sz="1200" spc="-4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&gt;</a:t>
            </a:r>
            <a:r>
              <a:rPr sz="1200" spc="-4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&lt;&lt;interface&gt;&gt;</a:t>
            </a:r>
            <a:r>
              <a:rPr sz="1200" spc="-4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PaymentProvider</a:t>
            </a:r>
            <a:endParaRPr sz="1200">
              <a:latin typeface="Calibri"/>
              <a:cs typeface="Calibri"/>
            </a:endParaRPr>
          </a:p>
          <a:p>
            <a:pPr marL="12700" marR="545465">
              <a:lnSpc>
                <a:spcPct val="100000"/>
              </a:lnSpc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&lt;</a:t>
            </a:r>
            <a:r>
              <a:rPr sz="120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RazorpayAdapter,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StripeAdapter PaymentProviderFactory</a:t>
            </a:r>
            <a:r>
              <a:rPr sz="1200" spc="6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6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CircuitBreaker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40370" y="1868170"/>
            <a:ext cx="3578860" cy="1795780"/>
            <a:chOff x="8040370" y="1868170"/>
            <a:chExt cx="3578860" cy="1795780"/>
          </a:xfrm>
        </p:grpSpPr>
        <p:sp>
          <p:nvSpPr>
            <p:cNvPr id="16" name="object 16"/>
            <p:cNvSpPr/>
            <p:nvPr/>
          </p:nvSpPr>
          <p:spPr>
            <a:xfrm>
              <a:off x="8046720" y="1874519"/>
              <a:ext cx="3566160" cy="1783080"/>
            </a:xfrm>
            <a:custGeom>
              <a:avLst/>
              <a:gdLst/>
              <a:ahLst/>
              <a:cxnLst/>
              <a:rect l="l" t="t" r="r" b="b"/>
              <a:pathLst>
                <a:path w="3566159" h="1783079">
                  <a:moveTo>
                    <a:pt x="3493000" y="0"/>
                  </a:moveTo>
                  <a:lnTo>
                    <a:pt x="73159" y="0"/>
                  </a:lnTo>
                  <a:lnTo>
                    <a:pt x="44796" y="5787"/>
                  </a:lnTo>
                  <a:lnTo>
                    <a:pt x="21529" y="21529"/>
                  </a:lnTo>
                  <a:lnTo>
                    <a:pt x="5787" y="44796"/>
                  </a:lnTo>
                  <a:lnTo>
                    <a:pt x="0" y="73159"/>
                  </a:lnTo>
                  <a:lnTo>
                    <a:pt x="0" y="1709919"/>
                  </a:lnTo>
                  <a:lnTo>
                    <a:pt x="5787" y="1738282"/>
                  </a:lnTo>
                  <a:lnTo>
                    <a:pt x="21529" y="1761550"/>
                  </a:lnTo>
                  <a:lnTo>
                    <a:pt x="44796" y="1777292"/>
                  </a:lnTo>
                  <a:lnTo>
                    <a:pt x="73159" y="1783079"/>
                  </a:lnTo>
                  <a:lnTo>
                    <a:pt x="3493000" y="1783079"/>
                  </a:lnTo>
                  <a:lnTo>
                    <a:pt x="3521363" y="1777292"/>
                  </a:lnTo>
                  <a:lnTo>
                    <a:pt x="3544630" y="1761550"/>
                  </a:lnTo>
                  <a:lnTo>
                    <a:pt x="3560372" y="1738282"/>
                  </a:lnTo>
                  <a:lnTo>
                    <a:pt x="3566160" y="1709919"/>
                  </a:lnTo>
                  <a:lnTo>
                    <a:pt x="3566160" y="73159"/>
                  </a:lnTo>
                  <a:lnTo>
                    <a:pt x="3560372" y="44796"/>
                  </a:lnTo>
                  <a:lnTo>
                    <a:pt x="3544630" y="21529"/>
                  </a:lnTo>
                  <a:lnTo>
                    <a:pt x="3521363" y="5787"/>
                  </a:lnTo>
                  <a:lnTo>
                    <a:pt x="3493000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46720" y="1874519"/>
              <a:ext cx="3566160" cy="1783080"/>
            </a:xfrm>
            <a:custGeom>
              <a:avLst/>
              <a:gdLst/>
              <a:ahLst/>
              <a:cxnLst/>
              <a:rect l="l" t="t" r="r" b="b"/>
              <a:pathLst>
                <a:path w="3566159" h="1783079">
                  <a:moveTo>
                    <a:pt x="0" y="73159"/>
                  </a:moveTo>
                  <a:lnTo>
                    <a:pt x="5787" y="44796"/>
                  </a:lnTo>
                  <a:lnTo>
                    <a:pt x="21529" y="21529"/>
                  </a:lnTo>
                  <a:lnTo>
                    <a:pt x="44796" y="5787"/>
                  </a:lnTo>
                  <a:lnTo>
                    <a:pt x="73159" y="0"/>
                  </a:lnTo>
                  <a:lnTo>
                    <a:pt x="3493000" y="0"/>
                  </a:lnTo>
                  <a:lnTo>
                    <a:pt x="3521363" y="5787"/>
                  </a:lnTo>
                  <a:lnTo>
                    <a:pt x="3544630" y="21529"/>
                  </a:lnTo>
                  <a:lnTo>
                    <a:pt x="3560372" y="44796"/>
                  </a:lnTo>
                  <a:lnTo>
                    <a:pt x="3566160" y="73159"/>
                  </a:lnTo>
                  <a:lnTo>
                    <a:pt x="3566160" y="1709919"/>
                  </a:lnTo>
                  <a:lnTo>
                    <a:pt x="3560372" y="1738282"/>
                  </a:lnTo>
                  <a:lnTo>
                    <a:pt x="3544630" y="1761550"/>
                  </a:lnTo>
                  <a:lnTo>
                    <a:pt x="3521363" y="1777292"/>
                  </a:lnTo>
                  <a:lnTo>
                    <a:pt x="3493000" y="1783079"/>
                  </a:lnTo>
                  <a:lnTo>
                    <a:pt x="73159" y="1783079"/>
                  </a:lnTo>
                  <a:lnTo>
                    <a:pt x="44796" y="1777292"/>
                  </a:lnTo>
                  <a:lnTo>
                    <a:pt x="21529" y="1761550"/>
                  </a:lnTo>
                  <a:lnTo>
                    <a:pt x="5787" y="1738282"/>
                  </a:lnTo>
                  <a:lnTo>
                    <a:pt x="0" y="1709919"/>
                  </a:lnTo>
                  <a:lnTo>
                    <a:pt x="0" y="73159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16900" y="1947711"/>
            <a:ext cx="3240405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B02A5A"/>
                </a:solidFill>
                <a:latin typeface="Cambria"/>
                <a:cs typeface="Cambria"/>
              </a:rPr>
              <a:t>Order</a:t>
            </a:r>
            <a:endParaRPr sz="1600">
              <a:latin typeface="Cambria"/>
              <a:cs typeface="Cambria"/>
            </a:endParaRPr>
          </a:p>
          <a:p>
            <a:pPr marL="12700" marR="1139825">
              <a:lnSpc>
                <a:spcPct val="100000"/>
              </a:lnSpc>
              <a:spcBef>
                <a:spcPts val="1285"/>
              </a:spcBef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OrderService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&gt;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OrderState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(State)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Created,</a:t>
            </a:r>
            <a:r>
              <a:rPr sz="120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Confirmed,</a:t>
            </a:r>
            <a:r>
              <a:rPr sz="1200" spc="-3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Shipped...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EventPublisher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&gt;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Shipment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/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Notification (Observer)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2290" y="3879850"/>
            <a:ext cx="2115820" cy="1384300"/>
            <a:chOff x="542290" y="3879850"/>
            <a:chExt cx="2115820" cy="1384300"/>
          </a:xfrm>
        </p:grpSpPr>
        <p:sp>
          <p:nvSpPr>
            <p:cNvPr id="20" name="object 20"/>
            <p:cNvSpPr/>
            <p:nvPr/>
          </p:nvSpPr>
          <p:spPr>
            <a:xfrm>
              <a:off x="548639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2029972" y="0"/>
                  </a:moveTo>
                  <a:lnTo>
                    <a:pt x="73147" y="0"/>
                  </a:lnTo>
                  <a:lnTo>
                    <a:pt x="44789" y="5786"/>
                  </a:lnTo>
                  <a:lnTo>
                    <a:pt x="21525" y="21525"/>
                  </a:lnTo>
                  <a:lnTo>
                    <a:pt x="5786" y="44789"/>
                  </a:lnTo>
                  <a:lnTo>
                    <a:pt x="0" y="73147"/>
                  </a:lnTo>
                  <a:lnTo>
                    <a:pt x="0" y="1298452"/>
                  </a:lnTo>
                  <a:lnTo>
                    <a:pt x="5786" y="1326810"/>
                  </a:lnTo>
                  <a:lnTo>
                    <a:pt x="21525" y="1350074"/>
                  </a:lnTo>
                  <a:lnTo>
                    <a:pt x="44789" y="1365813"/>
                  </a:lnTo>
                  <a:lnTo>
                    <a:pt x="73147" y="1371600"/>
                  </a:lnTo>
                  <a:lnTo>
                    <a:pt x="2029972" y="1371600"/>
                  </a:lnTo>
                  <a:lnTo>
                    <a:pt x="2058330" y="1365813"/>
                  </a:lnTo>
                  <a:lnTo>
                    <a:pt x="2081594" y="1350074"/>
                  </a:lnTo>
                  <a:lnTo>
                    <a:pt x="2097333" y="1326810"/>
                  </a:lnTo>
                  <a:lnTo>
                    <a:pt x="2103120" y="1298452"/>
                  </a:lnTo>
                  <a:lnTo>
                    <a:pt x="2103120" y="73147"/>
                  </a:lnTo>
                  <a:lnTo>
                    <a:pt x="2097333" y="44789"/>
                  </a:lnTo>
                  <a:lnTo>
                    <a:pt x="2081594" y="21525"/>
                  </a:lnTo>
                  <a:lnTo>
                    <a:pt x="2058330" y="5786"/>
                  </a:lnTo>
                  <a:lnTo>
                    <a:pt x="2029972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8639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0" y="73147"/>
                  </a:moveTo>
                  <a:lnTo>
                    <a:pt x="5786" y="44789"/>
                  </a:lnTo>
                  <a:lnTo>
                    <a:pt x="21525" y="21525"/>
                  </a:lnTo>
                  <a:lnTo>
                    <a:pt x="44789" y="5786"/>
                  </a:lnTo>
                  <a:lnTo>
                    <a:pt x="73147" y="0"/>
                  </a:lnTo>
                  <a:lnTo>
                    <a:pt x="2029972" y="0"/>
                  </a:lnTo>
                  <a:lnTo>
                    <a:pt x="2058330" y="5786"/>
                  </a:lnTo>
                  <a:lnTo>
                    <a:pt x="2081594" y="21525"/>
                  </a:lnTo>
                  <a:lnTo>
                    <a:pt x="2097333" y="44789"/>
                  </a:lnTo>
                  <a:lnTo>
                    <a:pt x="2103120" y="73147"/>
                  </a:lnTo>
                  <a:lnTo>
                    <a:pt x="2103120" y="1298452"/>
                  </a:lnTo>
                  <a:lnTo>
                    <a:pt x="2097333" y="1326810"/>
                  </a:lnTo>
                  <a:lnTo>
                    <a:pt x="2081594" y="1350074"/>
                  </a:lnTo>
                  <a:lnTo>
                    <a:pt x="2058330" y="1365813"/>
                  </a:lnTo>
                  <a:lnTo>
                    <a:pt x="2029972" y="1371600"/>
                  </a:lnTo>
                  <a:lnTo>
                    <a:pt x="73147" y="1371600"/>
                  </a:lnTo>
                  <a:lnTo>
                    <a:pt x="44789" y="1365813"/>
                  </a:lnTo>
                  <a:lnTo>
                    <a:pt x="21525" y="1350074"/>
                  </a:lnTo>
                  <a:lnTo>
                    <a:pt x="5786" y="1326810"/>
                  </a:lnTo>
                  <a:lnTo>
                    <a:pt x="0" y="1298452"/>
                  </a:lnTo>
                  <a:lnTo>
                    <a:pt x="0" y="73147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3100" y="3938329"/>
            <a:ext cx="1813560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50" dirty="0">
                <a:solidFill>
                  <a:srgbClr val="E75019"/>
                </a:solidFill>
                <a:latin typeface="Cambria"/>
                <a:cs typeface="Cambria"/>
              </a:rPr>
              <a:t>S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144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Payment,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Order,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Notification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separate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classes/services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91713" y="3879850"/>
            <a:ext cx="2115820" cy="1384300"/>
            <a:chOff x="2791713" y="3879850"/>
            <a:chExt cx="2115820" cy="1384300"/>
          </a:xfrm>
        </p:grpSpPr>
        <p:sp>
          <p:nvSpPr>
            <p:cNvPr id="24" name="object 24"/>
            <p:cNvSpPr/>
            <p:nvPr/>
          </p:nvSpPr>
          <p:spPr>
            <a:xfrm>
              <a:off x="2798063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2029972" y="0"/>
                  </a:moveTo>
                  <a:lnTo>
                    <a:pt x="73147" y="0"/>
                  </a:lnTo>
                  <a:lnTo>
                    <a:pt x="44789" y="5786"/>
                  </a:lnTo>
                  <a:lnTo>
                    <a:pt x="21525" y="21525"/>
                  </a:lnTo>
                  <a:lnTo>
                    <a:pt x="5786" y="44789"/>
                  </a:lnTo>
                  <a:lnTo>
                    <a:pt x="0" y="73147"/>
                  </a:lnTo>
                  <a:lnTo>
                    <a:pt x="0" y="1298452"/>
                  </a:lnTo>
                  <a:lnTo>
                    <a:pt x="5786" y="1326810"/>
                  </a:lnTo>
                  <a:lnTo>
                    <a:pt x="21525" y="1350074"/>
                  </a:lnTo>
                  <a:lnTo>
                    <a:pt x="44789" y="1365813"/>
                  </a:lnTo>
                  <a:lnTo>
                    <a:pt x="73147" y="1371600"/>
                  </a:lnTo>
                  <a:lnTo>
                    <a:pt x="2029972" y="1371600"/>
                  </a:lnTo>
                  <a:lnTo>
                    <a:pt x="2058330" y="1365813"/>
                  </a:lnTo>
                  <a:lnTo>
                    <a:pt x="2081594" y="1350074"/>
                  </a:lnTo>
                  <a:lnTo>
                    <a:pt x="2097333" y="1326810"/>
                  </a:lnTo>
                  <a:lnTo>
                    <a:pt x="2103120" y="1298452"/>
                  </a:lnTo>
                  <a:lnTo>
                    <a:pt x="2103120" y="73147"/>
                  </a:lnTo>
                  <a:lnTo>
                    <a:pt x="2097333" y="44789"/>
                  </a:lnTo>
                  <a:lnTo>
                    <a:pt x="2081594" y="21525"/>
                  </a:lnTo>
                  <a:lnTo>
                    <a:pt x="2058330" y="5786"/>
                  </a:lnTo>
                  <a:lnTo>
                    <a:pt x="2029972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98063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0" y="73147"/>
                  </a:moveTo>
                  <a:lnTo>
                    <a:pt x="5786" y="44789"/>
                  </a:lnTo>
                  <a:lnTo>
                    <a:pt x="21525" y="21525"/>
                  </a:lnTo>
                  <a:lnTo>
                    <a:pt x="44789" y="5786"/>
                  </a:lnTo>
                  <a:lnTo>
                    <a:pt x="73147" y="0"/>
                  </a:lnTo>
                  <a:lnTo>
                    <a:pt x="2029972" y="0"/>
                  </a:lnTo>
                  <a:lnTo>
                    <a:pt x="2058330" y="5786"/>
                  </a:lnTo>
                  <a:lnTo>
                    <a:pt x="2081594" y="21525"/>
                  </a:lnTo>
                  <a:lnTo>
                    <a:pt x="2097333" y="44789"/>
                  </a:lnTo>
                  <a:lnTo>
                    <a:pt x="2103120" y="73147"/>
                  </a:lnTo>
                  <a:lnTo>
                    <a:pt x="2103120" y="1298452"/>
                  </a:lnTo>
                  <a:lnTo>
                    <a:pt x="2097333" y="1326810"/>
                  </a:lnTo>
                  <a:lnTo>
                    <a:pt x="2081594" y="1350074"/>
                  </a:lnTo>
                  <a:lnTo>
                    <a:pt x="2058330" y="1365813"/>
                  </a:lnTo>
                  <a:lnTo>
                    <a:pt x="2029972" y="1371600"/>
                  </a:lnTo>
                  <a:lnTo>
                    <a:pt x="73147" y="1371600"/>
                  </a:lnTo>
                  <a:lnTo>
                    <a:pt x="44789" y="1365813"/>
                  </a:lnTo>
                  <a:lnTo>
                    <a:pt x="21525" y="1350074"/>
                  </a:lnTo>
                  <a:lnTo>
                    <a:pt x="5786" y="1326810"/>
                  </a:lnTo>
                  <a:lnTo>
                    <a:pt x="0" y="1298452"/>
                  </a:lnTo>
                  <a:lnTo>
                    <a:pt x="0" y="73147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922523" y="3938329"/>
            <a:ext cx="1728470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50" dirty="0">
                <a:solidFill>
                  <a:srgbClr val="E75019"/>
                </a:solidFill>
                <a:latin typeface="Cambria"/>
                <a:cs typeface="Cambria"/>
              </a:rPr>
              <a:t>O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144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new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Adapter;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041138" y="3879850"/>
            <a:ext cx="2115820" cy="1384300"/>
            <a:chOff x="5041138" y="3879850"/>
            <a:chExt cx="2115820" cy="1384300"/>
          </a:xfrm>
        </p:grpSpPr>
        <p:sp>
          <p:nvSpPr>
            <p:cNvPr id="28" name="object 28"/>
            <p:cNvSpPr/>
            <p:nvPr/>
          </p:nvSpPr>
          <p:spPr>
            <a:xfrm>
              <a:off x="5047487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2029972" y="0"/>
                  </a:moveTo>
                  <a:lnTo>
                    <a:pt x="73147" y="0"/>
                  </a:lnTo>
                  <a:lnTo>
                    <a:pt x="44789" y="5786"/>
                  </a:lnTo>
                  <a:lnTo>
                    <a:pt x="21525" y="21525"/>
                  </a:lnTo>
                  <a:lnTo>
                    <a:pt x="5786" y="44789"/>
                  </a:lnTo>
                  <a:lnTo>
                    <a:pt x="0" y="73147"/>
                  </a:lnTo>
                  <a:lnTo>
                    <a:pt x="0" y="1298452"/>
                  </a:lnTo>
                  <a:lnTo>
                    <a:pt x="5786" y="1326810"/>
                  </a:lnTo>
                  <a:lnTo>
                    <a:pt x="21525" y="1350074"/>
                  </a:lnTo>
                  <a:lnTo>
                    <a:pt x="44789" y="1365813"/>
                  </a:lnTo>
                  <a:lnTo>
                    <a:pt x="73147" y="1371600"/>
                  </a:lnTo>
                  <a:lnTo>
                    <a:pt x="2029972" y="1371600"/>
                  </a:lnTo>
                  <a:lnTo>
                    <a:pt x="2058330" y="1365813"/>
                  </a:lnTo>
                  <a:lnTo>
                    <a:pt x="2081594" y="1350074"/>
                  </a:lnTo>
                  <a:lnTo>
                    <a:pt x="2097333" y="1326810"/>
                  </a:lnTo>
                  <a:lnTo>
                    <a:pt x="2103120" y="1298452"/>
                  </a:lnTo>
                  <a:lnTo>
                    <a:pt x="2103120" y="73147"/>
                  </a:lnTo>
                  <a:lnTo>
                    <a:pt x="2097333" y="44789"/>
                  </a:lnTo>
                  <a:lnTo>
                    <a:pt x="2081594" y="21525"/>
                  </a:lnTo>
                  <a:lnTo>
                    <a:pt x="2058330" y="5786"/>
                  </a:lnTo>
                  <a:lnTo>
                    <a:pt x="2029972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47487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0" y="73147"/>
                  </a:moveTo>
                  <a:lnTo>
                    <a:pt x="5786" y="44789"/>
                  </a:lnTo>
                  <a:lnTo>
                    <a:pt x="21525" y="21525"/>
                  </a:lnTo>
                  <a:lnTo>
                    <a:pt x="44789" y="5786"/>
                  </a:lnTo>
                  <a:lnTo>
                    <a:pt x="73147" y="0"/>
                  </a:lnTo>
                  <a:lnTo>
                    <a:pt x="2029972" y="0"/>
                  </a:lnTo>
                  <a:lnTo>
                    <a:pt x="2058330" y="5786"/>
                  </a:lnTo>
                  <a:lnTo>
                    <a:pt x="2081594" y="21525"/>
                  </a:lnTo>
                  <a:lnTo>
                    <a:pt x="2097333" y="44789"/>
                  </a:lnTo>
                  <a:lnTo>
                    <a:pt x="2103120" y="73147"/>
                  </a:lnTo>
                  <a:lnTo>
                    <a:pt x="2103120" y="1298452"/>
                  </a:lnTo>
                  <a:lnTo>
                    <a:pt x="2097333" y="1326810"/>
                  </a:lnTo>
                  <a:lnTo>
                    <a:pt x="2081594" y="1350074"/>
                  </a:lnTo>
                  <a:lnTo>
                    <a:pt x="2058330" y="1365813"/>
                  </a:lnTo>
                  <a:lnTo>
                    <a:pt x="2029972" y="1371600"/>
                  </a:lnTo>
                  <a:lnTo>
                    <a:pt x="73147" y="1371600"/>
                  </a:lnTo>
                  <a:lnTo>
                    <a:pt x="44789" y="1365813"/>
                  </a:lnTo>
                  <a:lnTo>
                    <a:pt x="21525" y="1350074"/>
                  </a:lnTo>
                  <a:lnTo>
                    <a:pt x="5786" y="1326810"/>
                  </a:lnTo>
                  <a:lnTo>
                    <a:pt x="0" y="1298452"/>
                  </a:lnTo>
                  <a:lnTo>
                    <a:pt x="0" y="73147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171947" y="3938329"/>
            <a:ext cx="1671955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50" dirty="0">
                <a:solidFill>
                  <a:srgbClr val="E75019"/>
                </a:solidFill>
                <a:latin typeface="Cambria"/>
                <a:cs typeface="Cambria"/>
              </a:rPr>
              <a:t>L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144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PaymentProvider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(Razorpay,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Stripe,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Mock)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substitutable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290561" y="3879850"/>
            <a:ext cx="2115820" cy="1384300"/>
            <a:chOff x="7290561" y="3879850"/>
            <a:chExt cx="2115820" cy="1384300"/>
          </a:xfrm>
        </p:grpSpPr>
        <p:sp>
          <p:nvSpPr>
            <p:cNvPr id="32" name="object 32"/>
            <p:cNvSpPr/>
            <p:nvPr/>
          </p:nvSpPr>
          <p:spPr>
            <a:xfrm>
              <a:off x="7296911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2029972" y="0"/>
                  </a:moveTo>
                  <a:lnTo>
                    <a:pt x="73147" y="0"/>
                  </a:lnTo>
                  <a:lnTo>
                    <a:pt x="44789" y="5786"/>
                  </a:lnTo>
                  <a:lnTo>
                    <a:pt x="21525" y="21525"/>
                  </a:lnTo>
                  <a:lnTo>
                    <a:pt x="5786" y="44789"/>
                  </a:lnTo>
                  <a:lnTo>
                    <a:pt x="0" y="73147"/>
                  </a:lnTo>
                  <a:lnTo>
                    <a:pt x="0" y="1298452"/>
                  </a:lnTo>
                  <a:lnTo>
                    <a:pt x="5786" y="1326810"/>
                  </a:lnTo>
                  <a:lnTo>
                    <a:pt x="21525" y="1350074"/>
                  </a:lnTo>
                  <a:lnTo>
                    <a:pt x="44789" y="1365813"/>
                  </a:lnTo>
                  <a:lnTo>
                    <a:pt x="73147" y="1371600"/>
                  </a:lnTo>
                  <a:lnTo>
                    <a:pt x="2029972" y="1371600"/>
                  </a:lnTo>
                  <a:lnTo>
                    <a:pt x="2058330" y="1365813"/>
                  </a:lnTo>
                  <a:lnTo>
                    <a:pt x="2081594" y="1350074"/>
                  </a:lnTo>
                  <a:lnTo>
                    <a:pt x="2097333" y="1326810"/>
                  </a:lnTo>
                  <a:lnTo>
                    <a:pt x="2103120" y="1298452"/>
                  </a:lnTo>
                  <a:lnTo>
                    <a:pt x="2103120" y="73147"/>
                  </a:lnTo>
                  <a:lnTo>
                    <a:pt x="2097333" y="44789"/>
                  </a:lnTo>
                  <a:lnTo>
                    <a:pt x="2081594" y="21525"/>
                  </a:lnTo>
                  <a:lnTo>
                    <a:pt x="2058330" y="5786"/>
                  </a:lnTo>
                  <a:lnTo>
                    <a:pt x="2029972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96911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0" y="73147"/>
                  </a:moveTo>
                  <a:lnTo>
                    <a:pt x="5786" y="44789"/>
                  </a:lnTo>
                  <a:lnTo>
                    <a:pt x="21525" y="21525"/>
                  </a:lnTo>
                  <a:lnTo>
                    <a:pt x="44789" y="5786"/>
                  </a:lnTo>
                  <a:lnTo>
                    <a:pt x="73147" y="0"/>
                  </a:lnTo>
                  <a:lnTo>
                    <a:pt x="2029972" y="0"/>
                  </a:lnTo>
                  <a:lnTo>
                    <a:pt x="2058330" y="5786"/>
                  </a:lnTo>
                  <a:lnTo>
                    <a:pt x="2081594" y="21525"/>
                  </a:lnTo>
                  <a:lnTo>
                    <a:pt x="2097333" y="44789"/>
                  </a:lnTo>
                  <a:lnTo>
                    <a:pt x="2103120" y="73147"/>
                  </a:lnTo>
                  <a:lnTo>
                    <a:pt x="2103120" y="1298452"/>
                  </a:lnTo>
                  <a:lnTo>
                    <a:pt x="2097333" y="1326810"/>
                  </a:lnTo>
                  <a:lnTo>
                    <a:pt x="2081594" y="1350074"/>
                  </a:lnTo>
                  <a:lnTo>
                    <a:pt x="2058330" y="1365813"/>
                  </a:lnTo>
                  <a:lnTo>
                    <a:pt x="2029972" y="1371600"/>
                  </a:lnTo>
                  <a:lnTo>
                    <a:pt x="73147" y="1371600"/>
                  </a:lnTo>
                  <a:lnTo>
                    <a:pt x="44789" y="1365813"/>
                  </a:lnTo>
                  <a:lnTo>
                    <a:pt x="21525" y="1350074"/>
                  </a:lnTo>
                  <a:lnTo>
                    <a:pt x="5786" y="1326810"/>
                  </a:lnTo>
                  <a:lnTo>
                    <a:pt x="0" y="1298452"/>
                  </a:lnTo>
                  <a:lnTo>
                    <a:pt x="0" y="73147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421371" y="3938329"/>
            <a:ext cx="109982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50" dirty="0">
                <a:solidFill>
                  <a:srgbClr val="E75019"/>
                </a:solidFill>
                <a:latin typeface="Cambria"/>
                <a:cs typeface="Cambria"/>
              </a:rPr>
              <a:t>I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144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interfaces: StockReserver, PaymentCharger, OrderNotifier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539985" y="3879850"/>
            <a:ext cx="2115820" cy="1384300"/>
            <a:chOff x="9539985" y="3879850"/>
            <a:chExt cx="2115820" cy="1384300"/>
          </a:xfrm>
        </p:grpSpPr>
        <p:sp>
          <p:nvSpPr>
            <p:cNvPr id="36" name="object 36"/>
            <p:cNvSpPr/>
            <p:nvPr/>
          </p:nvSpPr>
          <p:spPr>
            <a:xfrm>
              <a:off x="9546335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2029972" y="0"/>
                  </a:moveTo>
                  <a:lnTo>
                    <a:pt x="73147" y="0"/>
                  </a:lnTo>
                  <a:lnTo>
                    <a:pt x="44789" y="5786"/>
                  </a:lnTo>
                  <a:lnTo>
                    <a:pt x="21525" y="21525"/>
                  </a:lnTo>
                  <a:lnTo>
                    <a:pt x="5786" y="44789"/>
                  </a:lnTo>
                  <a:lnTo>
                    <a:pt x="0" y="73147"/>
                  </a:lnTo>
                  <a:lnTo>
                    <a:pt x="0" y="1298452"/>
                  </a:lnTo>
                  <a:lnTo>
                    <a:pt x="5786" y="1326810"/>
                  </a:lnTo>
                  <a:lnTo>
                    <a:pt x="21525" y="1350074"/>
                  </a:lnTo>
                  <a:lnTo>
                    <a:pt x="44789" y="1365813"/>
                  </a:lnTo>
                  <a:lnTo>
                    <a:pt x="73147" y="1371600"/>
                  </a:lnTo>
                  <a:lnTo>
                    <a:pt x="2029972" y="1371600"/>
                  </a:lnTo>
                  <a:lnTo>
                    <a:pt x="2058330" y="1365813"/>
                  </a:lnTo>
                  <a:lnTo>
                    <a:pt x="2081594" y="1350074"/>
                  </a:lnTo>
                  <a:lnTo>
                    <a:pt x="2097333" y="1326810"/>
                  </a:lnTo>
                  <a:lnTo>
                    <a:pt x="2103120" y="1298452"/>
                  </a:lnTo>
                  <a:lnTo>
                    <a:pt x="2103120" y="73147"/>
                  </a:lnTo>
                  <a:lnTo>
                    <a:pt x="2097333" y="44789"/>
                  </a:lnTo>
                  <a:lnTo>
                    <a:pt x="2081594" y="21525"/>
                  </a:lnTo>
                  <a:lnTo>
                    <a:pt x="2058330" y="5786"/>
                  </a:lnTo>
                  <a:lnTo>
                    <a:pt x="2029972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46335" y="3886199"/>
              <a:ext cx="2103120" cy="1371600"/>
            </a:xfrm>
            <a:custGeom>
              <a:avLst/>
              <a:gdLst/>
              <a:ahLst/>
              <a:cxnLst/>
              <a:rect l="l" t="t" r="r" b="b"/>
              <a:pathLst>
                <a:path w="2103120" h="1371600">
                  <a:moveTo>
                    <a:pt x="0" y="73147"/>
                  </a:moveTo>
                  <a:lnTo>
                    <a:pt x="5786" y="44789"/>
                  </a:lnTo>
                  <a:lnTo>
                    <a:pt x="21525" y="21525"/>
                  </a:lnTo>
                  <a:lnTo>
                    <a:pt x="44789" y="5786"/>
                  </a:lnTo>
                  <a:lnTo>
                    <a:pt x="73147" y="0"/>
                  </a:lnTo>
                  <a:lnTo>
                    <a:pt x="2029972" y="0"/>
                  </a:lnTo>
                  <a:lnTo>
                    <a:pt x="2058330" y="5786"/>
                  </a:lnTo>
                  <a:lnTo>
                    <a:pt x="2081594" y="21525"/>
                  </a:lnTo>
                  <a:lnTo>
                    <a:pt x="2097333" y="44789"/>
                  </a:lnTo>
                  <a:lnTo>
                    <a:pt x="2103120" y="73147"/>
                  </a:lnTo>
                  <a:lnTo>
                    <a:pt x="2103120" y="1298452"/>
                  </a:lnTo>
                  <a:lnTo>
                    <a:pt x="2097333" y="1326810"/>
                  </a:lnTo>
                  <a:lnTo>
                    <a:pt x="2081594" y="1350074"/>
                  </a:lnTo>
                  <a:lnTo>
                    <a:pt x="2058330" y="1365813"/>
                  </a:lnTo>
                  <a:lnTo>
                    <a:pt x="2029972" y="1371600"/>
                  </a:lnTo>
                  <a:lnTo>
                    <a:pt x="73147" y="1371600"/>
                  </a:lnTo>
                  <a:lnTo>
                    <a:pt x="44789" y="1365813"/>
                  </a:lnTo>
                  <a:lnTo>
                    <a:pt x="21525" y="1350074"/>
                  </a:lnTo>
                  <a:lnTo>
                    <a:pt x="5786" y="1326810"/>
                  </a:lnTo>
                  <a:lnTo>
                    <a:pt x="0" y="1298452"/>
                  </a:lnTo>
                  <a:lnTo>
                    <a:pt x="0" y="73147"/>
                  </a:lnTo>
                  <a:close/>
                </a:path>
              </a:pathLst>
            </a:custGeom>
            <a:ln w="12699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670795" y="3938329"/>
            <a:ext cx="1541780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50" dirty="0">
                <a:solidFill>
                  <a:srgbClr val="E75019"/>
                </a:solidFill>
                <a:latin typeface="Cambria"/>
                <a:cs typeface="Cambria"/>
              </a:rPr>
              <a:t>D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144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depend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interfaces;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Factory</a:t>
            </a:r>
            <a:r>
              <a:rPr sz="1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wires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concrete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5940" y="5417818"/>
            <a:ext cx="108966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b="1" spc="-20" dirty="0">
                <a:solidFill>
                  <a:srgbClr val="E75019"/>
                </a:solidFill>
                <a:latin typeface="Calibri"/>
                <a:cs typeface="Calibri"/>
              </a:rPr>
              <a:t>Trade-</a:t>
            </a:r>
            <a:r>
              <a:rPr sz="1250" b="1" dirty="0">
                <a:solidFill>
                  <a:srgbClr val="E75019"/>
                </a:solidFill>
                <a:latin typeface="Calibri"/>
                <a:cs typeface="Calibri"/>
              </a:rPr>
              <a:t>offs: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Adapter/Factory/Strategy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add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indirection;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State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adds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many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small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classes;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Observer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is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 asynchronous,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so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consumers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must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be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idempotent.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Validation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sits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at</a:t>
            </a:r>
            <a:r>
              <a:rPr sz="125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the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gateway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and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services;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idempotency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in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repositories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(UNIQUE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keys);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errors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map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to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typed</a:t>
            </a:r>
            <a:r>
              <a:rPr sz="125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11826"/>
                </a:solidFill>
                <a:latin typeface="Calibri"/>
                <a:cs typeface="Calibri"/>
              </a:rPr>
              <a:t>domain</a:t>
            </a:r>
            <a:r>
              <a:rPr sz="125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1826"/>
                </a:solidFill>
                <a:latin typeface="Calibri"/>
                <a:cs typeface="Calibri"/>
              </a:rPr>
              <a:t>exceptions.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11826"/>
                </a:solidFill>
              </a:rPr>
              <a:t>Scalability,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reliability,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security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dirty="0">
                <a:solidFill>
                  <a:srgbClr val="111826"/>
                </a:solidFill>
              </a:rPr>
              <a:t>and</a:t>
            </a:r>
            <a:r>
              <a:rPr spc="-5" dirty="0">
                <a:solidFill>
                  <a:srgbClr val="111826"/>
                </a:solidFill>
              </a:rPr>
              <a:t> </a:t>
            </a:r>
            <a:r>
              <a:rPr spc="-10" dirty="0">
                <a:solidFill>
                  <a:srgbClr val="111826"/>
                </a:solidFill>
              </a:rPr>
              <a:t>observability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2289" y="1228090"/>
            <a:ext cx="5453380" cy="2481580"/>
            <a:chOff x="542289" y="1228090"/>
            <a:chExt cx="5453380" cy="2481580"/>
          </a:xfrm>
        </p:grpSpPr>
        <p:sp>
          <p:nvSpPr>
            <p:cNvPr id="4" name="object 4"/>
            <p:cNvSpPr/>
            <p:nvPr/>
          </p:nvSpPr>
          <p:spPr>
            <a:xfrm>
              <a:off x="548639" y="1234440"/>
              <a:ext cx="5440680" cy="2468880"/>
            </a:xfrm>
            <a:custGeom>
              <a:avLst/>
              <a:gdLst/>
              <a:ahLst/>
              <a:cxnLst/>
              <a:rect l="l" t="t" r="r" b="b"/>
              <a:pathLst>
                <a:path w="5440680" h="2468879">
                  <a:moveTo>
                    <a:pt x="5367527" y="0"/>
                  </a:moveTo>
                  <a:lnTo>
                    <a:pt x="73152" y="0"/>
                  </a:lnTo>
                  <a:lnTo>
                    <a:pt x="44792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2395726"/>
                  </a:lnTo>
                  <a:lnTo>
                    <a:pt x="5786" y="2424087"/>
                  </a:lnTo>
                  <a:lnTo>
                    <a:pt x="21527" y="2447352"/>
                  </a:lnTo>
                  <a:lnTo>
                    <a:pt x="44792" y="2463093"/>
                  </a:lnTo>
                  <a:lnTo>
                    <a:pt x="73152" y="2468879"/>
                  </a:lnTo>
                  <a:lnTo>
                    <a:pt x="5367527" y="2468879"/>
                  </a:lnTo>
                  <a:lnTo>
                    <a:pt x="5395887" y="2463093"/>
                  </a:lnTo>
                  <a:lnTo>
                    <a:pt x="5419152" y="2447352"/>
                  </a:lnTo>
                  <a:lnTo>
                    <a:pt x="5434893" y="2424087"/>
                  </a:lnTo>
                  <a:lnTo>
                    <a:pt x="5440680" y="2395726"/>
                  </a:lnTo>
                  <a:lnTo>
                    <a:pt x="5440680" y="73153"/>
                  </a:lnTo>
                  <a:lnTo>
                    <a:pt x="5434893" y="44792"/>
                  </a:lnTo>
                  <a:lnTo>
                    <a:pt x="5419152" y="21527"/>
                  </a:lnTo>
                  <a:lnTo>
                    <a:pt x="5395887" y="5786"/>
                  </a:lnTo>
                  <a:lnTo>
                    <a:pt x="5367527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39" y="1234440"/>
              <a:ext cx="5440680" cy="2468880"/>
            </a:xfrm>
            <a:custGeom>
              <a:avLst/>
              <a:gdLst/>
              <a:ahLst/>
              <a:cxnLst/>
              <a:rect l="l" t="t" r="r" b="b"/>
              <a:pathLst>
                <a:path w="5440680" h="2468879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2" y="5786"/>
                  </a:lnTo>
                  <a:lnTo>
                    <a:pt x="73152" y="0"/>
                  </a:lnTo>
                  <a:lnTo>
                    <a:pt x="5367527" y="0"/>
                  </a:lnTo>
                  <a:lnTo>
                    <a:pt x="5395887" y="5786"/>
                  </a:lnTo>
                  <a:lnTo>
                    <a:pt x="5419152" y="21527"/>
                  </a:lnTo>
                  <a:lnTo>
                    <a:pt x="5434893" y="44792"/>
                  </a:lnTo>
                  <a:lnTo>
                    <a:pt x="5440680" y="73153"/>
                  </a:lnTo>
                  <a:lnTo>
                    <a:pt x="5440680" y="2395726"/>
                  </a:lnTo>
                  <a:lnTo>
                    <a:pt x="5434893" y="2424087"/>
                  </a:lnTo>
                  <a:lnTo>
                    <a:pt x="5419152" y="2447352"/>
                  </a:lnTo>
                  <a:lnTo>
                    <a:pt x="5395887" y="2463093"/>
                  </a:lnTo>
                  <a:lnTo>
                    <a:pt x="5367527" y="2468879"/>
                  </a:lnTo>
                  <a:lnTo>
                    <a:pt x="73152" y="2468879"/>
                  </a:lnTo>
                  <a:lnTo>
                    <a:pt x="44792" y="2463093"/>
                  </a:lnTo>
                  <a:lnTo>
                    <a:pt x="21527" y="2447352"/>
                  </a:lnTo>
                  <a:lnTo>
                    <a:pt x="5786" y="2424087"/>
                  </a:lnTo>
                  <a:lnTo>
                    <a:pt x="0" y="2395726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4540" y="1353004"/>
            <a:ext cx="4382770" cy="1400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Scale</a:t>
            </a:r>
            <a:r>
              <a:rPr sz="1700" b="1" spc="-35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to</a:t>
            </a:r>
            <a:r>
              <a:rPr sz="1700" b="1" spc="-35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50x</a:t>
            </a:r>
            <a:r>
              <a:rPr sz="1700" b="1" spc="-35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E75019"/>
                </a:solidFill>
                <a:latin typeface="Cambria"/>
                <a:cs typeface="Cambria"/>
              </a:rPr>
              <a:t>(500k</a:t>
            </a:r>
            <a:r>
              <a:rPr sz="1700" b="1" spc="-35" dirty="0">
                <a:solidFill>
                  <a:srgbClr val="E7501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E75019"/>
                </a:solidFill>
                <a:latin typeface="Cambria"/>
                <a:cs typeface="Cambria"/>
              </a:rPr>
              <a:t>req/s)</a:t>
            </a:r>
            <a:endParaRPr sz="17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53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CDN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waiting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room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absorb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reads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and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cap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what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enters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Stateless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gateway/services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autoscale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behind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LB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Hot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key: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Redis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shard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per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product;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big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stock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split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into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sub-buckets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DB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sees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only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~100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reserve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writes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payments: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not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bottleneck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65850" y="1228090"/>
            <a:ext cx="5453380" cy="2481580"/>
            <a:chOff x="6165850" y="1228090"/>
            <a:chExt cx="5453380" cy="2481580"/>
          </a:xfrm>
        </p:grpSpPr>
        <p:sp>
          <p:nvSpPr>
            <p:cNvPr id="8" name="object 8"/>
            <p:cNvSpPr/>
            <p:nvPr/>
          </p:nvSpPr>
          <p:spPr>
            <a:xfrm>
              <a:off x="6172199" y="1234440"/>
              <a:ext cx="5440680" cy="2468880"/>
            </a:xfrm>
            <a:custGeom>
              <a:avLst/>
              <a:gdLst/>
              <a:ahLst/>
              <a:cxnLst/>
              <a:rect l="l" t="t" r="r" b="b"/>
              <a:pathLst>
                <a:path w="5440680" h="2468879">
                  <a:moveTo>
                    <a:pt x="5367527" y="0"/>
                  </a:moveTo>
                  <a:lnTo>
                    <a:pt x="73152" y="0"/>
                  </a:lnTo>
                  <a:lnTo>
                    <a:pt x="44792" y="5786"/>
                  </a:lnTo>
                  <a:lnTo>
                    <a:pt x="21527" y="21527"/>
                  </a:lnTo>
                  <a:lnTo>
                    <a:pt x="5786" y="44792"/>
                  </a:lnTo>
                  <a:lnTo>
                    <a:pt x="0" y="73153"/>
                  </a:lnTo>
                  <a:lnTo>
                    <a:pt x="0" y="2395726"/>
                  </a:lnTo>
                  <a:lnTo>
                    <a:pt x="5786" y="2424087"/>
                  </a:lnTo>
                  <a:lnTo>
                    <a:pt x="21527" y="2447352"/>
                  </a:lnTo>
                  <a:lnTo>
                    <a:pt x="44792" y="2463093"/>
                  </a:lnTo>
                  <a:lnTo>
                    <a:pt x="73152" y="2468879"/>
                  </a:lnTo>
                  <a:lnTo>
                    <a:pt x="5367527" y="2468879"/>
                  </a:lnTo>
                  <a:lnTo>
                    <a:pt x="5395887" y="2463093"/>
                  </a:lnTo>
                  <a:lnTo>
                    <a:pt x="5419152" y="2447352"/>
                  </a:lnTo>
                  <a:lnTo>
                    <a:pt x="5434893" y="2424087"/>
                  </a:lnTo>
                  <a:lnTo>
                    <a:pt x="5440680" y="2395726"/>
                  </a:lnTo>
                  <a:lnTo>
                    <a:pt x="5440680" y="73153"/>
                  </a:lnTo>
                  <a:lnTo>
                    <a:pt x="5434893" y="44792"/>
                  </a:lnTo>
                  <a:lnTo>
                    <a:pt x="5419152" y="21527"/>
                  </a:lnTo>
                  <a:lnTo>
                    <a:pt x="5395887" y="5786"/>
                  </a:lnTo>
                  <a:lnTo>
                    <a:pt x="5367527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72199" y="1234440"/>
              <a:ext cx="5440680" cy="2468880"/>
            </a:xfrm>
            <a:custGeom>
              <a:avLst/>
              <a:gdLst/>
              <a:ahLst/>
              <a:cxnLst/>
              <a:rect l="l" t="t" r="r" b="b"/>
              <a:pathLst>
                <a:path w="5440680" h="2468879">
                  <a:moveTo>
                    <a:pt x="0" y="73153"/>
                  </a:moveTo>
                  <a:lnTo>
                    <a:pt x="5786" y="44792"/>
                  </a:lnTo>
                  <a:lnTo>
                    <a:pt x="21527" y="21527"/>
                  </a:lnTo>
                  <a:lnTo>
                    <a:pt x="44792" y="5786"/>
                  </a:lnTo>
                  <a:lnTo>
                    <a:pt x="73152" y="0"/>
                  </a:lnTo>
                  <a:lnTo>
                    <a:pt x="5367527" y="0"/>
                  </a:lnTo>
                  <a:lnTo>
                    <a:pt x="5395887" y="5786"/>
                  </a:lnTo>
                  <a:lnTo>
                    <a:pt x="5419152" y="21527"/>
                  </a:lnTo>
                  <a:lnTo>
                    <a:pt x="5434893" y="44792"/>
                  </a:lnTo>
                  <a:lnTo>
                    <a:pt x="5440680" y="73153"/>
                  </a:lnTo>
                  <a:lnTo>
                    <a:pt x="5440680" y="2395726"/>
                  </a:lnTo>
                  <a:lnTo>
                    <a:pt x="5434893" y="2424087"/>
                  </a:lnTo>
                  <a:lnTo>
                    <a:pt x="5419152" y="2447352"/>
                  </a:lnTo>
                  <a:lnTo>
                    <a:pt x="5395887" y="2463093"/>
                  </a:lnTo>
                  <a:lnTo>
                    <a:pt x="5367527" y="2468879"/>
                  </a:lnTo>
                  <a:lnTo>
                    <a:pt x="73152" y="2468879"/>
                  </a:lnTo>
                  <a:lnTo>
                    <a:pt x="44792" y="2463093"/>
                  </a:lnTo>
                  <a:lnTo>
                    <a:pt x="21527" y="2447352"/>
                  </a:lnTo>
                  <a:lnTo>
                    <a:pt x="5786" y="2424087"/>
                  </a:lnTo>
                  <a:lnTo>
                    <a:pt x="0" y="2395726"/>
                  </a:lnTo>
                  <a:lnTo>
                    <a:pt x="0" y="73153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88100" y="1353004"/>
            <a:ext cx="16668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0D8E7F"/>
                </a:solidFill>
                <a:latin typeface="Cambria"/>
                <a:cs typeface="Cambria"/>
              </a:rPr>
              <a:t>Failure</a:t>
            </a:r>
            <a:r>
              <a:rPr sz="1700" b="1" spc="-65" dirty="0">
                <a:solidFill>
                  <a:srgbClr val="0D8E7F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0D8E7F"/>
                </a:solidFill>
                <a:latin typeface="Cambria"/>
                <a:cs typeface="Cambria"/>
              </a:rPr>
              <a:t>recovery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8100" y="1742846"/>
            <a:ext cx="4504690" cy="101091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DB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primary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lost: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sync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replica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promoted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(RTO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&lt;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1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min)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Redis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lost: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gate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rebuilt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from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DB,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which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still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guards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stock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Gateway</a:t>
            </a:r>
            <a:r>
              <a:rPr sz="1200" spc="-5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down:</a:t>
            </a:r>
            <a:r>
              <a:rPr sz="1200" spc="-4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breaker,</a:t>
            </a:r>
            <a:r>
              <a:rPr sz="120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extend</a:t>
            </a:r>
            <a:r>
              <a:rPr sz="1200" spc="-4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TTL,</a:t>
            </a:r>
            <a:r>
              <a:rPr sz="120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secondary</a:t>
            </a:r>
            <a:r>
              <a:rPr sz="1200" spc="-4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provider,</a:t>
            </a:r>
            <a:r>
              <a:rPr sz="1200" spc="-4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reconcile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All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consumers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idempotent;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DLQ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for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poison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messages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2289" y="3834130"/>
            <a:ext cx="5453380" cy="2435860"/>
            <a:chOff x="542289" y="3834130"/>
            <a:chExt cx="5453380" cy="2435860"/>
          </a:xfrm>
        </p:grpSpPr>
        <p:sp>
          <p:nvSpPr>
            <p:cNvPr id="13" name="object 13"/>
            <p:cNvSpPr/>
            <p:nvPr/>
          </p:nvSpPr>
          <p:spPr>
            <a:xfrm>
              <a:off x="548639" y="3840480"/>
              <a:ext cx="5440680" cy="2423160"/>
            </a:xfrm>
            <a:custGeom>
              <a:avLst/>
              <a:gdLst/>
              <a:ahLst/>
              <a:cxnLst/>
              <a:rect l="l" t="t" r="r" b="b"/>
              <a:pathLst>
                <a:path w="5440680" h="2423160">
                  <a:moveTo>
                    <a:pt x="5367524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8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2350004"/>
                  </a:lnTo>
                  <a:lnTo>
                    <a:pt x="5786" y="2378365"/>
                  </a:lnTo>
                  <a:lnTo>
                    <a:pt x="21528" y="2401631"/>
                  </a:lnTo>
                  <a:lnTo>
                    <a:pt x="44793" y="2417372"/>
                  </a:lnTo>
                  <a:lnTo>
                    <a:pt x="73154" y="2423160"/>
                  </a:lnTo>
                  <a:lnTo>
                    <a:pt x="5367524" y="2423160"/>
                  </a:lnTo>
                  <a:lnTo>
                    <a:pt x="5395885" y="2417372"/>
                  </a:lnTo>
                  <a:lnTo>
                    <a:pt x="5419151" y="2401631"/>
                  </a:lnTo>
                  <a:lnTo>
                    <a:pt x="5434892" y="2378365"/>
                  </a:lnTo>
                  <a:lnTo>
                    <a:pt x="5440680" y="2350004"/>
                  </a:lnTo>
                  <a:lnTo>
                    <a:pt x="5440680" y="73154"/>
                  </a:lnTo>
                  <a:lnTo>
                    <a:pt x="5434892" y="44793"/>
                  </a:lnTo>
                  <a:lnTo>
                    <a:pt x="5419151" y="21527"/>
                  </a:lnTo>
                  <a:lnTo>
                    <a:pt x="5395885" y="5786"/>
                  </a:lnTo>
                  <a:lnTo>
                    <a:pt x="5367524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639" y="3840480"/>
              <a:ext cx="5440680" cy="2423160"/>
            </a:xfrm>
            <a:custGeom>
              <a:avLst/>
              <a:gdLst/>
              <a:ahLst/>
              <a:cxnLst/>
              <a:rect l="l" t="t" r="r" b="b"/>
              <a:pathLst>
                <a:path w="5440680" h="2423160">
                  <a:moveTo>
                    <a:pt x="0" y="73154"/>
                  </a:moveTo>
                  <a:lnTo>
                    <a:pt x="5786" y="44793"/>
                  </a:lnTo>
                  <a:lnTo>
                    <a:pt x="21528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5367524" y="0"/>
                  </a:lnTo>
                  <a:lnTo>
                    <a:pt x="5395885" y="5786"/>
                  </a:lnTo>
                  <a:lnTo>
                    <a:pt x="5419151" y="21527"/>
                  </a:lnTo>
                  <a:lnTo>
                    <a:pt x="5434892" y="44793"/>
                  </a:lnTo>
                  <a:lnTo>
                    <a:pt x="5440680" y="73154"/>
                  </a:lnTo>
                  <a:lnTo>
                    <a:pt x="5440680" y="2350004"/>
                  </a:lnTo>
                  <a:lnTo>
                    <a:pt x="5434892" y="2378365"/>
                  </a:lnTo>
                  <a:lnTo>
                    <a:pt x="5419151" y="2401631"/>
                  </a:lnTo>
                  <a:lnTo>
                    <a:pt x="5395885" y="2417372"/>
                  </a:lnTo>
                  <a:lnTo>
                    <a:pt x="5367524" y="2423160"/>
                  </a:lnTo>
                  <a:lnTo>
                    <a:pt x="73154" y="2423160"/>
                  </a:lnTo>
                  <a:lnTo>
                    <a:pt x="44793" y="2417372"/>
                  </a:lnTo>
                  <a:lnTo>
                    <a:pt x="21528" y="2401631"/>
                  </a:lnTo>
                  <a:lnTo>
                    <a:pt x="5786" y="2378365"/>
                  </a:lnTo>
                  <a:lnTo>
                    <a:pt x="0" y="2350004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64540" y="3959044"/>
            <a:ext cx="3306445" cy="1400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3A66C7"/>
                </a:solidFill>
                <a:latin typeface="Cambria"/>
                <a:cs typeface="Cambria"/>
              </a:rPr>
              <a:t>Security</a:t>
            </a:r>
            <a:endParaRPr sz="17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530"/>
              </a:spcBef>
              <a:buChar char="•"/>
              <a:tabLst>
                <a:tab pos="354965" algn="l"/>
              </a:tabLst>
            </a:pP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OAuth2/JWT,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TLS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everywhere,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WAF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bot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 limits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Tokenised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payments,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HMAC-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verified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webhooks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Input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validation,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secrets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in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vault,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least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privilege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Immutable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audit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log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of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every</a:t>
            </a:r>
            <a:r>
              <a:rPr sz="1200" spc="-3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state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change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65850" y="3834130"/>
            <a:ext cx="5453380" cy="2435860"/>
            <a:chOff x="6165850" y="3834130"/>
            <a:chExt cx="5453380" cy="2435860"/>
          </a:xfrm>
        </p:grpSpPr>
        <p:sp>
          <p:nvSpPr>
            <p:cNvPr id="17" name="object 17"/>
            <p:cNvSpPr/>
            <p:nvPr/>
          </p:nvSpPr>
          <p:spPr>
            <a:xfrm>
              <a:off x="6172199" y="3840480"/>
              <a:ext cx="5440680" cy="2423160"/>
            </a:xfrm>
            <a:custGeom>
              <a:avLst/>
              <a:gdLst/>
              <a:ahLst/>
              <a:cxnLst/>
              <a:rect l="l" t="t" r="r" b="b"/>
              <a:pathLst>
                <a:path w="5440680" h="2423160">
                  <a:moveTo>
                    <a:pt x="5367524" y="0"/>
                  </a:moveTo>
                  <a:lnTo>
                    <a:pt x="73154" y="0"/>
                  </a:lnTo>
                  <a:lnTo>
                    <a:pt x="44793" y="5786"/>
                  </a:lnTo>
                  <a:lnTo>
                    <a:pt x="21528" y="21527"/>
                  </a:lnTo>
                  <a:lnTo>
                    <a:pt x="5786" y="44793"/>
                  </a:lnTo>
                  <a:lnTo>
                    <a:pt x="0" y="73154"/>
                  </a:lnTo>
                  <a:lnTo>
                    <a:pt x="0" y="2350004"/>
                  </a:lnTo>
                  <a:lnTo>
                    <a:pt x="5786" y="2378365"/>
                  </a:lnTo>
                  <a:lnTo>
                    <a:pt x="21528" y="2401631"/>
                  </a:lnTo>
                  <a:lnTo>
                    <a:pt x="44793" y="2417372"/>
                  </a:lnTo>
                  <a:lnTo>
                    <a:pt x="73154" y="2423160"/>
                  </a:lnTo>
                  <a:lnTo>
                    <a:pt x="5367524" y="2423160"/>
                  </a:lnTo>
                  <a:lnTo>
                    <a:pt x="5395885" y="2417372"/>
                  </a:lnTo>
                  <a:lnTo>
                    <a:pt x="5419151" y="2401631"/>
                  </a:lnTo>
                  <a:lnTo>
                    <a:pt x="5434892" y="2378365"/>
                  </a:lnTo>
                  <a:lnTo>
                    <a:pt x="5440680" y="2350004"/>
                  </a:lnTo>
                  <a:lnTo>
                    <a:pt x="5440680" y="73154"/>
                  </a:lnTo>
                  <a:lnTo>
                    <a:pt x="5434892" y="44793"/>
                  </a:lnTo>
                  <a:lnTo>
                    <a:pt x="5419151" y="21527"/>
                  </a:lnTo>
                  <a:lnTo>
                    <a:pt x="5395885" y="5786"/>
                  </a:lnTo>
                  <a:lnTo>
                    <a:pt x="5367524" y="0"/>
                  </a:lnTo>
                  <a:close/>
                </a:path>
              </a:pathLst>
            </a:custGeom>
            <a:solidFill>
              <a:srgbClr val="F1F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72199" y="3840480"/>
              <a:ext cx="5440680" cy="2423160"/>
            </a:xfrm>
            <a:custGeom>
              <a:avLst/>
              <a:gdLst/>
              <a:ahLst/>
              <a:cxnLst/>
              <a:rect l="l" t="t" r="r" b="b"/>
              <a:pathLst>
                <a:path w="5440680" h="2423160">
                  <a:moveTo>
                    <a:pt x="0" y="73154"/>
                  </a:moveTo>
                  <a:lnTo>
                    <a:pt x="5786" y="44793"/>
                  </a:lnTo>
                  <a:lnTo>
                    <a:pt x="21528" y="21527"/>
                  </a:lnTo>
                  <a:lnTo>
                    <a:pt x="44793" y="5786"/>
                  </a:lnTo>
                  <a:lnTo>
                    <a:pt x="73154" y="0"/>
                  </a:lnTo>
                  <a:lnTo>
                    <a:pt x="5367524" y="0"/>
                  </a:lnTo>
                  <a:lnTo>
                    <a:pt x="5395885" y="5786"/>
                  </a:lnTo>
                  <a:lnTo>
                    <a:pt x="5419151" y="21527"/>
                  </a:lnTo>
                  <a:lnTo>
                    <a:pt x="5434892" y="44793"/>
                  </a:lnTo>
                  <a:lnTo>
                    <a:pt x="5440680" y="73154"/>
                  </a:lnTo>
                  <a:lnTo>
                    <a:pt x="5440680" y="2350004"/>
                  </a:lnTo>
                  <a:lnTo>
                    <a:pt x="5434892" y="2378365"/>
                  </a:lnTo>
                  <a:lnTo>
                    <a:pt x="5419151" y="2401631"/>
                  </a:lnTo>
                  <a:lnTo>
                    <a:pt x="5395885" y="2417372"/>
                  </a:lnTo>
                  <a:lnTo>
                    <a:pt x="5367524" y="2423160"/>
                  </a:lnTo>
                  <a:lnTo>
                    <a:pt x="73154" y="2423160"/>
                  </a:lnTo>
                  <a:lnTo>
                    <a:pt x="44793" y="2417372"/>
                  </a:lnTo>
                  <a:lnTo>
                    <a:pt x="21528" y="2401631"/>
                  </a:lnTo>
                  <a:lnTo>
                    <a:pt x="5786" y="2378365"/>
                  </a:lnTo>
                  <a:lnTo>
                    <a:pt x="0" y="2350004"/>
                  </a:lnTo>
                  <a:lnTo>
                    <a:pt x="0" y="73154"/>
                  </a:lnTo>
                  <a:close/>
                </a:path>
              </a:pathLst>
            </a:custGeom>
            <a:ln w="12699">
              <a:solidFill>
                <a:srgbClr val="F1F2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88100" y="3959044"/>
            <a:ext cx="13696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B02A5A"/>
                </a:solidFill>
                <a:latin typeface="Cambria"/>
                <a:cs typeface="Cambria"/>
              </a:rPr>
              <a:t>Observability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88100" y="4412386"/>
            <a:ext cx="5003800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4452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Metrics: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req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rate,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p99,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sold-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out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rate,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payment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fail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%,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conversion, consumer</a:t>
            </a:r>
            <a:r>
              <a:rPr sz="1200" spc="-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lag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JSON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logs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OpenTelemetry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trace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across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checkout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&gt;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payment</a:t>
            </a:r>
            <a:r>
              <a:rPr sz="1200" spc="-1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&gt;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11826"/>
                </a:solidFill>
                <a:latin typeface="Calibri"/>
                <a:cs typeface="Calibri"/>
              </a:rPr>
              <a:t>order</a:t>
            </a:r>
            <a:endParaRPr sz="1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5600" algn="l"/>
              </a:tabLst>
            </a:pP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Alerts: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available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reserved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+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sold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!=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total;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paid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without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order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&gt;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60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s;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DLQ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111826"/>
                </a:solidFill>
                <a:latin typeface="Calibri"/>
                <a:cs typeface="Calibri"/>
              </a:rPr>
              <a:t>&gt;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0;</a:t>
            </a:r>
            <a:r>
              <a:rPr sz="1200" spc="-25" dirty="0">
                <a:solidFill>
                  <a:srgbClr val="1118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11826"/>
                </a:solidFill>
                <a:latin typeface="Calibri"/>
                <a:cs typeface="Calibri"/>
              </a:rPr>
              <a:t>breaker</a:t>
            </a:r>
            <a:r>
              <a:rPr sz="1200" spc="-20" dirty="0">
                <a:solidFill>
                  <a:srgbClr val="111826"/>
                </a:solidFill>
                <a:latin typeface="Calibri"/>
                <a:cs typeface="Calibri"/>
              </a:rPr>
              <a:t> open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Final</a:t>
            </a:r>
            <a:r>
              <a:rPr spc="-35" dirty="0"/>
              <a:t> </a:t>
            </a:r>
            <a:r>
              <a:rPr spc="-10" dirty="0"/>
              <a:t>walkthrough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architecture</a:t>
            </a:r>
            <a:r>
              <a:rPr spc="-35" dirty="0"/>
              <a:t> </a:t>
            </a:r>
            <a:r>
              <a:rPr spc="-10" dirty="0"/>
              <a:t>decisions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2289" y="1346962"/>
            <a:ext cx="424180" cy="424180"/>
            <a:chOff x="542289" y="1346962"/>
            <a:chExt cx="424180" cy="424180"/>
          </a:xfrm>
        </p:grpSpPr>
        <p:sp>
          <p:nvSpPr>
            <p:cNvPr id="5" name="object 5"/>
            <p:cNvSpPr/>
            <p:nvPr/>
          </p:nvSpPr>
          <p:spPr>
            <a:xfrm>
              <a:off x="548639" y="135331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80">
                  <a:moveTo>
                    <a:pt x="205739" y="0"/>
                  </a:moveTo>
                  <a:lnTo>
                    <a:pt x="158805" y="5473"/>
                  </a:lnTo>
                  <a:lnTo>
                    <a:pt x="115593" y="21044"/>
                  </a:lnTo>
                  <a:lnTo>
                    <a:pt x="77379" y="45438"/>
                  </a:lnTo>
                  <a:lnTo>
                    <a:pt x="45438" y="77379"/>
                  </a:lnTo>
                  <a:lnTo>
                    <a:pt x="21044" y="115593"/>
                  </a:lnTo>
                  <a:lnTo>
                    <a:pt x="5473" y="158805"/>
                  </a:lnTo>
                  <a:lnTo>
                    <a:pt x="0" y="205740"/>
                  </a:lnTo>
                  <a:lnTo>
                    <a:pt x="5473" y="252673"/>
                  </a:lnTo>
                  <a:lnTo>
                    <a:pt x="21044" y="295885"/>
                  </a:lnTo>
                  <a:lnTo>
                    <a:pt x="45438" y="334099"/>
                  </a:lnTo>
                  <a:lnTo>
                    <a:pt x="77379" y="366040"/>
                  </a:lnTo>
                  <a:lnTo>
                    <a:pt x="115593" y="390434"/>
                  </a:lnTo>
                  <a:lnTo>
                    <a:pt x="158805" y="406005"/>
                  </a:lnTo>
                  <a:lnTo>
                    <a:pt x="205739" y="411479"/>
                  </a:lnTo>
                  <a:lnTo>
                    <a:pt x="252674" y="406005"/>
                  </a:lnTo>
                  <a:lnTo>
                    <a:pt x="295885" y="390434"/>
                  </a:lnTo>
                  <a:lnTo>
                    <a:pt x="334099" y="366040"/>
                  </a:lnTo>
                  <a:lnTo>
                    <a:pt x="366041" y="334099"/>
                  </a:lnTo>
                  <a:lnTo>
                    <a:pt x="390434" y="295885"/>
                  </a:lnTo>
                  <a:lnTo>
                    <a:pt x="406005" y="252673"/>
                  </a:lnTo>
                  <a:lnTo>
                    <a:pt x="411479" y="205740"/>
                  </a:lnTo>
                  <a:lnTo>
                    <a:pt x="406005" y="158805"/>
                  </a:lnTo>
                  <a:lnTo>
                    <a:pt x="390434" y="115593"/>
                  </a:lnTo>
                  <a:lnTo>
                    <a:pt x="366041" y="77379"/>
                  </a:lnTo>
                  <a:lnTo>
                    <a:pt x="334099" y="45438"/>
                  </a:lnTo>
                  <a:lnTo>
                    <a:pt x="295885" y="21044"/>
                  </a:lnTo>
                  <a:lnTo>
                    <a:pt x="252674" y="5473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639" y="135331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80">
                  <a:moveTo>
                    <a:pt x="0" y="205740"/>
                  </a:moveTo>
                  <a:lnTo>
                    <a:pt x="5473" y="158805"/>
                  </a:lnTo>
                  <a:lnTo>
                    <a:pt x="21044" y="115593"/>
                  </a:lnTo>
                  <a:lnTo>
                    <a:pt x="45438" y="77379"/>
                  </a:lnTo>
                  <a:lnTo>
                    <a:pt x="77379" y="45438"/>
                  </a:lnTo>
                  <a:lnTo>
                    <a:pt x="115593" y="21044"/>
                  </a:lnTo>
                  <a:lnTo>
                    <a:pt x="158805" y="5473"/>
                  </a:lnTo>
                  <a:lnTo>
                    <a:pt x="205739" y="0"/>
                  </a:lnTo>
                  <a:lnTo>
                    <a:pt x="252674" y="5473"/>
                  </a:lnTo>
                  <a:lnTo>
                    <a:pt x="295885" y="21044"/>
                  </a:lnTo>
                  <a:lnTo>
                    <a:pt x="334099" y="45438"/>
                  </a:lnTo>
                  <a:lnTo>
                    <a:pt x="366041" y="77379"/>
                  </a:lnTo>
                  <a:lnTo>
                    <a:pt x="390434" y="115593"/>
                  </a:lnTo>
                  <a:lnTo>
                    <a:pt x="406005" y="158804"/>
                  </a:lnTo>
                  <a:lnTo>
                    <a:pt x="411479" y="205739"/>
                  </a:lnTo>
                  <a:lnTo>
                    <a:pt x="406005" y="252673"/>
                  </a:lnTo>
                  <a:lnTo>
                    <a:pt x="390434" y="295885"/>
                  </a:lnTo>
                  <a:lnTo>
                    <a:pt x="366041" y="334099"/>
                  </a:lnTo>
                  <a:lnTo>
                    <a:pt x="334099" y="366040"/>
                  </a:lnTo>
                  <a:lnTo>
                    <a:pt x="295885" y="390434"/>
                  </a:lnTo>
                  <a:lnTo>
                    <a:pt x="252674" y="406005"/>
                  </a:lnTo>
                  <a:lnTo>
                    <a:pt x="205739" y="411479"/>
                  </a:lnTo>
                  <a:lnTo>
                    <a:pt x="158805" y="406005"/>
                  </a:lnTo>
                  <a:lnTo>
                    <a:pt x="115593" y="390434"/>
                  </a:lnTo>
                  <a:lnTo>
                    <a:pt x="77379" y="366040"/>
                  </a:lnTo>
                  <a:lnTo>
                    <a:pt x="45438" y="334099"/>
                  </a:lnTo>
                  <a:lnTo>
                    <a:pt x="21044" y="295885"/>
                  </a:lnTo>
                  <a:lnTo>
                    <a:pt x="5473" y="252673"/>
                  </a:lnTo>
                  <a:lnTo>
                    <a:pt x="0" y="205739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6802" y="1428292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300" y="1482088"/>
            <a:ext cx="321119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Edge: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WAF/CDN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bots,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rate-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limit,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serve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static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2289" y="2096770"/>
            <a:ext cx="424180" cy="424180"/>
            <a:chOff x="542289" y="2096770"/>
            <a:chExt cx="424180" cy="424180"/>
          </a:xfrm>
        </p:grpSpPr>
        <p:sp>
          <p:nvSpPr>
            <p:cNvPr id="10" name="object 10"/>
            <p:cNvSpPr/>
            <p:nvPr/>
          </p:nvSpPr>
          <p:spPr>
            <a:xfrm>
              <a:off x="548639" y="2103119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80">
                  <a:moveTo>
                    <a:pt x="205739" y="0"/>
                  </a:moveTo>
                  <a:lnTo>
                    <a:pt x="158805" y="5473"/>
                  </a:lnTo>
                  <a:lnTo>
                    <a:pt x="115593" y="21044"/>
                  </a:lnTo>
                  <a:lnTo>
                    <a:pt x="77379" y="45438"/>
                  </a:lnTo>
                  <a:lnTo>
                    <a:pt x="45438" y="77379"/>
                  </a:lnTo>
                  <a:lnTo>
                    <a:pt x="21044" y="115593"/>
                  </a:lnTo>
                  <a:lnTo>
                    <a:pt x="5473" y="158805"/>
                  </a:lnTo>
                  <a:lnTo>
                    <a:pt x="0" y="205740"/>
                  </a:lnTo>
                  <a:lnTo>
                    <a:pt x="5473" y="252673"/>
                  </a:lnTo>
                  <a:lnTo>
                    <a:pt x="21044" y="295885"/>
                  </a:lnTo>
                  <a:lnTo>
                    <a:pt x="45438" y="334099"/>
                  </a:lnTo>
                  <a:lnTo>
                    <a:pt x="77379" y="366040"/>
                  </a:lnTo>
                  <a:lnTo>
                    <a:pt x="115593" y="390434"/>
                  </a:lnTo>
                  <a:lnTo>
                    <a:pt x="158805" y="406005"/>
                  </a:lnTo>
                  <a:lnTo>
                    <a:pt x="205739" y="411479"/>
                  </a:lnTo>
                  <a:lnTo>
                    <a:pt x="252674" y="406005"/>
                  </a:lnTo>
                  <a:lnTo>
                    <a:pt x="295885" y="390434"/>
                  </a:lnTo>
                  <a:lnTo>
                    <a:pt x="334099" y="366040"/>
                  </a:lnTo>
                  <a:lnTo>
                    <a:pt x="366041" y="334099"/>
                  </a:lnTo>
                  <a:lnTo>
                    <a:pt x="390434" y="295885"/>
                  </a:lnTo>
                  <a:lnTo>
                    <a:pt x="406005" y="252673"/>
                  </a:lnTo>
                  <a:lnTo>
                    <a:pt x="411479" y="205740"/>
                  </a:lnTo>
                  <a:lnTo>
                    <a:pt x="406005" y="158805"/>
                  </a:lnTo>
                  <a:lnTo>
                    <a:pt x="390434" y="115593"/>
                  </a:lnTo>
                  <a:lnTo>
                    <a:pt x="366041" y="77379"/>
                  </a:lnTo>
                  <a:lnTo>
                    <a:pt x="334099" y="45438"/>
                  </a:lnTo>
                  <a:lnTo>
                    <a:pt x="295885" y="21044"/>
                  </a:lnTo>
                  <a:lnTo>
                    <a:pt x="252674" y="5473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8639" y="2103119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80">
                  <a:moveTo>
                    <a:pt x="0" y="205740"/>
                  </a:moveTo>
                  <a:lnTo>
                    <a:pt x="5473" y="158805"/>
                  </a:lnTo>
                  <a:lnTo>
                    <a:pt x="21044" y="115593"/>
                  </a:lnTo>
                  <a:lnTo>
                    <a:pt x="45438" y="77379"/>
                  </a:lnTo>
                  <a:lnTo>
                    <a:pt x="77379" y="45438"/>
                  </a:lnTo>
                  <a:lnTo>
                    <a:pt x="115593" y="21044"/>
                  </a:lnTo>
                  <a:lnTo>
                    <a:pt x="158805" y="5473"/>
                  </a:lnTo>
                  <a:lnTo>
                    <a:pt x="205739" y="0"/>
                  </a:lnTo>
                  <a:lnTo>
                    <a:pt x="252674" y="5473"/>
                  </a:lnTo>
                  <a:lnTo>
                    <a:pt x="295885" y="21044"/>
                  </a:lnTo>
                  <a:lnTo>
                    <a:pt x="334099" y="45438"/>
                  </a:lnTo>
                  <a:lnTo>
                    <a:pt x="366041" y="77379"/>
                  </a:lnTo>
                  <a:lnTo>
                    <a:pt x="390434" y="115593"/>
                  </a:lnTo>
                  <a:lnTo>
                    <a:pt x="406005" y="158804"/>
                  </a:lnTo>
                  <a:lnTo>
                    <a:pt x="411479" y="205739"/>
                  </a:lnTo>
                  <a:lnTo>
                    <a:pt x="406005" y="252673"/>
                  </a:lnTo>
                  <a:lnTo>
                    <a:pt x="390434" y="295885"/>
                  </a:lnTo>
                  <a:lnTo>
                    <a:pt x="366041" y="334099"/>
                  </a:lnTo>
                  <a:lnTo>
                    <a:pt x="334099" y="366040"/>
                  </a:lnTo>
                  <a:lnTo>
                    <a:pt x="295885" y="390434"/>
                  </a:lnTo>
                  <a:lnTo>
                    <a:pt x="252674" y="406005"/>
                  </a:lnTo>
                  <a:lnTo>
                    <a:pt x="205739" y="411479"/>
                  </a:lnTo>
                  <a:lnTo>
                    <a:pt x="158805" y="406005"/>
                  </a:lnTo>
                  <a:lnTo>
                    <a:pt x="115593" y="390434"/>
                  </a:lnTo>
                  <a:lnTo>
                    <a:pt x="77379" y="366040"/>
                  </a:lnTo>
                  <a:lnTo>
                    <a:pt x="45438" y="334099"/>
                  </a:lnTo>
                  <a:lnTo>
                    <a:pt x="21044" y="295885"/>
                  </a:lnTo>
                  <a:lnTo>
                    <a:pt x="5473" y="252673"/>
                  </a:lnTo>
                  <a:lnTo>
                    <a:pt x="0" y="205739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6802" y="2178100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0300" y="2231896"/>
            <a:ext cx="433514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Gateway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waiting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room: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auth,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Idempotency-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Key,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paced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admission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2289" y="2846578"/>
            <a:ext cx="424180" cy="424180"/>
            <a:chOff x="542289" y="2846578"/>
            <a:chExt cx="424180" cy="424180"/>
          </a:xfrm>
        </p:grpSpPr>
        <p:sp>
          <p:nvSpPr>
            <p:cNvPr id="15" name="object 15"/>
            <p:cNvSpPr/>
            <p:nvPr/>
          </p:nvSpPr>
          <p:spPr>
            <a:xfrm>
              <a:off x="548639" y="2852928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739" y="0"/>
                  </a:moveTo>
                  <a:lnTo>
                    <a:pt x="158805" y="5473"/>
                  </a:lnTo>
                  <a:lnTo>
                    <a:pt x="115593" y="21044"/>
                  </a:lnTo>
                  <a:lnTo>
                    <a:pt x="77379" y="45438"/>
                  </a:lnTo>
                  <a:lnTo>
                    <a:pt x="45438" y="77379"/>
                  </a:lnTo>
                  <a:lnTo>
                    <a:pt x="21044" y="115593"/>
                  </a:lnTo>
                  <a:lnTo>
                    <a:pt x="5473" y="158805"/>
                  </a:lnTo>
                  <a:lnTo>
                    <a:pt x="0" y="205740"/>
                  </a:lnTo>
                  <a:lnTo>
                    <a:pt x="5473" y="252673"/>
                  </a:lnTo>
                  <a:lnTo>
                    <a:pt x="21044" y="295885"/>
                  </a:lnTo>
                  <a:lnTo>
                    <a:pt x="45438" y="334099"/>
                  </a:lnTo>
                  <a:lnTo>
                    <a:pt x="77379" y="366040"/>
                  </a:lnTo>
                  <a:lnTo>
                    <a:pt x="115593" y="390434"/>
                  </a:lnTo>
                  <a:lnTo>
                    <a:pt x="158805" y="406005"/>
                  </a:lnTo>
                  <a:lnTo>
                    <a:pt x="205739" y="411479"/>
                  </a:lnTo>
                  <a:lnTo>
                    <a:pt x="252674" y="406005"/>
                  </a:lnTo>
                  <a:lnTo>
                    <a:pt x="295885" y="390434"/>
                  </a:lnTo>
                  <a:lnTo>
                    <a:pt x="334099" y="366040"/>
                  </a:lnTo>
                  <a:lnTo>
                    <a:pt x="366041" y="334099"/>
                  </a:lnTo>
                  <a:lnTo>
                    <a:pt x="390434" y="295885"/>
                  </a:lnTo>
                  <a:lnTo>
                    <a:pt x="406005" y="252673"/>
                  </a:lnTo>
                  <a:lnTo>
                    <a:pt x="411479" y="205740"/>
                  </a:lnTo>
                  <a:lnTo>
                    <a:pt x="406005" y="158805"/>
                  </a:lnTo>
                  <a:lnTo>
                    <a:pt x="390434" y="115593"/>
                  </a:lnTo>
                  <a:lnTo>
                    <a:pt x="366041" y="77379"/>
                  </a:lnTo>
                  <a:lnTo>
                    <a:pt x="334099" y="45438"/>
                  </a:lnTo>
                  <a:lnTo>
                    <a:pt x="295885" y="21044"/>
                  </a:lnTo>
                  <a:lnTo>
                    <a:pt x="252674" y="5473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639" y="2852928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0" y="205740"/>
                  </a:moveTo>
                  <a:lnTo>
                    <a:pt x="5473" y="158805"/>
                  </a:lnTo>
                  <a:lnTo>
                    <a:pt x="21044" y="115593"/>
                  </a:lnTo>
                  <a:lnTo>
                    <a:pt x="45438" y="77379"/>
                  </a:lnTo>
                  <a:lnTo>
                    <a:pt x="77379" y="45438"/>
                  </a:lnTo>
                  <a:lnTo>
                    <a:pt x="115593" y="21044"/>
                  </a:lnTo>
                  <a:lnTo>
                    <a:pt x="158805" y="5473"/>
                  </a:lnTo>
                  <a:lnTo>
                    <a:pt x="205739" y="0"/>
                  </a:lnTo>
                  <a:lnTo>
                    <a:pt x="252674" y="5473"/>
                  </a:lnTo>
                  <a:lnTo>
                    <a:pt x="295885" y="21044"/>
                  </a:lnTo>
                  <a:lnTo>
                    <a:pt x="334099" y="45438"/>
                  </a:lnTo>
                  <a:lnTo>
                    <a:pt x="366041" y="77379"/>
                  </a:lnTo>
                  <a:lnTo>
                    <a:pt x="390434" y="115593"/>
                  </a:lnTo>
                  <a:lnTo>
                    <a:pt x="406005" y="158804"/>
                  </a:lnTo>
                  <a:lnTo>
                    <a:pt x="411479" y="205739"/>
                  </a:lnTo>
                  <a:lnTo>
                    <a:pt x="406005" y="252673"/>
                  </a:lnTo>
                  <a:lnTo>
                    <a:pt x="390434" y="295885"/>
                  </a:lnTo>
                  <a:lnTo>
                    <a:pt x="366041" y="334099"/>
                  </a:lnTo>
                  <a:lnTo>
                    <a:pt x="334099" y="366040"/>
                  </a:lnTo>
                  <a:lnTo>
                    <a:pt x="295885" y="390434"/>
                  </a:lnTo>
                  <a:lnTo>
                    <a:pt x="252674" y="406005"/>
                  </a:lnTo>
                  <a:lnTo>
                    <a:pt x="205739" y="411479"/>
                  </a:lnTo>
                  <a:lnTo>
                    <a:pt x="158805" y="406005"/>
                  </a:lnTo>
                  <a:lnTo>
                    <a:pt x="115593" y="390434"/>
                  </a:lnTo>
                  <a:lnTo>
                    <a:pt x="77379" y="366040"/>
                  </a:lnTo>
                  <a:lnTo>
                    <a:pt x="45438" y="334099"/>
                  </a:lnTo>
                  <a:lnTo>
                    <a:pt x="21044" y="295885"/>
                  </a:lnTo>
                  <a:lnTo>
                    <a:pt x="5473" y="252673"/>
                  </a:lnTo>
                  <a:lnTo>
                    <a:pt x="0" y="205739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6802" y="2927908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30300" y="2886454"/>
            <a:ext cx="4432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Redis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gate: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winners;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9,900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instant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SOLD_OUT;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2%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duplicates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replay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6214745" y="1276985"/>
          <a:ext cx="5394958" cy="19653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Decision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E7501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Chosen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E7501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sz="125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</a:t>
                      </a:r>
                      <a:r>
                        <a:rPr sz="12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sacrifice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6350">
                      <a:solidFill>
                        <a:srgbClr val="D1D4DA"/>
                      </a:solidFill>
                      <a:prstDash val="solid"/>
                    </a:lnL>
                    <a:lnR w="6350">
                      <a:solidFill>
                        <a:srgbClr val="D1D4DA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D1D4DA"/>
                      </a:solidFill>
                      <a:prstDash val="solid"/>
                    </a:lnB>
                    <a:solidFill>
                      <a:srgbClr val="E750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Store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PostgreSQL</a:t>
                      </a:r>
                      <a:r>
                        <a:rPr sz="115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(ACID)</a:t>
                      </a:r>
                      <a:r>
                        <a:rPr sz="115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</a:t>
                      </a:r>
                      <a:r>
                        <a:rPr sz="115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NoSQL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936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Write</a:t>
                      </a:r>
                      <a:r>
                        <a:rPr sz="115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scaling;</a:t>
                      </a:r>
                      <a:r>
                        <a:rPr sz="115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fine,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15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~100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writes,</a:t>
                      </a:r>
                      <a:r>
                        <a:rPr sz="115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shard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D1D4DA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Concurrency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0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Redis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gate</a:t>
                      </a:r>
                      <a:r>
                        <a:rPr sz="11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atomic</a:t>
                      </a:r>
                      <a:r>
                        <a:rPr sz="11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UPDATE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locks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Two</a:t>
                      </a:r>
                      <a:r>
                        <a:rPr sz="115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layers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operate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Order</a:t>
                      </a:r>
                      <a:r>
                        <a:rPr sz="11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Async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outbox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Kafka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sync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call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Order</a:t>
                      </a:r>
                      <a:r>
                        <a:rPr sz="11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appears</a:t>
                      </a:r>
                      <a:r>
                        <a:rPr sz="11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seconds</a:t>
                      </a:r>
                      <a:r>
                        <a:rPr sz="11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later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Admission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Waiting</a:t>
                      </a:r>
                      <a:r>
                        <a:rPr sz="115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room</a:t>
                      </a:r>
                      <a:r>
                        <a:rPr sz="115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</a:t>
                      </a:r>
                      <a:r>
                        <a:rPr sz="115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open</a:t>
                      </a:r>
                      <a:r>
                        <a:rPr sz="115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flood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Added</a:t>
                      </a:r>
                      <a:r>
                        <a:rPr sz="115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latency;</a:t>
                      </a:r>
                      <a:r>
                        <a:rPr sz="115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fairness</a:t>
                      </a:r>
                      <a:r>
                        <a:rPr sz="115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UX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Stock</a:t>
                      </a:r>
                      <a:r>
                        <a:rPr sz="11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display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Cached,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approximate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May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stale;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reserve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1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exact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6350">
                      <a:solidFill>
                        <a:srgbClr val="39465F"/>
                      </a:solidFill>
                      <a:prstDash val="solid"/>
                    </a:lnL>
                    <a:lnR w="6350">
                      <a:solidFill>
                        <a:srgbClr val="39465F"/>
                      </a:solidFill>
                      <a:prstDash val="solid"/>
                    </a:lnR>
                    <a:lnT w="6350">
                      <a:solidFill>
                        <a:srgbClr val="39465F"/>
                      </a:solidFill>
                      <a:prstDash val="solid"/>
                    </a:lnT>
                    <a:lnB w="6350">
                      <a:solidFill>
                        <a:srgbClr val="39465F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542289" y="3596386"/>
            <a:ext cx="424180" cy="424180"/>
            <a:chOff x="542289" y="3596386"/>
            <a:chExt cx="424180" cy="424180"/>
          </a:xfrm>
        </p:grpSpPr>
        <p:sp>
          <p:nvSpPr>
            <p:cNvPr id="20" name="object 20"/>
            <p:cNvSpPr/>
            <p:nvPr/>
          </p:nvSpPr>
          <p:spPr>
            <a:xfrm>
              <a:off x="548639" y="3602736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739" y="0"/>
                  </a:moveTo>
                  <a:lnTo>
                    <a:pt x="158805" y="5473"/>
                  </a:lnTo>
                  <a:lnTo>
                    <a:pt x="115593" y="21044"/>
                  </a:lnTo>
                  <a:lnTo>
                    <a:pt x="77379" y="45438"/>
                  </a:lnTo>
                  <a:lnTo>
                    <a:pt x="45438" y="77379"/>
                  </a:lnTo>
                  <a:lnTo>
                    <a:pt x="21044" y="115593"/>
                  </a:lnTo>
                  <a:lnTo>
                    <a:pt x="5473" y="158805"/>
                  </a:lnTo>
                  <a:lnTo>
                    <a:pt x="0" y="205740"/>
                  </a:lnTo>
                  <a:lnTo>
                    <a:pt x="5473" y="252673"/>
                  </a:lnTo>
                  <a:lnTo>
                    <a:pt x="21044" y="295885"/>
                  </a:lnTo>
                  <a:lnTo>
                    <a:pt x="45438" y="334099"/>
                  </a:lnTo>
                  <a:lnTo>
                    <a:pt x="77379" y="366040"/>
                  </a:lnTo>
                  <a:lnTo>
                    <a:pt x="115593" y="390434"/>
                  </a:lnTo>
                  <a:lnTo>
                    <a:pt x="158805" y="406005"/>
                  </a:lnTo>
                  <a:lnTo>
                    <a:pt x="205739" y="411479"/>
                  </a:lnTo>
                  <a:lnTo>
                    <a:pt x="252674" y="406005"/>
                  </a:lnTo>
                  <a:lnTo>
                    <a:pt x="295885" y="390434"/>
                  </a:lnTo>
                  <a:lnTo>
                    <a:pt x="334099" y="366040"/>
                  </a:lnTo>
                  <a:lnTo>
                    <a:pt x="366041" y="334099"/>
                  </a:lnTo>
                  <a:lnTo>
                    <a:pt x="390434" y="295885"/>
                  </a:lnTo>
                  <a:lnTo>
                    <a:pt x="406005" y="252673"/>
                  </a:lnTo>
                  <a:lnTo>
                    <a:pt x="411479" y="205740"/>
                  </a:lnTo>
                  <a:lnTo>
                    <a:pt x="406005" y="158805"/>
                  </a:lnTo>
                  <a:lnTo>
                    <a:pt x="390434" y="115593"/>
                  </a:lnTo>
                  <a:lnTo>
                    <a:pt x="366041" y="77379"/>
                  </a:lnTo>
                  <a:lnTo>
                    <a:pt x="334099" y="45438"/>
                  </a:lnTo>
                  <a:lnTo>
                    <a:pt x="295885" y="21044"/>
                  </a:lnTo>
                  <a:lnTo>
                    <a:pt x="252674" y="5473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8639" y="3602736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0" y="205740"/>
                  </a:moveTo>
                  <a:lnTo>
                    <a:pt x="5473" y="158805"/>
                  </a:lnTo>
                  <a:lnTo>
                    <a:pt x="21044" y="115593"/>
                  </a:lnTo>
                  <a:lnTo>
                    <a:pt x="45438" y="77379"/>
                  </a:lnTo>
                  <a:lnTo>
                    <a:pt x="77379" y="45438"/>
                  </a:lnTo>
                  <a:lnTo>
                    <a:pt x="115593" y="21044"/>
                  </a:lnTo>
                  <a:lnTo>
                    <a:pt x="158805" y="5473"/>
                  </a:lnTo>
                  <a:lnTo>
                    <a:pt x="205739" y="0"/>
                  </a:lnTo>
                  <a:lnTo>
                    <a:pt x="252674" y="5473"/>
                  </a:lnTo>
                  <a:lnTo>
                    <a:pt x="295885" y="21044"/>
                  </a:lnTo>
                  <a:lnTo>
                    <a:pt x="334099" y="45438"/>
                  </a:lnTo>
                  <a:lnTo>
                    <a:pt x="366041" y="77379"/>
                  </a:lnTo>
                  <a:lnTo>
                    <a:pt x="390434" y="115593"/>
                  </a:lnTo>
                  <a:lnTo>
                    <a:pt x="406005" y="158804"/>
                  </a:lnTo>
                  <a:lnTo>
                    <a:pt x="411479" y="205739"/>
                  </a:lnTo>
                  <a:lnTo>
                    <a:pt x="406005" y="252673"/>
                  </a:lnTo>
                  <a:lnTo>
                    <a:pt x="390434" y="295885"/>
                  </a:lnTo>
                  <a:lnTo>
                    <a:pt x="366041" y="334099"/>
                  </a:lnTo>
                  <a:lnTo>
                    <a:pt x="334099" y="366040"/>
                  </a:lnTo>
                  <a:lnTo>
                    <a:pt x="295885" y="390434"/>
                  </a:lnTo>
                  <a:lnTo>
                    <a:pt x="252674" y="406005"/>
                  </a:lnTo>
                  <a:lnTo>
                    <a:pt x="205739" y="411479"/>
                  </a:lnTo>
                  <a:lnTo>
                    <a:pt x="158805" y="406005"/>
                  </a:lnTo>
                  <a:lnTo>
                    <a:pt x="115593" y="390434"/>
                  </a:lnTo>
                  <a:lnTo>
                    <a:pt x="77379" y="366040"/>
                  </a:lnTo>
                  <a:lnTo>
                    <a:pt x="45438" y="334099"/>
                  </a:lnTo>
                  <a:lnTo>
                    <a:pt x="21044" y="295885"/>
                  </a:lnTo>
                  <a:lnTo>
                    <a:pt x="5473" y="252673"/>
                  </a:lnTo>
                  <a:lnTo>
                    <a:pt x="0" y="205739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6802" y="3677716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30300" y="3731513"/>
            <a:ext cx="382079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txn: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conditional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reservation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(10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min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TTL)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42289" y="4346194"/>
            <a:ext cx="424180" cy="424180"/>
            <a:chOff x="542289" y="4346194"/>
            <a:chExt cx="424180" cy="424180"/>
          </a:xfrm>
        </p:grpSpPr>
        <p:sp>
          <p:nvSpPr>
            <p:cNvPr id="25" name="object 25"/>
            <p:cNvSpPr/>
            <p:nvPr/>
          </p:nvSpPr>
          <p:spPr>
            <a:xfrm>
              <a:off x="548639" y="4352543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739" y="0"/>
                  </a:moveTo>
                  <a:lnTo>
                    <a:pt x="158805" y="5473"/>
                  </a:lnTo>
                  <a:lnTo>
                    <a:pt x="115593" y="21044"/>
                  </a:lnTo>
                  <a:lnTo>
                    <a:pt x="77379" y="45438"/>
                  </a:lnTo>
                  <a:lnTo>
                    <a:pt x="45438" y="77379"/>
                  </a:lnTo>
                  <a:lnTo>
                    <a:pt x="21044" y="115593"/>
                  </a:lnTo>
                  <a:lnTo>
                    <a:pt x="5473" y="158805"/>
                  </a:lnTo>
                  <a:lnTo>
                    <a:pt x="0" y="205740"/>
                  </a:lnTo>
                  <a:lnTo>
                    <a:pt x="5473" y="252673"/>
                  </a:lnTo>
                  <a:lnTo>
                    <a:pt x="21044" y="295885"/>
                  </a:lnTo>
                  <a:lnTo>
                    <a:pt x="45438" y="334099"/>
                  </a:lnTo>
                  <a:lnTo>
                    <a:pt x="77379" y="366040"/>
                  </a:lnTo>
                  <a:lnTo>
                    <a:pt x="115593" y="390434"/>
                  </a:lnTo>
                  <a:lnTo>
                    <a:pt x="158805" y="406005"/>
                  </a:lnTo>
                  <a:lnTo>
                    <a:pt x="205739" y="411479"/>
                  </a:lnTo>
                  <a:lnTo>
                    <a:pt x="252674" y="406005"/>
                  </a:lnTo>
                  <a:lnTo>
                    <a:pt x="295885" y="390434"/>
                  </a:lnTo>
                  <a:lnTo>
                    <a:pt x="334099" y="366040"/>
                  </a:lnTo>
                  <a:lnTo>
                    <a:pt x="366041" y="334099"/>
                  </a:lnTo>
                  <a:lnTo>
                    <a:pt x="390434" y="295885"/>
                  </a:lnTo>
                  <a:lnTo>
                    <a:pt x="406005" y="252673"/>
                  </a:lnTo>
                  <a:lnTo>
                    <a:pt x="411479" y="205740"/>
                  </a:lnTo>
                  <a:lnTo>
                    <a:pt x="406005" y="158805"/>
                  </a:lnTo>
                  <a:lnTo>
                    <a:pt x="390434" y="115593"/>
                  </a:lnTo>
                  <a:lnTo>
                    <a:pt x="366041" y="77379"/>
                  </a:lnTo>
                  <a:lnTo>
                    <a:pt x="334099" y="45438"/>
                  </a:lnTo>
                  <a:lnTo>
                    <a:pt x="295885" y="21044"/>
                  </a:lnTo>
                  <a:lnTo>
                    <a:pt x="252674" y="5473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8639" y="4352543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0" y="205740"/>
                  </a:moveTo>
                  <a:lnTo>
                    <a:pt x="5473" y="158805"/>
                  </a:lnTo>
                  <a:lnTo>
                    <a:pt x="21044" y="115593"/>
                  </a:lnTo>
                  <a:lnTo>
                    <a:pt x="45438" y="77379"/>
                  </a:lnTo>
                  <a:lnTo>
                    <a:pt x="77379" y="45438"/>
                  </a:lnTo>
                  <a:lnTo>
                    <a:pt x="115593" y="21044"/>
                  </a:lnTo>
                  <a:lnTo>
                    <a:pt x="158805" y="5473"/>
                  </a:lnTo>
                  <a:lnTo>
                    <a:pt x="205739" y="0"/>
                  </a:lnTo>
                  <a:lnTo>
                    <a:pt x="252674" y="5473"/>
                  </a:lnTo>
                  <a:lnTo>
                    <a:pt x="295885" y="21044"/>
                  </a:lnTo>
                  <a:lnTo>
                    <a:pt x="334099" y="45438"/>
                  </a:lnTo>
                  <a:lnTo>
                    <a:pt x="366041" y="77379"/>
                  </a:lnTo>
                  <a:lnTo>
                    <a:pt x="390434" y="115593"/>
                  </a:lnTo>
                  <a:lnTo>
                    <a:pt x="406005" y="158804"/>
                  </a:lnTo>
                  <a:lnTo>
                    <a:pt x="411479" y="205739"/>
                  </a:lnTo>
                  <a:lnTo>
                    <a:pt x="406005" y="252673"/>
                  </a:lnTo>
                  <a:lnTo>
                    <a:pt x="390434" y="295885"/>
                  </a:lnTo>
                  <a:lnTo>
                    <a:pt x="366041" y="334099"/>
                  </a:lnTo>
                  <a:lnTo>
                    <a:pt x="334099" y="366040"/>
                  </a:lnTo>
                  <a:lnTo>
                    <a:pt x="295885" y="390434"/>
                  </a:lnTo>
                  <a:lnTo>
                    <a:pt x="252674" y="406005"/>
                  </a:lnTo>
                  <a:lnTo>
                    <a:pt x="205739" y="411479"/>
                  </a:lnTo>
                  <a:lnTo>
                    <a:pt x="158805" y="406005"/>
                  </a:lnTo>
                  <a:lnTo>
                    <a:pt x="115593" y="390434"/>
                  </a:lnTo>
                  <a:lnTo>
                    <a:pt x="77379" y="366040"/>
                  </a:lnTo>
                  <a:lnTo>
                    <a:pt x="45438" y="334099"/>
                  </a:lnTo>
                  <a:lnTo>
                    <a:pt x="21044" y="295885"/>
                  </a:lnTo>
                  <a:lnTo>
                    <a:pt x="5473" y="252673"/>
                  </a:lnTo>
                  <a:lnTo>
                    <a:pt x="0" y="205739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96802" y="4427524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0300" y="4386071"/>
            <a:ext cx="45300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Pay: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95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succeed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outbox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Kafka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CONFIRMED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SOLD;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fail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&gt;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released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&gt;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resold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42289" y="5096002"/>
            <a:ext cx="424180" cy="424180"/>
            <a:chOff x="542289" y="5096002"/>
            <a:chExt cx="424180" cy="424180"/>
          </a:xfrm>
        </p:grpSpPr>
        <p:sp>
          <p:nvSpPr>
            <p:cNvPr id="30" name="object 30"/>
            <p:cNvSpPr/>
            <p:nvPr/>
          </p:nvSpPr>
          <p:spPr>
            <a:xfrm>
              <a:off x="548639" y="5102351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739" y="0"/>
                  </a:moveTo>
                  <a:lnTo>
                    <a:pt x="158805" y="5473"/>
                  </a:lnTo>
                  <a:lnTo>
                    <a:pt x="115593" y="21044"/>
                  </a:lnTo>
                  <a:lnTo>
                    <a:pt x="77379" y="45438"/>
                  </a:lnTo>
                  <a:lnTo>
                    <a:pt x="45438" y="77379"/>
                  </a:lnTo>
                  <a:lnTo>
                    <a:pt x="21044" y="115593"/>
                  </a:lnTo>
                  <a:lnTo>
                    <a:pt x="5473" y="158805"/>
                  </a:lnTo>
                  <a:lnTo>
                    <a:pt x="0" y="205740"/>
                  </a:lnTo>
                  <a:lnTo>
                    <a:pt x="5473" y="252673"/>
                  </a:lnTo>
                  <a:lnTo>
                    <a:pt x="21044" y="295885"/>
                  </a:lnTo>
                  <a:lnTo>
                    <a:pt x="45438" y="334099"/>
                  </a:lnTo>
                  <a:lnTo>
                    <a:pt x="77379" y="366040"/>
                  </a:lnTo>
                  <a:lnTo>
                    <a:pt x="115593" y="390434"/>
                  </a:lnTo>
                  <a:lnTo>
                    <a:pt x="158805" y="406005"/>
                  </a:lnTo>
                  <a:lnTo>
                    <a:pt x="205739" y="411479"/>
                  </a:lnTo>
                  <a:lnTo>
                    <a:pt x="252674" y="406005"/>
                  </a:lnTo>
                  <a:lnTo>
                    <a:pt x="295885" y="390434"/>
                  </a:lnTo>
                  <a:lnTo>
                    <a:pt x="334099" y="366040"/>
                  </a:lnTo>
                  <a:lnTo>
                    <a:pt x="366041" y="334099"/>
                  </a:lnTo>
                  <a:lnTo>
                    <a:pt x="390434" y="295885"/>
                  </a:lnTo>
                  <a:lnTo>
                    <a:pt x="406005" y="252673"/>
                  </a:lnTo>
                  <a:lnTo>
                    <a:pt x="411479" y="205740"/>
                  </a:lnTo>
                  <a:lnTo>
                    <a:pt x="406005" y="158805"/>
                  </a:lnTo>
                  <a:lnTo>
                    <a:pt x="390434" y="115593"/>
                  </a:lnTo>
                  <a:lnTo>
                    <a:pt x="366041" y="77379"/>
                  </a:lnTo>
                  <a:lnTo>
                    <a:pt x="334099" y="45438"/>
                  </a:lnTo>
                  <a:lnTo>
                    <a:pt x="295885" y="21044"/>
                  </a:lnTo>
                  <a:lnTo>
                    <a:pt x="252674" y="5473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E75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8639" y="5102351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0" y="205740"/>
                  </a:moveTo>
                  <a:lnTo>
                    <a:pt x="5473" y="158805"/>
                  </a:lnTo>
                  <a:lnTo>
                    <a:pt x="21044" y="115593"/>
                  </a:lnTo>
                  <a:lnTo>
                    <a:pt x="45438" y="77379"/>
                  </a:lnTo>
                  <a:lnTo>
                    <a:pt x="77379" y="45438"/>
                  </a:lnTo>
                  <a:lnTo>
                    <a:pt x="115593" y="21044"/>
                  </a:lnTo>
                  <a:lnTo>
                    <a:pt x="158805" y="5473"/>
                  </a:lnTo>
                  <a:lnTo>
                    <a:pt x="205739" y="0"/>
                  </a:lnTo>
                  <a:lnTo>
                    <a:pt x="252674" y="5473"/>
                  </a:lnTo>
                  <a:lnTo>
                    <a:pt x="295885" y="21044"/>
                  </a:lnTo>
                  <a:lnTo>
                    <a:pt x="334099" y="45438"/>
                  </a:lnTo>
                  <a:lnTo>
                    <a:pt x="366041" y="77379"/>
                  </a:lnTo>
                  <a:lnTo>
                    <a:pt x="390434" y="115593"/>
                  </a:lnTo>
                  <a:lnTo>
                    <a:pt x="406005" y="158804"/>
                  </a:lnTo>
                  <a:lnTo>
                    <a:pt x="411479" y="205739"/>
                  </a:lnTo>
                  <a:lnTo>
                    <a:pt x="406005" y="252673"/>
                  </a:lnTo>
                  <a:lnTo>
                    <a:pt x="390434" y="295885"/>
                  </a:lnTo>
                  <a:lnTo>
                    <a:pt x="366041" y="334099"/>
                  </a:lnTo>
                  <a:lnTo>
                    <a:pt x="334099" y="366040"/>
                  </a:lnTo>
                  <a:lnTo>
                    <a:pt x="295885" y="390434"/>
                  </a:lnTo>
                  <a:lnTo>
                    <a:pt x="252674" y="406005"/>
                  </a:lnTo>
                  <a:lnTo>
                    <a:pt x="205739" y="411479"/>
                  </a:lnTo>
                  <a:lnTo>
                    <a:pt x="158805" y="406005"/>
                  </a:lnTo>
                  <a:lnTo>
                    <a:pt x="115593" y="390434"/>
                  </a:lnTo>
                  <a:lnTo>
                    <a:pt x="77379" y="366040"/>
                  </a:lnTo>
                  <a:lnTo>
                    <a:pt x="45438" y="334099"/>
                  </a:lnTo>
                  <a:lnTo>
                    <a:pt x="21044" y="295885"/>
                  </a:lnTo>
                  <a:lnTo>
                    <a:pt x="5473" y="252673"/>
                  </a:lnTo>
                  <a:lnTo>
                    <a:pt x="0" y="205739"/>
                  </a:lnTo>
                  <a:close/>
                </a:path>
              </a:pathLst>
            </a:custGeom>
            <a:ln w="12699">
              <a:solidFill>
                <a:srgbClr val="E750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96802" y="5177332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30300" y="5135878"/>
            <a:ext cx="419290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s: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events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wait,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replay,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reconcile;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shipment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+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940" y="5829706"/>
            <a:ext cx="10055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AI</a:t>
            </a:r>
            <a:r>
              <a:rPr sz="1200" spc="-30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use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note: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A6578"/>
                </a:solidFill>
                <a:latin typeface="Calibri"/>
                <a:cs typeface="Calibri"/>
              </a:rPr>
              <a:t>simulation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script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(10,000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users,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100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units,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95%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pay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success,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2%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duplicates)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UML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drafts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only,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produced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after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design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validated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by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A6578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5A657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A6578"/>
                </a:solidFill>
                <a:latin typeface="Calibri"/>
                <a:cs typeface="Calibri"/>
              </a:rPr>
              <a:t>team.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1997</Words>
  <Application>Microsoft Office PowerPoint</Application>
  <PresentationFormat>Widescreen</PresentationFormat>
  <Paragraphs>272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Cambria</vt:lpstr>
      <vt:lpstr>Courier New</vt:lpstr>
      <vt:lpstr>Times New Roman</vt:lpstr>
      <vt:lpstr>Office Theme</vt:lpstr>
      <vt:lpstr>10,000 concurrent Buy Now requests</vt:lpstr>
      <vt:lpstr>Requirements: strict guarantees vs measurable targets</vt:lpstr>
      <vt:lpstr>High-level architecture</vt:lpstr>
      <vt:lpstr>10,000 requests, 100 winners: where each is stopped</vt:lpstr>
      <vt:lpstr>Inventory consistency: why atomic conditional update</vt:lpstr>
      <vt:lpstr>Reservation lifecycle, expiry and release</vt:lpstr>
      <vt:lpstr>Payment reliability</vt:lpstr>
      <vt:lpstr>Payment succeeded, Order Service down for 30 seconds</vt:lpstr>
      <vt:lpstr>Database, API and event design</vt:lpstr>
      <vt:lpstr>Low-level design, SOLID and patterns</vt:lpstr>
      <vt:lpstr>Scalability, reliability, security and observability</vt:lpstr>
      <vt:lpstr>Final walkthrough and architecture decisions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SALESTORM System Design</dc:title>
  <dc:subject>PptxGenJS Presentation</dc:subject>
  <dc:creator>PptxGenJS</dc:creator>
  <cp:lastModifiedBy>kingstan2282007@outlook.com</cp:lastModifiedBy>
  <cp:revision>2</cp:revision>
  <dcterms:created xsi:type="dcterms:W3CDTF">2026-10-09T04:12:59Z</dcterms:created>
  <dcterms:modified xsi:type="dcterms:W3CDTF">2026-10-11T15:25:24Z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2026-10-09T00:00:00Z</vt:filetime>
  </property>
  <property fmtid="{D5CDD505-2E9C-101B-9397-08002B2CF9AE}" pid="4" name="Creator">
    <vt:lpwstr>www.smallpdf.com</vt:lpwstr>
  </property>
  <property fmtid="{D5CDD505-2E9C-101B-9397-08002B2CF9AE}" pid="5" name="LastSaved">
    <vt:filetime>2026-10-09T00:00:00Z</vt:filetime>
  </property>
  <property fmtid="{D5CDD505-2E9C-101B-9397-08002B2CF9AE}" pid="6" name="Producer">
    <vt:lpwstr>www.smallpdf.com</vt:lpwstr>
  </property>
</Properties>
</file>